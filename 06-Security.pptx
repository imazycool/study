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4" roundtripDataSignature="AMtx7mh7yNtEweonvljzT0fB2SEVHNGO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10" Type="http://schemas.openxmlformats.org/officeDocument/2006/relationships/slide" Target="slides/slide6.xml"/><Relationship Id="rId54"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aws.amazon.com/accounts/latest/reference/root-user-tasks.html"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module, you will learn about security at AWS. This includes the shared responsibility model, AWS Identity and Access Management, AWS Organizations, and compliance.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In this module, you will learn how to:</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Explain the benefits of the shared responsibility model</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Describe multi-factor authentication (MFA)</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Differentiate between the AWS Identity and Access Management (IAM) security levels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Explain the main benefits of AWS Organizations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Throughout this course, you have learned about a variety of resources that you can create in the AWS Cloud. These resources include Amazon EC2 instances, Amazon S3 buckets, and Amazon RDS databases. Who is responsible for keeping these resources secure: you (the customer) or AWS?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answer is </a:t>
            </a:r>
            <a:r>
              <a:rPr b="1" i="0" lang="en-US" sz="1200">
                <a:solidFill>
                  <a:schemeClr val="dk1"/>
                </a:solidFill>
                <a:latin typeface="Calibri"/>
                <a:ea typeface="Calibri"/>
                <a:cs typeface="Calibri"/>
                <a:sym typeface="Calibri"/>
              </a:rPr>
              <a:t>both</a:t>
            </a:r>
            <a:r>
              <a:rPr b="0" i="0" lang="en-US" sz="1200">
                <a:solidFill>
                  <a:schemeClr val="dk1"/>
                </a:solidFill>
                <a:latin typeface="Calibri"/>
                <a:ea typeface="Calibri"/>
                <a:cs typeface="Calibri"/>
                <a:sym typeface="Calibri"/>
              </a:rPr>
              <a:t>. The reason is that you do not treat your AWS environment as a single object. Rather, you treat the environment as a collection of parts that build upon each other. AWS is responsible for some parts of your environment and you (the customer) are responsible for other parts. This concept is known as the shared responsibility model.</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shared responsibility model divides into customer responsibilities (commonly referred to as “security </a:t>
            </a:r>
            <a:r>
              <a:rPr b="1" i="1" lang="en-US" sz="1200">
                <a:solidFill>
                  <a:schemeClr val="dk1"/>
                </a:solidFill>
                <a:latin typeface="Calibri"/>
                <a:ea typeface="Calibri"/>
                <a:cs typeface="Calibri"/>
                <a:sym typeface="Calibri"/>
              </a:rPr>
              <a:t>in</a:t>
            </a:r>
            <a:r>
              <a:rPr b="0" i="0" lang="en-US" sz="1200">
                <a:solidFill>
                  <a:schemeClr val="dk1"/>
                </a:solidFill>
                <a:latin typeface="Calibri"/>
                <a:ea typeface="Calibri"/>
                <a:cs typeface="Calibri"/>
                <a:sym typeface="Calibri"/>
              </a:rPr>
              <a:t> the cloud”) and AWS responsibilities (commonly referred to as “security</a:t>
            </a:r>
            <a:r>
              <a:rPr b="1" i="1" lang="en-US" sz="1200">
                <a:solidFill>
                  <a:schemeClr val="dk1"/>
                </a:solidFill>
                <a:latin typeface="Calibri"/>
                <a:ea typeface="Calibri"/>
                <a:cs typeface="Calibri"/>
                <a:sym typeface="Calibri"/>
              </a:rPr>
              <a:t> of </a:t>
            </a:r>
            <a:r>
              <a:rPr b="0" i="0" lang="en-US" sz="1200">
                <a:solidFill>
                  <a:schemeClr val="dk1"/>
                </a:solidFill>
                <a:latin typeface="Calibri"/>
                <a:ea typeface="Calibri"/>
                <a:cs typeface="Calibri"/>
                <a:sym typeface="Calibri"/>
              </a:rPr>
              <a:t>the cloud”).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You can think of this model as being similar to the division of responsibilities between a homeowner and a homebuilder. The builder (AWS) is responsible for constructing your house and ensuring that it is solidly built. As the homeowner (the customer), it is your responsibility to secure everything in the house by ensuring that the doors are closed and locked.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section examines the shared responsibility model in greater detail, beginning with customers’ responsibilities.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5:notes"/>
          <p:cNvSpPr txBox="1"/>
          <p:nvPr>
            <p:ph idx="1" type="body"/>
          </p:nvPr>
        </p:nvSpPr>
        <p:spPr>
          <a:xfrm>
            <a:off x="685800" y="4400549"/>
            <a:ext cx="5486400" cy="370182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Customers are responsible for the security of everything that they create and put </a:t>
            </a:r>
            <a:r>
              <a:rPr b="0" i="1" lang="en-US" sz="1200">
                <a:solidFill>
                  <a:schemeClr val="dk1"/>
                </a:solidFill>
                <a:latin typeface="Calibri"/>
                <a:ea typeface="Calibri"/>
                <a:cs typeface="Calibri"/>
                <a:sym typeface="Calibri"/>
              </a:rPr>
              <a:t>in </a:t>
            </a:r>
            <a:r>
              <a:rPr b="0" i="0" lang="en-US" sz="1200">
                <a:solidFill>
                  <a:schemeClr val="dk1"/>
                </a:solidFill>
                <a:latin typeface="Calibri"/>
                <a:ea typeface="Calibri"/>
                <a:cs typeface="Calibri"/>
                <a:sym typeface="Calibri"/>
              </a:rPr>
              <a:t>the AWS Cloud.</a:t>
            </a:r>
            <a:br>
              <a:rPr b="0" i="0" lang="en-US"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using AWS services, you, the customer, maintain complete control over your content. You are responsible for managing security requirements for your content, including which content you choose to store on AWS, which AWS services you use, and who has access to that content. You also control how access rights are granted, managed, and revoked.</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security steps that you take will depend on factors such as the services that you use, the complexity of your systems, and your company’s specific operational and security needs. Steps include selecting, configuring, and patching the operating systems that will run on Amazon EC2 instances, configuring security groups, and managing user accounts.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6:notes"/>
          <p:cNvSpPr txBox="1"/>
          <p:nvPr>
            <p:ph idx="1" type="body"/>
          </p:nvPr>
        </p:nvSpPr>
        <p:spPr>
          <a:xfrm>
            <a:off x="685800" y="4400550"/>
            <a:ext cx="5486400" cy="352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AWS is responsible for security </a:t>
            </a:r>
            <a:r>
              <a:rPr b="0" i="1" lang="en-US" sz="1200">
                <a:solidFill>
                  <a:schemeClr val="dk1"/>
                </a:solidFill>
                <a:latin typeface="Calibri"/>
                <a:ea typeface="Calibri"/>
                <a:cs typeface="Calibri"/>
                <a:sym typeface="Calibri"/>
              </a:rPr>
              <a:t>of </a:t>
            </a:r>
            <a:r>
              <a:rPr b="0" i="0" lang="en-US" sz="1200">
                <a:solidFill>
                  <a:schemeClr val="dk1"/>
                </a:solidFill>
                <a:latin typeface="Calibri"/>
                <a:ea typeface="Calibri"/>
                <a:cs typeface="Calibri"/>
                <a:sym typeface="Calibri"/>
              </a:rPr>
              <a:t>the cloud.</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operates, manages, and controls the components at all layers of infrastructure. This includes areas such as the host operating system, the virtualization layer, and even the physical security of the data centers from which services operate.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is responsible for protecting the global infrastructure that runs all of the services offered in the AWS Cloud. This infrastructure includes AWS Regions, Availability Zones, and edge locations.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manages the security of the cloud, specifically the physical infrastructure that hosts your resources, which include: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Physical security of data centers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Hardware and software infrastructure</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Network infrastructure</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Virtualization infrastructure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Although you cannot visit AWS data centers to see this protection firsthand, AWS provides several reports from third-party auditors. These auditors have verified its compliance with a variety of computer security standards and regulations.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i="0" lang="en-US" sz="1200">
                <a:solidFill>
                  <a:schemeClr val="dk1"/>
                </a:solidFill>
                <a:latin typeface="Calibri"/>
                <a:ea typeface="Calibri"/>
                <a:cs typeface="Calibri"/>
                <a:sym typeface="Calibri"/>
              </a:rPr>
              <a:t>Suppose that you are the owner of the coffee shop. Each item on this slide represents an aspect of running the coffee shop’s website. For each item, determine if it is your (the customer’s) responsibility or an AWS responsibility.</a:t>
            </a:r>
            <a:endParaRPr b="1" i="0"/>
          </a:p>
          <a:p>
            <a:pPr indent="0" lvl="0" marL="0" rtl="0" algn="l">
              <a:spcBef>
                <a:spcPts val="0"/>
              </a:spcBef>
              <a:spcAft>
                <a:spcPts val="0"/>
              </a:spcAft>
              <a:buNone/>
            </a:pPr>
            <a:r>
              <a:t/>
            </a:r>
            <a:endParaRPr i="0"/>
          </a:p>
          <a:p>
            <a:pPr indent="0" lvl="0" marL="0" rtl="0" algn="l">
              <a:spcBef>
                <a:spcPts val="0"/>
              </a:spcBef>
              <a:spcAft>
                <a:spcPts val="0"/>
              </a:spcAft>
              <a:buNone/>
            </a:pPr>
            <a:r>
              <a:rPr i="0" lang="en-US"/>
              <a:t>Items that are filled in with pink are the responsibility of AWS; those that are filled in with purple are the responsibility of the customer.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One area included in customers’ responsibilities is identity and access management. You will explore this topic so you can understand the role that it plays in keeping your AWS resources secure.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coffee shop uses a computer system for its point of sale system, inventory system, and employee records. When a new employee begins working at the coffee shop, they are given their own account within the computer system.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Each employee’s account has been assigned permissions that allow them to carry out only the tasks that relate to their specific job. For example, a cashier’s account allows them to access the point of sale system, but not employee records or the inventory system.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type of functionality also exists in AWS. To create user identities and assign permissions, you use </a:t>
            </a:r>
            <a:r>
              <a:rPr b="1" lang="en-US" sz="1200">
                <a:solidFill>
                  <a:schemeClr val="dk1"/>
                </a:solidFill>
                <a:latin typeface="Calibri"/>
                <a:ea typeface="Calibri"/>
                <a:cs typeface="Calibri"/>
                <a:sym typeface="Calibri"/>
              </a:rPr>
              <a:t>AWS Identity and Access Management (IAM)</a:t>
            </a: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AWS Identity and Access Management (IAM) </a:t>
            </a:r>
            <a:r>
              <a:rPr b="0" i="0" lang="en-US" sz="1200">
                <a:solidFill>
                  <a:schemeClr val="dk1"/>
                </a:solidFill>
                <a:latin typeface="Calibri"/>
                <a:ea typeface="Calibri"/>
                <a:cs typeface="Calibri"/>
                <a:sym typeface="Calibri"/>
              </a:rPr>
              <a:t>allows you to manage access to AWS services and resources securely.</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IAM gives you the flexibility to configure access based on your company’s specific operational and security needs. You do this by using a combination of IAM features, which are explored in detail in this lesson:</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IAM users, groups, and roles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IAM policies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Multi-factor authentication</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You will also learn best practices for each of these features.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When you first create an AWS account, you begin with an identity that is known as the </a:t>
            </a:r>
            <a:r>
              <a:rPr b="1" lang="en-US" sz="1200">
                <a:solidFill>
                  <a:schemeClr val="dk1"/>
                </a:solidFill>
                <a:latin typeface="Calibri"/>
                <a:ea typeface="Calibri"/>
                <a:cs typeface="Calibri"/>
                <a:sym typeface="Calibri"/>
              </a:rPr>
              <a:t>root user</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root user is accessed by signing in with the email address and password that you used to create your AWS account. You can think of the root user as being similar to the owner of the coffee shop. It has complete access to all of the AWS services and resources within the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a:t>
            </a:r>
            <a:r>
              <a:rPr b="1" lang="en-US" sz="1200">
                <a:solidFill>
                  <a:schemeClr val="dk1"/>
                </a:solidFill>
                <a:latin typeface="Calibri"/>
                <a:ea typeface="Calibri"/>
                <a:cs typeface="Calibri"/>
                <a:sym typeface="Calibri"/>
              </a:rPr>
              <a:t>not</a:t>
            </a:r>
            <a:r>
              <a:rPr lang="en-US" sz="1200">
                <a:solidFill>
                  <a:schemeClr val="dk1"/>
                </a:solidFill>
                <a:latin typeface="Calibri"/>
                <a:ea typeface="Calibri"/>
                <a:cs typeface="Calibri"/>
                <a:sym typeface="Calibri"/>
              </a:rPr>
              <a:t> use the root user for everyday tasks. </a:t>
            </a:r>
            <a:r>
              <a:rPr b="0" i="0" lang="en-US" sz="1200">
                <a:solidFill>
                  <a:schemeClr val="dk1"/>
                </a:solidFill>
                <a:latin typeface="Calibri"/>
                <a:ea typeface="Calibri"/>
                <a:cs typeface="Calibri"/>
                <a:sym typeface="Calibri"/>
              </a:rPr>
              <a:t>Instead, use the root user to create your first IAM user and assign it permissions to create other users.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Then, continue to create other IAM users, and access those identities for performing regular tasks throughout AWS. Only use the root user when you need to perform a limited number of tasks that are only available to the root user. Examples of these tasks include changing your root user email address and changing your AWS Support plan. For more information, see “Tasks that require root user credentials” in the </a:t>
            </a:r>
            <a:r>
              <a:rPr b="0" i="1" lang="en-US" sz="1200">
                <a:solidFill>
                  <a:schemeClr val="dk1"/>
                </a:solidFill>
                <a:latin typeface="Calibri"/>
                <a:ea typeface="Calibri"/>
                <a:cs typeface="Calibri"/>
                <a:sym typeface="Calibri"/>
              </a:rPr>
              <a:t>AWS Account Management Reference Guide</a:t>
            </a:r>
            <a:r>
              <a:rPr b="0" i="0" lang="en-US" sz="1200">
                <a:solidFill>
                  <a:schemeClr val="dk1"/>
                </a:solidFill>
                <a:latin typeface="Calibri"/>
                <a:ea typeface="Calibri"/>
                <a:cs typeface="Calibri"/>
                <a:sym typeface="Calibri"/>
              </a:rPr>
              <a:t> (</a:t>
            </a:r>
            <a:r>
              <a:rPr lang="en-US" u="sng">
                <a:solidFill>
                  <a:schemeClr val="hlink"/>
                </a:solidFill>
                <a:hlinkClick r:id="rId2"/>
              </a:rPr>
              <a:t>https://docs.aws.amazon.com/accounts/latest/reference/root-user-tasks.html</a:t>
            </a:r>
            <a:r>
              <a:rPr lang="en-US"/>
              <a:t>).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An </a:t>
            </a:r>
            <a:r>
              <a:rPr b="1" i="0" lang="en-US" sz="1200">
                <a:solidFill>
                  <a:schemeClr val="dk1"/>
                </a:solidFill>
                <a:latin typeface="Calibri"/>
                <a:ea typeface="Calibri"/>
                <a:cs typeface="Calibri"/>
                <a:sym typeface="Calibri"/>
              </a:rPr>
              <a:t>IAM user</a:t>
            </a:r>
            <a:r>
              <a:rPr b="0" i="0" lang="en-US" sz="1200">
                <a:solidFill>
                  <a:schemeClr val="dk1"/>
                </a:solidFill>
                <a:latin typeface="Calibri"/>
                <a:ea typeface="Calibri"/>
                <a:cs typeface="Calibri"/>
                <a:sym typeface="Calibri"/>
              </a:rPr>
              <a:t> is an identity that you create in AWS. It represents the person or application that interacts with AWS services and resources. It consists of a name and credentials.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By default, when you create a new IAM user in AWS, it has no permissions associated with it. To allow the IAM user to perform specific actions in AWS, such as launching an Amazon EC2 instance or creating an Amazon S3 bucket, you must grant the IAM user the necessary permissions.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 a best practice, </a:t>
            </a:r>
            <a:r>
              <a:rPr b="0" i="0" lang="en-US" sz="1200">
                <a:solidFill>
                  <a:schemeClr val="dk1"/>
                </a:solidFill>
                <a:latin typeface="Calibri"/>
                <a:ea typeface="Calibri"/>
                <a:cs typeface="Calibri"/>
                <a:sym typeface="Calibri"/>
              </a:rPr>
              <a:t>create individual IAM users for each person who must access AWS.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Even if you have multiple employees who require the same level of access, you should create individual IAM users for each of them. This provides additional security by allowing each IAM user to have a unique set of security credentials.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An </a:t>
            </a:r>
            <a:r>
              <a:rPr b="1" i="0" lang="en-US" sz="1200">
                <a:solidFill>
                  <a:schemeClr val="dk1"/>
                </a:solidFill>
                <a:latin typeface="Calibri"/>
                <a:ea typeface="Calibri"/>
                <a:cs typeface="Calibri"/>
                <a:sym typeface="Calibri"/>
              </a:rPr>
              <a:t>IAM policy</a:t>
            </a:r>
            <a:r>
              <a:rPr b="0" i="0" lang="en-US" sz="1200">
                <a:solidFill>
                  <a:schemeClr val="dk1"/>
                </a:solidFill>
                <a:latin typeface="Calibri"/>
                <a:ea typeface="Calibri"/>
                <a:cs typeface="Calibri"/>
                <a:sym typeface="Calibri"/>
              </a:rPr>
              <a:t> is a document that allows or denies permissions to AWS services and resources.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IAM policies allow you to customize users’ levels of access to resources. For example, you can allow users to access all of the Amazon S3 buckets within your AWS account, or only a specific bucket.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 a best practice, </a:t>
            </a:r>
            <a:r>
              <a:rPr b="0" i="0" lang="en-US" sz="1200">
                <a:solidFill>
                  <a:schemeClr val="dk1"/>
                </a:solidFill>
                <a:latin typeface="Calibri"/>
                <a:ea typeface="Calibri"/>
                <a:cs typeface="Calibri"/>
                <a:sym typeface="Calibri"/>
              </a:rPr>
              <a:t>follow the security principle of </a:t>
            </a:r>
            <a:r>
              <a:rPr b="1" i="0" lang="en-US" sz="1200">
                <a:solidFill>
                  <a:schemeClr val="dk1"/>
                </a:solidFill>
                <a:latin typeface="Calibri"/>
                <a:ea typeface="Calibri"/>
                <a:cs typeface="Calibri"/>
                <a:sym typeface="Calibri"/>
              </a:rPr>
              <a:t>least privilege</a:t>
            </a:r>
            <a:r>
              <a:rPr b="0" i="0" lang="en-US" sz="1200">
                <a:solidFill>
                  <a:schemeClr val="dk1"/>
                </a:solidFill>
                <a:latin typeface="Calibri"/>
                <a:ea typeface="Calibri"/>
                <a:cs typeface="Calibri"/>
                <a:sym typeface="Calibri"/>
              </a:rPr>
              <a:t> when granting permissions.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By following this principle, you help to prevent users or roles from having more permissions than needed to perform their tasks.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For example, if an employee needs access to only a specific bucket, specify the bucket in the IAM policy. Do this instead of granting the employee access to all of the buckets in your AWS account.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Here’s an example of how IAM policies work. Suppose that the coffee shop owner has created an IAM user for a newly hired cashier. The cashier needs access to the receipts that are kept in an Amazon S3 bucket with the ID: </a:t>
            </a:r>
            <a:r>
              <a:rPr i="1" lang="en-US" sz="1200">
                <a:solidFill>
                  <a:schemeClr val="dk1"/>
                </a:solidFill>
                <a:latin typeface="Calibri"/>
                <a:ea typeface="Calibri"/>
                <a:cs typeface="Calibri"/>
                <a:sym typeface="Calibri"/>
              </a:rPr>
              <a:t>awsdoc-example-bucket</a:t>
            </a: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coffee shop owner uses the following IAM policy to grant the cashier access to the </a:t>
            </a:r>
            <a:r>
              <a:rPr i="1" lang="en-US" sz="1200">
                <a:solidFill>
                  <a:schemeClr val="dk1"/>
                </a:solidFill>
                <a:latin typeface="Calibri"/>
                <a:ea typeface="Calibri"/>
                <a:cs typeface="Calibri"/>
                <a:sym typeface="Calibri"/>
              </a:rPr>
              <a:t>awsdoc-example-bucket</a:t>
            </a:r>
            <a:r>
              <a:rPr lang="en-US" sz="1200">
                <a:solidFill>
                  <a:schemeClr val="dk1"/>
                </a:solidFill>
                <a:latin typeface="Calibri"/>
                <a:ea typeface="Calibri"/>
                <a:cs typeface="Calibri"/>
                <a:sym typeface="Calibri"/>
              </a:rPr>
              <a:t> bucket in Amazon S3: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b="0" i="0"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"Version": "2012-10-17", </a:t>
            </a:r>
            <a:endParaRPr/>
          </a:p>
          <a:p>
            <a:pPr indent="0" lvl="0" marL="0" rtl="0" algn="l">
              <a:spcBef>
                <a:spcPts val="0"/>
              </a:spcBef>
              <a:spcAft>
                <a:spcPts val="0"/>
              </a:spcAft>
              <a:buNone/>
            </a:pPr>
            <a:r>
              <a:rPr lang="en-US"/>
              <a:t>  "Statement": { </a:t>
            </a:r>
            <a:endParaRPr/>
          </a:p>
          <a:p>
            <a:pPr indent="0" lvl="0" marL="0" rtl="0" algn="l">
              <a:spcBef>
                <a:spcPts val="0"/>
              </a:spcBef>
              <a:spcAft>
                <a:spcPts val="0"/>
              </a:spcAft>
              <a:buNone/>
            </a:pPr>
            <a:r>
              <a:rPr lang="en-US"/>
              <a:t>      "Effect": "Allow", </a:t>
            </a:r>
            <a:endParaRPr/>
          </a:p>
          <a:p>
            <a:pPr indent="0" lvl="0" marL="0" rtl="0" algn="l">
              <a:spcBef>
                <a:spcPts val="0"/>
              </a:spcBef>
              <a:spcAft>
                <a:spcPts val="0"/>
              </a:spcAft>
              <a:buNone/>
            </a:pPr>
            <a:r>
              <a:rPr lang="en-US"/>
              <a:t>      "Action": ["s3:ListObject", "s3:GetObject"], </a:t>
            </a:r>
            <a:endParaRPr/>
          </a:p>
          <a:p>
            <a:pPr indent="0" lvl="0" marL="0" rtl="0" algn="l">
              <a:spcBef>
                <a:spcPts val="0"/>
              </a:spcBef>
              <a:spcAft>
                <a:spcPts val="0"/>
              </a:spcAft>
              <a:buNone/>
            </a:pPr>
            <a:r>
              <a:rPr lang="en-US"/>
              <a:t>      "Resource": ["arn:aws:s3::: awsdoc-example-bucket", "arn:aws:s3::: awsdoc-example-bucket/*"] </a:t>
            </a:r>
            <a:endParaRPr/>
          </a:p>
          <a:p>
            <a:pPr indent="0" lvl="0" marL="0" rtl="0" algn="l">
              <a:spcBef>
                <a:spcPts val="0"/>
              </a:spcBef>
              <a:spcAft>
                <a:spcPts val="0"/>
              </a:spcAft>
              <a:buNone/>
            </a:pPr>
            <a:r>
              <a:rPr lang="en-US"/>
              <a:t>   } </a:t>
            </a:r>
            <a:endParaRPr/>
          </a:p>
          <a:p>
            <a:pPr indent="0" lvl="0" marL="0" rtl="0" algn="l">
              <a:spcBef>
                <a:spcPts val="0"/>
              </a:spcBef>
              <a:spcAft>
                <a:spcPts val="0"/>
              </a:spcAft>
              <a:buNone/>
            </a:pPr>
            <a:r>
              <a:rPr lang="en-US"/>
              <a:t>}</a:t>
            </a:r>
            <a:endParaRPr b="0" i="0"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this example, the IAM policy is allowing specific actions within Amazon S3: ListObject and GetObject. The policy also mentions a specific bucket ID: </a:t>
            </a:r>
            <a:r>
              <a:rPr i="1" lang="en-US" sz="1200">
                <a:solidFill>
                  <a:schemeClr val="dk1"/>
                </a:solidFill>
                <a:latin typeface="Calibri"/>
                <a:ea typeface="Calibri"/>
                <a:cs typeface="Calibri"/>
                <a:sym typeface="Calibri"/>
              </a:rPr>
              <a:t>awsdoc-example-bucket</a:t>
            </a:r>
            <a:r>
              <a:rPr b="0" i="0" lang="en-US" sz="1200">
                <a:solidFill>
                  <a:schemeClr val="dk1"/>
                </a:solidFill>
                <a:latin typeface="Calibri"/>
                <a:ea typeface="Calibri"/>
                <a:cs typeface="Calibri"/>
                <a:sym typeface="Calibri"/>
              </a:rPr>
              <a:t>. When the owner attaches this policy to the cashier’s IAM user, it will allow the cashier to view a list of the objects in the </a:t>
            </a:r>
            <a:r>
              <a:rPr i="1" lang="en-US" sz="1200">
                <a:solidFill>
                  <a:schemeClr val="dk1"/>
                </a:solidFill>
                <a:latin typeface="Calibri"/>
                <a:ea typeface="Calibri"/>
                <a:cs typeface="Calibri"/>
                <a:sym typeface="Calibri"/>
              </a:rPr>
              <a:t>awsdoc-example-bucket</a:t>
            </a:r>
            <a:r>
              <a:rPr b="0" i="0" lang="en-US" sz="1200">
                <a:solidFill>
                  <a:schemeClr val="dk1"/>
                </a:solidFill>
                <a:latin typeface="Calibri"/>
                <a:ea typeface="Calibri"/>
                <a:cs typeface="Calibri"/>
                <a:sym typeface="Calibri"/>
              </a:rPr>
              <a:t> bucket and also access them.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If the owner wants the cashier to be able to access other services and perform other actions in AWS, the owner must attach additional policies to specify these services and actions.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Now, suppose that the coffee shop has hired a few more cashiers. Instead of assigning permissions to each individual IAM user, the owner places the users into an </a:t>
            </a:r>
            <a:r>
              <a:rPr b="1" i="0" lang="en-US" sz="1200">
                <a:solidFill>
                  <a:schemeClr val="dk1"/>
                </a:solidFill>
                <a:latin typeface="Calibri"/>
                <a:ea typeface="Calibri"/>
                <a:cs typeface="Calibri"/>
                <a:sym typeface="Calibri"/>
              </a:rPr>
              <a:t>IAM group</a:t>
            </a:r>
            <a:r>
              <a:rPr b="0" i="0"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An </a:t>
            </a:r>
            <a:r>
              <a:rPr b="1" i="0" lang="en-US" sz="1200">
                <a:solidFill>
                  <a:schemeClr val="dk1"/>
                </a:solidFill>
                <a:latin typeface="Calibri"/>
                <a:ea typeface="Calibri"/>
                <a:cs typeface="Calibri"/>
                <a:sym typeface="Calibri"/>
              </a:rPr>
              <a:t>IAM group </a:t>
            </a:r>
            <a:r>
              <a:rPr b="0" i="0" lang="en-US" sz="1200">
                <a:solidFill>
                  <a:schemeClr val="dk1"/>
                </a:solidFill>
                <a:latin typeface="Calibri"/>
                <a:ea typeface="Calibri"/>
                <a:cs typeface="Calibri"/>
                <a:sym typeface="Calibri"/>
              </a:rPr>
              <a:t>is a collection of IAM users. When you assign an IAM policy to a group, all users in the group are granted permissions specified by the policy.</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Here’s an example of how this might work in the coffee shop. Instead of assigning permissions to cashiers one at a time, the owner can create a “Cashiers” IAM group. The owner can then add IAM users to the group and then attach permissions at the group level.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Assigning IAM policies at the group level also makes it easier to adjust permissions when an employee transfers to a different job. For example, if a cashier becomes an inventory specialist, the coffee shop owner removes them from the “Cashiers” IAM group and adds them into the “Inventory Specialists” IAM group. This ensures that employees have only the permissions that are required for their current role.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What if a coffee shop employee hasn’t switched jobs permanently, but instead, rotates to different workstations throughout the day? This employee can get the access they need through </a:t>
            </a:r>
            <a:r>
              <a:rPr b="1" i="0" lang="en-US" sz="1200">
                <a:solidFill>
                  <a:schemeClr val="dk1"/>
                </a:solidFill>
                <a:latin typeface="Calibri"/>
                <a:ea typeface="Calibri"/>
                <a:cs typeface="Calibri"/>
                <a:sym typeface="Calibri"/>
              </a:rPr>
              <a:t>IAM roles</a:t>
            </a:r>
            <a:r>
              <a:rPr b="0" i="0"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In the coffee shop, an employee rotates to different workstations throughout the day. Depending on the staffing of the coffee shop, this employee might perform several duties: work at the cash register, update the inventory system, process online orders, and so on.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the employee needs to switch to a different task, they give up their access to one workstation and gain access to the next workstation. The employee can easily switch between workstations, but at any given point in time, they can have access to only a single workstation. This same concept exists in AWS with </a:t>
            </a:r>
            <a:r>
              <a:rPr b="1" i="0" lang="en-US" sz="1200">
                <a:solidFill>
                  <a:schemeClr val="dk1"/>
                </a:solidFill>
                <a:latin typeface="Calibri"/>
                <a:ea typeface="Calibri"/>
                <a:cs typeface="Calibri"/>
                <a:sym typeface="Calibri"/>
              </a:rPr>
              <a:t>IAM roles</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An IAM role is an identity that you can assume to gain temporary access to permissions.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Before an IAM user, application, or service can assume an IAM role, they must be granted permissions to switch to the role. When someone assumes an IAM role, they abandon all previous permissions that they had under a previous role and assume the permissions of the new role. (</a:t>
            </a:r>
            <a:r>
              <a:rPr b="1" i="0" lang="en-US" sz="1200">
                <a:solidFill>
                  <a:schemeClr val="dk1"/>
                </a:solidFill>
                <a:latin typeface="Calibri"/>
                <a:ea typeface="Calibri"/>
                <a:cs typeface="Calibri"/>
                <a:sym typeface="Calibri"/>
              </a:rPr>
              <a:t>Note: </a:t>
            </a:r>
            <a:r>
              <a:rPr b="0" i="0" lang="en-US" sz="1200">
                <a:solidFill>
                  <a:schemeClr val="dk1"/>
                </a:solidFill>
                <a:latin typeface="Calibri"/>
                <a:ea typeface="Calibri"/>
                <a:cs typeface="Calibri"/>
                <a:sym typeface="Calibri"/>
              </a:rPr>
              <a:t>When an IAM user is assuming a role, they remain logged into the AWS Management Console through their IAM user account and can switch back to their IAM user permissions at any time.)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IAM roles are the preferred method for interacting with AWS services. As a best practice, IAM roles are ideal for situations in which access to services or resources needs to be granted temporarily, rather than long term.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Consider this example of how IAM roles could be used in the coffee shop.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First, the owner gives the employee permissions to switch to a role for each workstation in the coffee shop.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employee begins their day by assuming the “Cashier” role. This grants them access to the cash register system.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Later in the day, the employee needs to update the inventory system. They assume the “Inventory” role. This grants the employee access to the inventory system and also revokes their access to the cash register system.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final aspect of IAM that we will examine is </a:t>
            </a:r>
            <a:r>
              <a:rPr b="1" lang="en-US" sz="1200">
                <a:solidFill>
                  <a:schemeClr val="dk1"/>
                </a:solidFill>
                <a:latin typeface="Calibri"/>
                <a:ea typeface="Calibri"/>
                <a:cs typeface="Calibri"/>
                <a:sym typeface="Calibri"/>
              </a:rPr>
              <a:t>multi-factor authentication</a:t>
            </a: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Have you ever logged into a website that required you to provide multiple pieces of information to verify your identity? You might have needed to provide your password and then a second form of authentication, such as a random code sent to your phone. This is an example of multi-factor authentication.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IAM, </a:t>
            </a:r>
            <a:r>
              <a:rPr b="1" lang="en-US" sz="1200">
                <a:solidFill>
                  <a:schemeClr val="dk1"/>
                </a:solidFill>
                <a:latin typeface="Calibri"/>
                <a:ea typeface="Calibri"/>
                <a:cs typeface="Calibri"/>
                <a:sym typeface="Calibri"/>
              </a:rPr>
              <a:t>multi-factor authentication (MFA)</a:t>
            </a:r>
            <a:r>
              <a:rPr lang="en-US" sz="1200">
                <a:solidFill>
                  <a:schemeClr val="dk1"/>
                </a:solidFill>
                <a:latin typeface="Calibri"/>
                <a:ea typeface="Calibri"/>
                <a:cs typeface="Calibri"/>
                <a:sym typeface="Calibri"/>
              </a:rPr>
              <a:t> provides an extra layer of security for your AWS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First, when a user signs into an AWS website, they enter their IAM user ID and password.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Next, the user is prompted for an authentication response from their AWS MFA device. This device could be a hardware security key, a hardware device, or an MFA application on a device such as a smartphone.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the user has been successfully authenticated, they are able to access the requested AWS services or resources.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MFA can be enabled for the root user and IAM users. As a best practice, you should enable MFA for the root user and all IAM users in your account, since this will help to keep your AWS account safe from unauthorized access.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 the previous section, you learned several ways to use AWS Identity and Access Management to create a separation of duties in your AWS account.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Suppose that your company has multiple AWS accounts. </a:t>
            </a:r>
            <a:r>
              <a:rPr b="0" i="0" lang="en-US" sz="1200">
                <a:solidFill>
                  <a:schemeClr val="dk1"/>
                </a:solidFill>
                <a:latin typeface="Calibri"/>
                <a:ea typeface="Calibri"/>
                <a:cs typeface="Calibri"/>
                <a:sym typeface="Calibri"/>
              </a:rPr>
              <a:t>You can use </a:t>
            </a:r>
            <a:r>
              <a:rPr b="1" i="0" lang="en-US" sz="1200">
                <a:solidFill>
                  <a:schemeClr val="dk1"/>
                </a:solidFill>
                <a:latin typeface="Calibri"/>
                <a:ea typeface="Calibri"/>
                <a:cs typeface="Calibri"/>
                <a:sym typeface="Calibri"/>
              </a:rPr>
              <a:t>AWS Organizations </a:t>
            </a:r>
            <a:r>
              <a:rPr b="0" i="0" lang="en-US" sz="1200">
                <a:solidFill>
                  <a:schemeClr val="dk1"/>
                </a:solidFill>
                <a:latin typeface="Calibri"/>
                <a:ea typeface="Calibri"/>
                <a:cs typeface="Calibri"/>
                <a:sym typeface="Calibri"/>
              </a:rPr>
              <a:t>to consolidate and manage multiple AWS accounts in a central location.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AWS Organizations</a:t>
            </a:r>
            <a:r>
              <a:rPr lang="en-US" sz="1200">
                <a:solidFill>
                  <a:schemeClr val="dk1"/>
                </a:solidFill>
                <a:latin typeface="Calibri"/>
                <a:ea typeface="Calibri"/>
                <a:cs typeface="Calibri"/>
                <a:sym typeface="Calibri"/>
              </a:rPr>
              <a:t> helps you consolidate and manage multiple AWS accounts within a central location.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When you create an organization, AWS Organizations automatically creates a</a:t>
            </a:r>
            <a:r>
              <a:rPr b="1" lang="en-US" sz="1200">
                <a:solidFill>
                  <a:schemeClr val="dk1"/>
                </a:solidFill>
                <a:latin typeface="Calibri"/>
                <a:ea typeface="Calibri"/>
                <a:cs typeface="Calibri"/>
                <a:sym typeface="Calibri"/>
              </a:rPr>
              <a:t> root</a:t>
            </a:r>
            <a:r>
              <a:rPr lang="en-US" sz="1200">
                <a:solidFill>
                  <a:schemeClr val="dk1"/>
                </a:solidFill>
                <a:latin typeface="Calibri"/>
                <a:ea typeface="Calibri"/>
                <a:cs typeface="Calibri"/>
                <a:sym typeface="Calibri"/>
              </a:rPr>
              <a:t>, which is the parent container for all the accounts in your organization.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 AWS Organizations, you can centrally control permissions for the accounts in your organization by using </a:t>
            </a:r>
            <a:r>
              <a:rPr b="1" lang="en-US" sz="1200">
                <a:solidFill>
                  <a:schemeClr val="dk1"/>
                </a:solidFill>
                <a:latin typeface="Calibri"/>
                <a:ea typeface="Calibri"/>
                <a:cs typeface="Calibri"/>
                <a:sym typeface="Calibri"/>
              </a:rPr>
              <a:t>service control policies (SCPs)</a:t>
            </a:r>
            <a:r>
              <a:rPr lang="en-US" sz="1200">
                <a:solidFill>
                  <a:schemeClr val="dk1"/>
                </a:solidFill>
                <a:latin typeface="Calibri"/>
                <a:ea typeface="Calibri"/>
                <a:cs typeface="Calibri"/>
                <a:sym typeface="Calibri"/>
              </a:rPr>
              <a:t>. SCPs help you place restrictions on the AWS services, resources, and individual API actions that the users and roles in each account can access.</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You can also apply SCPs to the root. For example, you might apply an SCP that requires that multi-factor authentication (MFA) is enabled before an IAM user or role can perform specific actions, such as stopping or terminating an Amazon EC2 instance.</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r>
              <a:rPr b="1" lang="en-US" sz="1200">
                <a:solidFill>
                  <a:schemeClr val="dk1"/>
                </a:solidFill>
                <a:latin typeface="Calibri"/>
                <a:ea typeface="Calibri"/>
                <a:cs typeface="Calibri"/>
                <a:sym typeface="Calibri"/>
              </a:rPr>
              <a:t>Note:</a:t>
            </a:r>
            <a:r>
              <a:rPr lang="en-US" sz="1200">
                <a:solidFill>
                  <a:schemeClr val="dk1"/>
                </a:solidFill>
                <a:latin typeface="Calibri"/>
                <a:ea typeface="Calibri"/>
                <a:cs typeface="Calibri"/>
                <a:sym typeface="Calibri"/>
              </a:rPr>
              <a:t> </a:t>
            </a:r>
            <a:r>
              <a:rPr b="0" i="0" lang="en-US" sz="1200">
                <a:solidFill>
                  <a:schemeClr val="dk1"/>
                </a:solidFill>
                <a:latin typeface="Calibri"/>
                <a:ea typeface="Calibri"/>
                <a:cs typeface="Calibri"/>
                <a:sym typeface="Calibri"/>
              </a:rPr>
              <a:t>Consolidated billing is another feature of AWS Organizations. You will learn about consolidated billing in a later module.)</a:t>
            </a: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In AWS Organizations, you can group accounts into </a:t>
            </a:r>
            <a:r>
              <a:rPr b="1" i="0" lang="en-US" sz="1200">
                <a:solidFill>
                  <a:schemeClr val="dk1"/>
                </a:solidFill>
                <a:latin typeface="Calibri"/>
                <a:ea typeface="Calibri"/>
                <a:cs typeface="Calibri"/>
                <a:sym typeface="Calibri"/>
              </a:rPr>
              <a:t>organizational units (OUs)</a:t>
            </a:r>
            <a:r>
              <a:rPr b="0" i="0" lang="en-US" sz="1200">
                <a:solidFill>
                  <a:schemeClr val="dk1"/>
                </a:solidFill>
                <a:latin typeface="Calibri"/>
                <a:ea typeface="Calibri"/>
                <a:cs typeface="Calibri"/>
                <a:sym typeface="Calibri"/>
              </a:rPr>
              <a:t> to make it easier to manage accounts with similar business or security requirements. When you apply a policy to an OU, all the accounts in the OU automatically inherit the permissions specified in the policy.</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By organizing separate accounts into OUs, you can more easily isolate workloads or applications that have specific security requirements. For instance, if your company has accounts that can access only the AWS services that meet certain regulatory requirements, you can put these accounts into one OU. Then, you can attach a policy to the OU that blocks access to all other AWS services that do not meet the regulatory requirements.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Imagine that your company has separate AWS accounts for the finance, information technology (IT), human resources (HR), and legal departments. You decide to consolidate these accounts into a single organization so that you can administer them from a central location. When you create the organization, this establishes the root.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designing your organization, you consider the business, security, and regulatory needs of each department. You use this information to decide which departments group together in OUs.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finance and IT departments have requirements that do not overlap with those of any other department. You bring these accounts into your organization to take advantage of benefits such as consolidated billing, but you do not place them into any OUs.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HR and legal departments need to access the same AWS services and resources, so you place them into an OU together. Placing them into an OU allows you to attach policies that apply to both the HR and legal departments’ AWS accounts.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Even though you have placed these accounts into OUs, you can continue to provide access for users, groups, and roles through IAM.</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By grouping your accounts into OUs, you can more easily give them access to the services and resources that they need. You also prevent them from accessing any services or resources that they do not need.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rPr b="0" lang="en-US" sz="1200">
                <a:latin typeface="Arial"/>
                <a:ea typeface="Arial"/>
                <a:cs typeface="Arial"/>
                <a:sym typeface="Arial"/>
              </a:rPr>
              <a:t>You are configuring service control policies (SCPs) in AWS Organizations. Which identities and resources can SCPs be applied to? (Select TWO.)</a:t>
            </a:r>
            <a:endParaRPr/>
          </a:p>
          <a:p>
            <a:pPr indent="0" lvl="0" marL="0" rtl="0" algn="l">
              <a:spcBef>
                <a:spcPts val="0"/>
              </a:spcBef>
              <a:spcAft>
                <a:spcPts val="0"/>
              </a:spcAft>
              <a:buNone/>
            </a:pPr>
            <a:r>
              <a:t/>
            </a:r>
            <a:endParaRPr/>
          </a:p>
          <a:p>
            <a:pPr indent="-228600" lvl="0" marL="228600" rtl="0" algn="l">
              <a:spcBef>
                <a:spcPts val="0"/>
              </a:spcBef>
              <a:spcAft>
                <a:spcPts val="0"/>
              </a:spcAft>
              <a:buClr>
                <a:schemeClr val="dk1"/>
              </a:buClr>
              <a:buSzPts val="1200"/>
              <a:buFont typeface="Calibri"/>
              <a:buAutoNum type="alphaUcPeriod"/>
            </a:pPr>
            <a:r>
              <a:rPr lang="en-US"/>
              <a:t>IAM users</a:t>
            </a:r>
            <a:endParaRPr/>
          </a:p>
          <a:p>
            <a:pPr indent="-228600" lvl="0" marL="228600" rtl="0" algn="l">
              <a:spcBef>
                <a:spcPts val="0"/>
              </a:spcBef>
              <a:spcAft>
                <a:spcPts val="0"/>
              </a:spcAft>
              <a:buClr>
                <a:schemeClr val="dk1"/>
              </a:buClr>
              <a:buSzPts val="1200"/>
              <a:buFont typeface="Calibri"/>
              <a:buAutoNum type="alphaUcPeriod"/>
            </a:pPr>
            <a:r>
              <a:rPr lang="en-US"/>
              <a:t>IAM groups</a:t>
            </a:r>
            <a:endParaRPr/>
          </a:p>
          <a:p>
            <a:pPr indent="-228600" lvl="0" marL="228600" rtl="0" algn="l">
              <a:spcBef>
                <a:spcPts val="0"/>
              </a:spcBef>
              <a:spcAft>
                <a:spcPts val="0"/>
              </a:spcAft>
              <a:buClr>
                <a:schemeClr val="dk1"/>
              </a:buClr>
              <a:buSzPts val="1200"/>
              <a:buFont typeface="Calibri"/>
              <a:buAutoNum type="alphaUcPeriod"/>
            </a:pPr>
            <a:r>
              <a:rPr lang="en-US"/>
              <a:t>An individual member account</a:t>
            </a:r>
            <a:endParaRPr/>
          </a:p>
          <a:p>
            <a:pPr indent="-228600" lvl="0" marL="228600" rtl="0" algn="l">
              <a:spcBef>
                <a:spcPts val="0"/>
              </a:spcBef>
              <a:spcAft>
                <a:spcPts val="0"/>
              </a:spcAft>
              <a:buClr>
                <a:schemeClr val="dk1"/>
              </a:buClr>
              <a:buSzPts val="1200"/>
              <a:buFont typeface="Calibri"/>
              <a:buAutoNum type="alphaUcPeriod"/>
            </a:pPr>
            <a:r>
              <a:rPr lang="en-US"/>
              <a:t>IAM roles</a:t>
            </a:r>
            <a:endParaRPr/>
          </a:p>
          <a:p>
            <a:pPr indent="-228600" lvl="0" marL="228600" rtl="0" algn="l">
              <a:spcBef>
                <a:spcPts val="0"/>
              </a:spcBef>
              <a:spcAft>
                <a:spcPts val="0"/>
              </a:spcAft>
              <a:buClr>
                <a:schemeClr val="dk1"/>
              </a:buClr>
              <a:buSzPts val="1200"/>
              <a:buFont typeface="Calibri"/>
              <a:buAutoNum type="alphaUcPeriod"/>
            </a:pPr>
            <a:r>
              <a:rPr lang="en-US"/>
              <a:t>An organizational unit (OU)</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correct response options are: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C. An individual member account</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E. An organizational unit (OU)</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AWS Organizations, you can apply service control policies (SCPs) to the organization root, an individual member account, or an OU. An SCP affects all IAM users, groups, and roles within an account, including the AWS account root user.</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You can apply IAM policies to IAM users, groups, or roles. You cannot apply an IAM policy to the AWS account root user.</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final section of this module focuses on AWS compliance resources.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Depending on your company’s industry, you might need to uphold specific standards. An audit or inspection will ensure that the company has met those standards.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AWS Artifact </a:t>
            </a:r>
            <a:r>
              <a:rPr b="0" i="0" lang="en-US" sz="1200">
                <a:solidFill>
                  <a:schemeClr val="dk1"/>
                </a:solidFill>
                <a:latin typeface="Calibri"/>
                <a:ea typeface="Calibri"/>
                <a:cs typeface="Calibri"/>
                <a:sym typeface="Calibri"/>
              </a:rPr>
              <a:t>is a service that provides on-demand access to AWS security and compliance reports and select online agreements. AWS Artifact consists of two main sections: AWS Artifact Agreements and AWS Artifact Reports.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Suppose that your company needs to sign an agreement with AWS regarding your use of certain types of information throughout AWS services. You can do this through </a:t>
            </a:r>
            <a:r>
              <a:rPr b="1" i="0" lang="en-US" sz="1200">
                <a:solidFill>
                  <a:schemeClr val="dk1"/>
                </a:solidFill>
                <a:latin typeface="Calibri"/>
                <a:ea typeface="Calibri"/>
                <a:cs typeface="Calibri"/>
                <a:sym typeface="Calibri"/>
              </a:rPr>
              <a:t>AWS Artifact Agreements</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AWS Artifact Agreements, you can review, accept, and manage agreements for an individual account and for all your accounts in AWS Organizations. Different types of agreements are offered to address the needs of customers who are subject to specific regulations, such as the Health Insurance Portability and Accountability Act (HIPAA).</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Next, suppose that a member of your company’s development team is building an application and needs more information about their responsibility for complying with certain regulatory standards. You can advise them to access this information in </a:t>
            </a:r>
            <a:r>
              <a:rPr b="1" i="0" lang="en-US" sz="1200">
                <a:solidFill>
                  <a:schemeClr val="dk1"/>
                </a:solidFill>
                <a:latin typeface="Calibri"/>
                <a:ea typeface="Calibri"/>
                <a:cs typeface="Calibri"/>
                <a:sym typeface="Calibri"/>
              </a:rPr>
              <a:t>AWS Artifact Reports</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Artifact Reports provide compliance reports from third-party auditors. These auditors have tested and verified that AWS is compliant with a variety of global, regional, and industry-specific security standards and regulations. AWS Artifact Reports remains up to date with the latest reports released. You can provide the AWS audit artifacts to your auditors or regulators as evidence of AWS security controls.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These are some of the compliance reports and regulations that you can find in AWS Artifact. Each report includes a description of its contents and the reporting period for which the document is valid.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Another resource to explore is the </a:t>
            </a:r>
            <a:r>
              <a:rPr b="1" lang="en-US" sz="1200">
                <a:solidFill>
                  <a:schemeClr val="dk1"/>
                </a:solidFill>
                <a:latin typeface="Calibri"/>
                <a:ea typeface="Calibri"/>
                <a:cs typeface="Calibri"/>
                <a:sym typeface="Calibri"/>
              </a:rPr>
              <a:t>Customer Compliance Center</a:t>
            </a: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a:t>
            </a:r>
            <a:r>
              <a:rPr b="1" lang="en-US" sz="1200">
                <a:solidFill>
                  <a:schemeClr val="dk1"/>
                </a:solidFill>
                <a:latin typeface="Calibri"/>
                <a:ea typeface="Calibri"/>
                <a:cs typeface="Calibri"/>
                <a:sym typeface="Calibri"/>
              </a:rPr>
              <a:t>Customer Compliance Center</a:t>
            </a:r>
            <a:r>
              <a:rPr lang="en-US" sz="1200">
                <a:solidFill>
                  <a:schemeClr val="dk1"/>
                </a:solidFill>
                <a:latin typeface="Calibri"/>
                <a:ea typeface="Calibri"/>
                <a:cs typeface="Calibri"/>
                <a:sym typeface="Calibri"/>
              </a:rPr>
              <a:t> contains resources to help you learn more about AWS compliance.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the Customer Compliance Center, you can read customer compliance stories to discover how companies in regulated industries have solved various compliance, governance, and audit challenges.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You can also access compliance whitepapers and documentation on topics such as: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AWS answers to key compliance questions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An overview of AWS risk and compliance</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An auditing security checklist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Additionally, the Customer Compliance Center includes an auditor learning path. This learning path is designed for individuals in auditing, compliance, and legal roles who want to learn more about how their internal operations can demonstrate compliance using the AWS Cloud.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rPr b="0" lang="en-US" sz="1200">
                <a:latin typeface="Arial"/>
                <a:ea typeface="Arial"/>
                <a:cs typeface="Arial"/>
                <a:sym typeface="Arial"/>
              </a:rPr>
              <a:t>Which tasks can you complete in AWS Artifact? (Select TWO.)</a:t>
            </a:r>
            <a:endParaRPr/>
          </a:p>
          <a:p>
            <a:pPr indent="0" lvl="0" marL="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200"/>
              <a:buFont typeface="Calibri"/>
              <a:buAutoNum type="alphaUcPeriod"/>
            </a:pPr>
            <a:r>
              <a:rPr lang="en-US"/>
              <a:t>Access AWS compliance reports on-demand.</a:t>
            </a:r>
            <a:endParaRPr/>
          </a:p>
          <a:p>
            <a:pPr indent="-228600" lvl="0" marL="228600" marR="0" rtl="0" algn="l">
              <a:lnSpc>
                <a:spcPct val="100000"/>
              </a:lnSpc>
              <a:spcBef>
                <a:spcPts val="0"/>
              </a:spcBef>
              <a:spcAft>
                <a:spcPts val="0"/>
              </a:spcAft>
              <a:buClr>
                <a:schemeClr val="dk1"/>
              </a:buClr>
              <a:buSzPts val="1200"/>
              <a:buFont typeface="Calibri"/>
              <a:buAutoNum type="alphaUcPeriod"/>
            </a:pPr>
            <a:r>
              <a:rPr lang="en-US"/>
              <a:t>Consolidate and manage multiple AWS accounts within a central location.</a:t>
            </a:r>
            <a:endParaRPr/>
          </a:p>
          <a:p>
            <a:pPr indent="-228600" lvl="0" marL="228600" marR="0" rtl="0" algn="l">
              <a:lnSpc>
                <a:spcPct val="100000"/>
              </a:lnSpc>
              <a:spcBef>
                <a:spcPts val="0"/>
              </a:spcBef>
              <a:spcAft>
                <a:spcPts val="0"/>
              </a:spcAft>
              <a:buClr>
                <a:schemeClr val="dk1"/>
              </a:buClr>
              <a:buSzPts val="1200"/>
              <a:buFont typeface="Calibri"/>
              <a:buAutoNum type="alphaUcPeriod"/>
            </a:pPr>
            <a:r>
              <a:rPr lang="en-US"/>
              <a:t>Create users to allow people and applications to interact with AWS services and resources.</a:t>
            </a:r>
            <a:endParaRPr/>
          </a:p>
          <a:p>
            <a:pPr indent="-228600" lvl="0" marL="228600" marR="0" rtl="0" algn="l">
              <a:lnSpc>
                <a:spcPct val="100000"/>
              </a:lnSpc>
              <a:spcBef>
                <a:spcPts val="0"/>
              </a:spcBef>
              <a:spcAft>
                <a:spcPts val="0"/>
              </a:spcAft>
              <a:buClr>
                <a:schemeClr val="dk1"/>
              </a:buClr>
              <a:buSzPts val="1200"/>
              <a:buFont typeface="Calibri"/>
              <a:buAutoNum type="alphaUcPeriod"/>
            </a:pPr>
            <a:r>
              <a:rPr lang="en-US"/>
              <a:t>Set permissions for accounts by configuring service control policies (SCPs).</a:t>
            </a:r>
            <a:endParaRPr/>
          </a:p>
          <a:p>
            <a:pPr indent="-228600" lvl="0" marL="228600" marR="0" rtl="0" algn="l">
              <a:lnSpc>
                <a:spcPct val="100000"/>
              </a:lnSpc>
              <a:spcBef>
                <a:spcPts val="0"/>
              </a:spcBef>
              <a:spcAft>
                <a:spcPts val="0"/>
              </a:spcAft>
              <a:buClr>
                <a:schemeClr val="dk1"/>
              </a:buClr>
              <a:buSzPts val="1200"/>
              <a:buFont typeface="Calibri"/>
              <a:buAutoNum type="alphaUcPeriod"/>
            </a:pPr>
            <a:r>
              <a:rPr lang="en-US"/>
              <a:t>Review, accept, and manage agreements with AWS.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correct response options are: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A: Access AWS compliance reports on-demand.</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E: Review, accept, and manage agreements with AWS.</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 Consolidate and manage multiple AWS accounts within a central location- This task can be completed in </a:t>
            </a:r>
            <a:r>
              <a:rPr b="0" i="1" lang="en-US" sz="1200">
                <a:solidFill>
                  <a:schemeClr val="dk1"/>
                </a:solidFill>
                <a:latin typeface="Calibri"/>
                <a:ea typeface="Calibri"/>
                <a:cs typeface="Calibri"/>
                <a:sym typeface="Calibri"/>
              </a:rPr>
              <a:t>AWS Organizations</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C. Create users to allow people and applications to interact with AWS services and resources. This task can be completed in </a:t>
            </a:r>
            <a:r>
              <a:rPr b="0" i="1" lang="en-US" sz="1200">
                <a:solidFill>
                  <a:schemeClr val="dk1"/>
                </a:solidFill>
                <a:latin typeface="Calibri"/>
                <a:ea typeface="Calibri"/>
                <a:cs typeface="Calibri"/>
                <a:sym typeface="Calibri"/>
              </a:rPr>
              <a:t>AWS Identity and Access Management (IAM)</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lang="en-US"/>
              <a:t>D. </a:t>
            </a:r>
            <a:r>
              <a:rPr b="0" i="0" lang="en-US" sz="1200">
                <a:solidFill>
                  <a:schemeClr val="dk1"/>
                </a:solidFill>
                <a:latin typeface="Calibri"/>
                <a:ea typeface="Calibri"/>
                <a:cs typeface="Calibri"/>
                <a:sym typeface="Calibri"/>
              </a:rPr>
              <a:t>Set permissions for accounts by configuring service control policies (SCPs)- This task can be completed in </a:t>
            </a:r>
            <a:r>
              <a:rPr b="0" i="1" lang="en-US" sz="1200">
                <a:solidFill>
                  <a:schemeClr val="dk1"/>
                </a:solidFill>
                <a:latin typeface="Calibri"/>
                <a:ea typeface="Calibri"/>
                <a:cs typeface="Calibri"/>
                <a:sym typeface="Calibri"/>
              </a:rPr>
              <a:t>AWS Organizations</a:t>
            </a:r>
            <a:r>
              <a:rPr b="0" i="0"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Throughout this course, you have learned about a wide variety of services and resources that you can use to develop and deploy applications. How can you keep these applications secure? The next aspect of security that you will examine is application security.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section begins with </a:t>
            </a:r>
            <a:r>
              <a:rPr b="1" lang="en-US" sz="1200">
                <a:solidFill>
                  <a:schemeClr val="dk1"/>
                </a:solidFill>
                <a:latin typeface="Calibri"/>
                <a:ea typeface="Calibri"/>
                <a:cs typeface="Calibri"/>
                <a:sym typeface="Calibri"/>
              </a:rPr>
              <a:t>AWS Web Application Firewall</a:t>
            </a:r>
            <a:r>
              <a:rPr lang="en-US" sz="1200">
                <a:solidFill>
                  <a:schemeClr val="dk1"/>
                </a:solidFill>
                <a:latin typeface="Calibri"/>
                <a:ea typeface="Calibri"/>
                <a:cs typeface="Calibri"/>
                <a:sym typeface="Calibri"/>
              </a:rPr>
              <a:t>, a service that provides network security capabilities.</a:t>
            </a:r>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30:notes"/>
          <p:cNvSpPr txBox="1"/>
          <p:nvPr>
            <p:ph idx="1" type="body"/>
          </p:nvPr>
        </p:nvSpPr>
        <p:spPr>
          <a:xfrm>
            <a:off x="685800" y="4400549"/>
            <a:ext cx="5486400" cy="38813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AWS WAF is a web application firewall that helps protect your web applications or APIs against common web exploits. These exploits might affect availability, compromise security, or consume excessive resources. AWS WAF gives you control over how traffic reaches your applications. You can create security </a:t>
            </a:r>
            <a:r>
              <a:rPr b="0" lang="en-US"/>
              <a:t>rules</a:t>
            </a:r>
            <a:r>
              <a:rPr lang="en-US"/>
              <a:t> that do the following:</a:t>
            </a:r>
            <a:endParaRPr/>
          </a:p>
          <a:p>
            <a:pPr indent="-171450" lvl="0" marL="171450" marR="0" rtl="0" algn="l">
              <a:lnSpc>
                <a:spcPct val="100000"/>
              </a:lnSpc>
              <a:spcBef>
                <a:spcPts val="0"/>
              </a:spcBef>
              <a:spcAft>
                <a:spcPts val="0"/>
              </a:spcAft>
              <a:buClr>
                <a:schemeClr val="dk1"/>
              </a:buClr>
              <a:buSzPts val="1200"/>
              <a:buFont typeface="Arial"/>
              <a:buChar char="•"/>
            </a:pPr>
            <a:r>
              <a:rPr lang="en-US"/>
              <a:t>Block common attack patterns, such as SQL injection or cross-site scripting.</a:t>
            </a:r>
            <a:endParaRPr/>
          </a:p>
          <a:p>
            <a:pPr indent="-171450" lvl="0" marL="171450" marR="0" rtl="0" algn="l">
              <a:lnSpc>
                <a:spcPct val="100000"/>
              </a:lnSpc>
              <a:spcBef>
                <a:spcPts val="0"/>
              </a:spcBef>
              <a:spcAft>
                <a:spcPts val="0"/>
              </a:spcAft>
              <a:buClr>
                <a:schemeClr val="dk1"/>
              </a:buClr>
              <a:buSzPts val="1200"/>
              <a:buFont typeface="Arial"/>
              <a:buChar char="•"/>
            </a:pPr>
            <a:r>
              <a:rPr lang="en-US"/>
              <a:t>Filter out specific traffic patterns that you define.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Application layer protection</a:t>
            </a:r>
            <a:endParaRPr/>
          </a:p>
          <a:p>
            <a:pPr indent="0" lvl="0" marL="0" marR="0" rtl="0" algn="l">
              <a:lnSpc>
                <a:spcPct val="100000"/>
              </a:lnSpc>
              <a:spcBef>
                <a:spcPts val="0"/>
              </a:spcBef>
              <a:spcAft>
                <a:spcPts val="0"/>
              </a:spcAft>
              <a:buClr>
                <a:schemeClr val="dk1"/>
              </a:buClr>
              <a:buSzPts val="1200"/>
              <a:buFont typeface="Calibri"/>
              <a:buNone/>
            </a:pPr>
            <a:r>
              <a:rPr lang="en-US"/>
              <a:t>This gives you an additional layer of protection from web attacks that attempt to exploit vulnerabilities in custom or third-party web applications. </a:t>
            </a:r>
            <a:r>
              <a:rPr b="0" i="0" lang="en-US" sz="1200">
                <a:solidFill>
                  <a:schemeClr val="dk1"/>
                </a:solidFill>
                <a:latin typeface="Calibri"/>
                <a:ea typeface="Calibri"/>
                <a:cs typeface="Calibri"/>
                <a:sym typeface="Calibri"/>
              </a:rPr>
              <a:t>In addition, AWS WAF provides real-time metrics and captures raw requests that include details about IP addresses and geolocations. AWS WAF provides application layer protection and is tightly integrated with Amazon CloudFront, Amazon API Gateway, and the Application Load Balancer. These are services that AWS customers commonly use to deliver content for their websites and applications.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CloudFront integration</a:t>
            </a:r>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When you use AWS WAF on Amazon CloudFront, your rules run in all AWS edge locations located around the world close to your end users. This means security doesn’t come at the expense of performance. Blocked requests are stopped before they reach your web servers. When you use AWS WAF on Application Load Balancer, your rules run in the Region and can be used to protect internet-facing and internal load balancers.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AWS WAF works together with Amazon CloudFront and an Application Load Balancer. Recall the network access control lists that you learned about in an earlier module. AWS WAF works in a similar way to block or allow traffic. However, it does this by using a </a:t>
            </a:r>
            <a:r>
              <a:rPr b="0" i="1" lang="en-US" sz="1200">
                <a:solidFill>
                  <a:schemeClr val="dk1"/>
                </a:solidFill>
                <a:latin typeface="Calibri"/>
                <a:ea typeface="Calibri"/>
                <a:cs typeface="Calibri"/>
                <a:sym typeface="Calibri"/>
              </a:rPr>
              <a:t>web access control list (web ACL)</a:t>
            </a:r>
            <a:r>
              <a:rPr b="1" i="0" lang="en-US" sz="1200">
                <a:solidFill>
                  <a:schemeClr val="dk1"/>
                </a:solidFill>
                <a:latin typeface="Calibri"/>
                <a:ea typeface="Calibri"/>
                <a:cs typeface="Calibri"/>
                <a:sym typeface="Calibri"/>
              </a:rPr>
              <a:t> </a:t>
            </a:r>
            <a:r>
              <a:rPr b="0" i="0" lang="en-US" sz="1200">
                <a:solidFill>
                  <a:schemeClr val="dk1"/>
                </a:solidFill>
                <a:latin typeface="Calibri"/>
                <a:ea typeface="Calibri"/>
                <a:cs typeface="Calibri"/>
                <a:sym typeface="Calibri"/>
              </a:rPr>
              <a:t>to protect your AWS resources. </a:t>
            </a:r>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a:solidFill>
                  <a:srgbClr val="000000"/>
                </a:solidFill>
                <a:latin typeface="Calibri"/>
                <a:ea typeface="Calibri"/>
                <a:cs typeface="Calibri"/>
                <a:sym typeface="Calibri"/>
              </a:rPr>
              <a:t>AWS WAF rules are central to the way this service protects your resources. A rule contains a statement with conditions that define the inspection criteria, and an action to take if a web request meets the criteria. When a web request meets the criteria, that's a match. You can use rules to block matching requests or to allow matching requests through. AWS WAF supports both managed and custom rules. Managed rules are a set of rules written, curated, and managed by AWS and AWS Marketplace Sellers that can be used to quickly get started protecting your web application or APIs against common threats. </a:t>
            </a:r>
            <a:r>
              <a:rPr b="0" i="0" lang="en-US">
                <a:solidFill>
                  <a:srgbClr val="000000"/>
                </a:solidFill>
                <a:latin typeface="Calibri"/>
                <a:ea typeface="Calibri"/>
                <a:cs typeface="Calibri"/>
                <a:sym typeface="Calibri"/>
              </a:rPr>
              <a:t>Managed rules can be used alone or with your custom AWS WAF rules.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Here’s an example of how you can use AWS WAF to allow and block specific requests. </a:t>
            </a:r>
            <a:r>
              <a:rPr lang="en-US">
                <a:solidFill>
                  <a:srgbClr val="000000"/>
                </a:solidFill>
                <a:latin typeface="Calibri"/>
                <a:ea typeface="Calibri"/>
                <a:cs typeface="Calibri"/>
                <a:sym typeface="Calibri"/>
              </a:rPr>
              <a:t>The web ACL displayed here contains two custom rules that allow you to manually insert IP addresses that you want to block (deny list) or allow (allow list). It also contains a managed rule group made of two rules. The </a:t>
            </a:r>
            <a:r>
              <a:rPr i="1" lang="en-US">
                <a:solidFill>
                  <a:srgbClr val="000000"/>
                </a:solidFill>
                <a:latin typeface="Calibri"/>
                <a:ea typeface="Calibri"/>
                <a:cs typeface="Calibri"/>
                <a:sym typeface="Calibri"/>
              </a:rPr>
              <a:t>HTTP flood</a:t>
            </a:r>
            <a:r>
              <a:rPr lang="en-US">
                <a:solidFill>
                  <a:srgbClr val="000000"/>
                </a:solidFill>
                <a:latin typeface="Calibri"/>
                <a:ea typeface="Calibri"/>
                <a:cs typeface="Calibri"/>
                <a:sym typeface="Calibri"/>
              </a:rPr>
              <a:t> rule protects against attacks that consist of a large number of requests from a particular IP address, such as a web-layer distributed denial of service (DDoS) attack or a brute-force login attempt. The </a:t>
            </a:r>
            <a:r>
              <a:rPr i="1" lang="en-US">
                <a:solidFill>
                  <a:srgbClr val="000000"/>
                </a:solidFill>
                <a:latin typeface="Calibri"/>
                <a:ea typeface="Calibri"/>
                <a:cs typeface="Calibri"/>
                <a:sym typeface="Calibri"/>
              </a:rPr>
              <a:t>SQL injection rule</a:t>
            </a:r>
            <a:r>
              <a:rPr lang="en-US">
                <a:solidFill>
                  <a:srgbClr val="000000"/>
                </a:solidFill>
                <a:latin typeface="Calibri"/>
                <a:ea typeface="Calibri"/>
                <a:cs typeface="Calibri"/>
                <a:sym typeface="Calibri"/>
              </a:rPr>
              <a:t> is designed to protect against common SQL injection patterns in the URI, query string, or body of a request.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When a request comes in, AWS WAF checks against the list of rules that you have configured in the ACL. If a request does not have any malicious SQL code injected and is not sending a large number of requests, it allows access to the application.</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Two types of application attacks that you might need to mitigate are denial of service (DoS) and DDoS attacks.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Customers can call the coffee shop to place their orders. After answering each call, a cashier takes the order and gives it to the barista.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However, suppose that a prankster is calling in multiple times to place orders but is never picking up their drinks. This causes the cashier to be unavailable to take other customers’ calls. The coffee shop can attempt to stop the false requests by blocking the phone number that the prankster is using.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this scenario, the prankster’s actions are similar to a </a:t>
            </a:r>
            <a:r>
              <a:rPr b="1" i="0" lang="en-US" sz="1200">
                <a:solidFill>
                  <a:schemeClr val="dk1"/>
                </a:solidFill>
                <a:latin typeface="Calibri"/>
                <a:ea typeface="Calibri"/>
                <a:cs typeface="Calibri"/>
                <a:sym typeface="Calibri"/>
              </a:rPr>
              <a:t>denial of service attack</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a:t>
            </a:r>
            <a:r>
              <a:rPr b="1" lang="en-US" sz="1200">
                <a:solidFill>
                  <a:schemeClr val="dk1"/>
                </a:solidFill>
                <a:latin typeface="Calibri"/>
                <a:ea typeface="Calibri"/>
                <a:cs typeface="Calibri"/>
                <a:sym typeface="Calibri"/>
              </a:rPr>
              <a:t>denial of service (DoS) attack</a:t>
            </a:r>
            <a:r>
              <a:rPr lang="en-US" sz="1200">
                <a:solidFill>
                  <a:schemeClr val="dk1"/>
                </a:solidFill>
                <a:latin typeface="Calibri"/>
                <a:ea typeface="Calibri"/>
                <a:cs typeface="Calibri"/>
                <a:sym typeface="Calibri"/>
              </a:rPr>
              <a:t> is a deliberate attempt to make a website or application unavailable to users. </a:t>
            </a:r>
            <a:r>
              <a:rPr b="0" i="0" lang="en-US" sz="1200">
                <a:solidFill>
                  <a:schemeClr val="dk1"/>
                </a:solidFill>
                <a:latin typeface="Calibri"/>
                <a:ea typeface="Calibri"/>
                <a:cs typeface="Calibri"/>
                <a:sym typeface="Calibri"/>
              </a:rPr>
              <a:t>For example, an attacker might flood a website or application with excessive network traffic until the targeted website or application becomes overloaded and is no longer able to respond. If the website or application becomes unavailable, this denies service to users who are trying to make legitimate requests.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Now, suppose that the prankster has enlisted the help of friends.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prankster and their friends repeatedly call the coffee shop with requests to place orders, even though they do not intend to pick them up. These requests are coming in from different phone numbers, and it’s impossible for the coffee shop to block them all. Additionally, the influx of calls has made it increasingly difficult for customers to be able to get their calls through. This is similar to a </a:t>
            </a:r>
            <a:r>
              <a:rPr b="1" i="0" lang="en-US" sz="1200">
                <a:solidFill>
                  <a:schemeClr val="dk1"/>
                </a:solidFill>
                <a:latin typeface="Calibri"/>
                <a:ea typeface="Calibri"/>
                <a:cs typeface="Calibri"/>
                <a:sym typeface="Calibri"/>
              </a:rPr>
              <a:t>distributed denial of service attack</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a </a:t>
            </a:r>
            <a:r>
              <a:rPr b="1" i="0" lang="en-US" sz="1200">
                <a:solidFill>
                  <a:schemeClr val="dk1"/>
                </a:solidFill>
                <a:latin typeface="Calibri"/>
                <a:ea typeface="Calibri"/>
                <a:cs typeface="Calibri"/>
                <a:sym typeface="Calibri"/>
              </a:rPr>
              <a:t>distributed denial of service (DDoS) attack</a:t>
            </a:r>
            <a:r>
              <a:rPr b="0" i="0" lang="en-US" sz="1200">
                <a:solidFill>
                  <a:schemeClr val="dk1"/>
                </a:solidFill>
                <a:latin typeface="Calibri"/>
                <a:ea typeface="Calibri"/>
                <a:cs typeface="Calibri"/>
                <a:sym typeface="Calibri"/>
              </a:rPr>
              <a:t>, multiple sources are used to start an attack that aims to make a website or application unavailable. This can come from a group of attackers, or even a single attacker. The single attacker can use multiple infected computers (also known as “bots”) to send excessive traffic to a website or application.</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To help minimize the effect of DoS and DDoS attacks on your applications, you can use </a:t>
            </a:r>
            <a:r>
              <a:rPr b="1" i="0" lang="en-US" sz="1200">
                <a:solidFill>
                  <a:schemeClr val="dk1"/>
                </a:solidFill>
                <a:latin typeface="Calibri"/>
                <a:ea typeface="Calibri"/>
                <a:cs typeface="Calibri"/>
                <a:sym typeface="Calibri"/>
              </a:rPr>
              <a:t>AWS Shield</a:t>
            </a:r>
            <a:r>
              <a:rPr b="0" i="0"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AWS Shield</a:t>
            </a:r>
            <a:r>
              <a:rPr lang="en-US" sz="1200">
                <a:solidFill>
                  <a:schemeClr val="dk1"/>
                </a:solidFill>
                <a:latin typeface="Calibri"/>
                <a:ea typeface="Calibri"/>
                <a:cs typeface="Calibri"/>
                <a:sym typeface="Calibri"/>
              </a:rPr>
              <a:t> is a service that protects applications against DDoS attacks. </a:t>
            </a:r>
            <a:r>
              <a:rPr b="0" i="0" lang="en-US" sz="1200">
                <a:solidFill>
                  <a:schemeClr val="dk1"/>
                </a:solidFill>
                <a:latin typeface="Calibri"/>
                <a:ea typeface="Calibri"/>
                <a:cs typeface="Calibri"/>
                <a:sym typeface="Calibri"/>
              </a:rPr>
              <a:t>AWS Shield provides two levels of protection: Standard and Advanced.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AWS Shield Standard</a:t>
            </a:r>
            <a:r>
              <a:rPr b="0" i="0" lang="en-US" sz="1200">
                <a:solidFill>
                  <a:schemeClr val="dk1"/>
                </a:solidFill>
                <a:latin typeface="Calibri"/>
                <a:ea typeface="Calibri"/>
                <a:cs typeface="Calibri"/>
                <a:sym typeface="Calibri"/>
              </a:rPr>
              <a:t> automatically protects all AWS customers at no cost. It protects your AWS resources from the most common, frequently occurring types of DDoS attacks. As network traffic comes into your applications, AWS Shield Standard uses a variety of analysis techniques to detect malicious traffic in real time and automatically mitigates it.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AWS Shield Advanced</a:t>
            </a:r>
            <a:r>
              <a:rPr b="0" i="0" lang="en-US" sz="1200">
                <a:solidFill>
                  <a:schemeClr val="dk1"/>
                </a:solidFill>
                <a:latin typeface="Calibri"/>
                <a:ea typeface="Calibri"/>
                <a:cs typeface="Calibri"/>
                <a:sym typeface="Calibri"/>
              </a:rPr>
              <a:t> is a paid service that provides detailed attack diagnostics and the ability to detect and mitigate sophisticated DDoS attacks. It also integrates with other services such as Amazon CloudFront, Amazon Route 53, and Elastic Load Balancing.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Additionally, you can integrate AWS Shield with AWS WAF by writing custom rules to mitigate complex DDoS attacks.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Next, you will explore Amazon Inspector.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Suppose that the developers at the coffee shop are developing and testing a new ordering application. They want to make sure that they are designing the application in accordance with security best practices. However, they have several other applications to develop, so they cannot spend much time conducting manual assessments. To perform automated security assessments, they decide to use </a:t>
            </a:r>
            <a:r>
              <a:rPr b="1" i="0" lang="en-US" sz="1200">
                <a:solidFill>
                  <a:schemeClr val="dk1"/>
                </a:solidFill>
                <a:latin typeface="Calibri"/>
                <a:ea typeface="Calibri"/>
                <a:cs typeface="Calibri"/>
                <a:sym typeface="Calibri"/>
              </a:rPr>
              <a:t>Amazon Inspector</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Amazon Inspector helps to improve the security and compliance of applications by running automated security assessments. It checks applications and containers for security vulnerabilities and deviations from security best practices, such as open access to Amazon EC2 instances and installations of vulnerable software versions.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After Amazon Inspector has performed an assessment, it provides you with a list of security findings. The list prioritizes by severity level, including a detailed description of each security issue and a recommendation for how to fix it. However, AWS does not guarantee that following the provided recommendations resolves every potential security issue. Under the shared responsibility model, customers are responsible for the security of their applications, processes, and tools that run on AWS services.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final section of this module examines two additional security services: AWS Key Management Service and Amazon GuardDuty.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Throughout this module, you explored the shared responsibility model, IAM, organizational security, and application security. Another aspect of security is data encryption. This can include the data in resources such as Amazon S3 buckets and Amazon RDS databases. When your data is being stored or sent, how can you ensure that it remains secure from unauthorized access?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AWS Key Management Service offers encryption capabilities, as you will see in an next example from the coffee shop.</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36:notes"/>
          <p:cNvSpPr txBox="1"/>
          <p:nvPr>
            <p:ph idx="1" type="body"/>
          </p:nvPr>
        </p:nvSpPr>
        <p:spPr>
          <a:xfrm>
            <a:off x="685800" y="4400550"/>
            <a:ext cx="5618018"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coffee shop has many items, such as coffee machines, pastries, money in the cash registers, and so on. You can think of these items as data. The coffee shop owners want to ensure that all of these items are secure, whether they’re sitting in the storage room or being transported between shop locations.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the same way, you must ensure that your applications’ data is secure while in storage </a:t>
            </a:r>
            <a:r>
              <a:rPr b="1" i="0" lang="en-US" sz="1200">
                <a:solidFill>
                  <a:schemeClr val="dk1"/>
                </a:solidFill>
                <a:latin typeface="Calibri"/>
                <a:ea typeface="Calibri"/>
                <a:cs typeface="Calibri"/>
                <a:sym typeface="Calibri"/>
              </a:rPr>
              <a:t>(encryption at rest)</a:t>
            </a:r>
            <a:r>
              <a:rPr b="0" i="0" lang="en-US" sz="1200">
                <a:solidFill>
                  <a:schemeClr val="dk1"/>
                </a:solidFill>
                <a:latin typeface="Calibri"/>
                <a:ea typeface="Calibri"/>
                <a:cs typeface="Calibri"/>
                <a:sym typeface="Calibri"/>
              </a:rPr>
              <a:t> and while it is transmitted, known as </a:t>
            </a:r>
            <a:r>
              <a:rPr b="1" i="0" lang="en-US" sz="1200">
                <a:solidFill>
                  <a:schemeClr val="dk1"/>
                </a:solidFill>
                <a:latin typeface="Calibri"/>
                <a:ea typeface="Calibri"/>
                <a:cs typeface="Calibri"/>
                <a:sym typeface="Calibri"/>
              </a:rPr>
              <a:t>encryption in transit</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Key Management Service (AWS KMS) allows you to perform encryption operations through the use of </a:t>
            </a:r>
            <a:r>
              <a:rPr b="1" i="0" lang="en-US" sz="1200">
                <a:solidFill>
                  <a:schemeClr val="dk1"/>
                </a:solidFill>
                <a:latin typeface="Calibri"/>
                <a:ea typeface="Calibri"/>
                <a:cs typeface="Calibri"/>
                <a:sym typeface="Calibri"/>
              </a:rPr>
              <a:t>cryptographic keys</a:t>
            </a:r>
            <a:r>
              <a:rPr b="0" i="0" lang="en-US" sz="1200">
                <a:solidFill>
                  <a:schemeClr val="dk1"/>
                </a:solidFill>
                <a:latin typeface="Calibri"/>
                <a:ea typeface="Calibri"/>
                <a:cs typeface="Calibri"/>
                <a:sym typeface="Calibri"/>
              </a:rPr>
              <a:t>. A cryptographic key is a random string of digits used for locking (encrypting) and unlocking (decrypting) data. You can use AWS KMS to create, manage, and use cryptographic keys. You can also control the use of keys across a wide range of services and in your applications.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With AWS KMS, you can choose the specific levels of access control that you need for your keys. For example, you can specify which IAM users and roles are able to manage keys. Alternatively, you can temporarily disable keys so that they are no longer in use by anyone. Your keys never leave AWS KMS, and you are always in control of them.</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Amazon GuardDuty </a:t>
            </a:r>
            <a:r>
              <a:rPr b="0" i="0" lang="en-US" sz="1200">
                <a:solidFill>
                  <a:schemeClr val="dk1"/>
                </a:solidFill>
                <a:latin typeface="Calibri"/>
                <a:ea typeface="Calibri"/>
                <a:cs typeface="Calibri"/>
                <a:sym typeface="Calibri"/>
              </a:rPr>
              <a:t>is a service that provides intelligent threat detection for your AWS infrastructure and resources. It identifies threats by continuously monitoring the network activity and account behavior within your AWS environment.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After you enable GuardDuty for your AWS account, GuardDuty begins monitoring your network and account activity. You do not have to deploy or manage any additional security software. GuardDuty then continuously analyzes data from multiple AWS sources, including VPC Flow Logs and DNS logs.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If GuardDuty detects any threats, you can review detailed findings about them from the AWS Management Console. Findings include recommended steps for remediation. You can also configure AWS Lambda functions to take remediation steps automatically in response to GuardDuty security findings.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a:t>There are no notes on this slide.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Which statement describes an IAM policy?</a:t>
            </a:r>
            <a:endParaRPr/>
          </a:p>
          <a:p>
            <a:pPr indent="0" lvl="0" marL="0" rtl="0" algn="l">
              <a:spcBef>
                <a:spcPts val="1000"/>
              </a:spcBef>
              <a:spcAft>
                <a:spcPts val="0"/>
              </a:spcAft>
              <a:buNone/>
            </a:pPr>
            <a:r>
              <a:t/>
            </a:r>
            <a:endParaRPr/>
          </a:p>
          <a:p>
            <a:pPr indent="-228600" lvl="0" marL="228600" rtl="0" algn="l">
              <a:spcBef>
                <a:spcPts val="0"/>
              </a:spcBef>
              <a:spcAft>
                <a:spcPts val="0"/>
              </a:spcAft>
              <a:buClr>
                <a:schemeClr val="dk1"/>
              </a:buClr>
              <a:buSzPts val="1200"/>
              <a:buFont typeface="Calibri"/>
              <a:buAutoNum type="alphaUcPeriod"/>
            </a:pPr>
            <a:r>
              <a:rPr lang="en-US"/>
              <a:t>An authentication process that provides an extra layer of protection for your AWS account</a:t>
            </a:r>
            <a:endParaRPr/>
          </a:p>
          <a:p>
            <a:pPr indent="-228600" lvl="0" marL="228600" rtl="0" algn="l">
              <a:spcBef>
                <a:spcPts val="0"/>
              </a:spcBef>
              <a:spcAft>
                <a:spcPts val="0"/>
              </a:spcAft>
              <a:buClr>
                <a:schemeClr val="dk1"/>
              </a:buClr>
              <a:buSzPts val="1200"/>
              <a:buFont typeface="Calibri"/>
              <a:buAutoNum type="alphaUcPeriod"/>
            </a:pPr>
            <a:r>
              <a:rPr lang="en-US"/>
              <a:t>A document that grants or denies permissions to AWS services and resources</a:t>
            </a:r>
            <a:endParaRPr/>
          </a:p>
          <a:p>
            <a:pPr indent="-228600" lvl="0" marL="228600" rtl="0" algn="l">
              <a:spcBef>
                <a:spcPts val="0"/>
              </a:spcBef>
              <a:spcAft>
                <a:spcPts val="0"/>
              </a:spcAft>
              <a:buClr>
                <a:schemeClr val="dk1"/>
              </a:buClr>
              <a:buSzPts val="1200"/>
              <a:buFont typeface="Calibri"/>
              <a:buAutoNum type="alphaUcPeriod"/>
            </a:pPr>
            <a:r>
              <a:rPr lang="en-US"/>
              <a:t>An identity that you can assume to gain temporary access to permissions</a:t>
            </a:r>
            <a:endParaRPr/>
          </a:p>
          <a:p>
            <a:pPr indent="-228600" lvl="0" marL="228600" rtl="0" algn="l">
              <a:spcBef>
                <a:spcPts val="0"/>
              </a:spcBef>
              <a:spcAft>
                <a:spcPts val="0"/>
              </a:spcAft>
              <a:buClr>
                <a:schemeClr val="dk1"/>
              </a:buClr>
              <a:buSzPts val="1200"/>
              <a:buFont typeface="Calibri"/>
              <a:buAutoNum type="alphaUcPeriod"/>
            </a:pPr>
            <a:r>
              <a:rPr lang="en-US"/>
              <a:t>The identity that is established when you first create an AWS account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correct response option is </a:t>
            </a:r>
            <a:r>
              <a:rPr b="1" i="0" lang="en-US" sz="1200">
                <a:solidFill>
                  <a:schemeClr val="dk1"/>
                </a:solidFill>
                <a:latin typeface="Calibri"/>
                <a:ea typeface="Calibri"/>
                <a:cs typeface="Calibri"/>
                <a:sym typeface="Calibri"/>
              </a:rPr>
              <a:t>B. A document that grants or denies permissions to AWS services and resource</a:t>
            </a:r>
            <a:r>
              <a:rPr b="0" i="0" lang="en-US" sz="1200">
                <a:solidFill>
                  <a:schemeClr val="dk1"/>
                </a:solidFill>
                <a:latin typeface="Calibri"/>
                <a:ea typeface="Calibri"/>
                <a:cs typeface="Calibri"/>
                <a:sym typeface="Calibri"/>
              </a:rPr>
              <a:t>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IAM policies provide you with the flexibility to customize users’ levels of access to resources. For instance, you can allow users to access all the Amazon S3 buckets in your AWS account or only a specific bucket.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 </a:t>
            </a:r>
            <a:r>
              <a:rPr b="0" i="1" lang="en-US" sz="1200">
                <a:solidFill>
                  <a:schemeClr val="dk1"/>
                </a:solidFill>
                <a:latin typeface="Calibri"/>
                <a:ea typeface="Calibri"/>
                <a:cs typeface="Calibri"/>
                <a:sym typeface="Calibri"/>
              </a:rPr>
              <a:t>Multi-factor authentication (MFA) </a:t>
            </a:r>
            <a:r>
              <a:rPr b="0" i="0" lang="en-US" sz="1200">
                <a:solidFill>
                  <a:schemeClr val="dk1"/>
                </a:solidFill>
                <a:latin typeface="Calibri"/>
                <a:ea typeface="Calibri"/>
                <a:cs typeface="Calibri"/>
                <a:sym typeface="Calibri"/>
              </a:rPr>
              <a:t>is an authentication process that provides an extra layer of protection for your AWS account.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C – An </a:t>
            </a:r>
            <a:r>
              <a:rPr b="0" i="1" lang="en-US" sz="1200">
                <a:solidFill>
                  <a:schemeClr val="dk1"/>
                </a:solidFill>
                <a:latin typeface="Calibri"/>
                <a:ea typeface="Calibri"/>
                <a:cs typeface="Calibri"/>
                <a:sym typeface="Calibri"/>
              </a:rPr>
              <a:t>IAM role </a:t>
            </a:r>
            <a:r>
              <a:rPr b="0" i="0" lang="en-US" sz="1200">
                <a:solidFill>
                  <a:schemeClr val="dk1"/>
                </a:solidFill>
                <a:latin typeface="Calibri"/>
                <a:ea typeface="Calibri"/>
                <a:cs typeface="Calibri"/>
                <a:sym typeface="Calibri"/>
              </a:rPr>
              <a:t>is an identity that you can assume to gain temporary access to permissions.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D – The </a:t>
            </a:r>
            <a:r>
              <a:rPr b="0" i="1" lang="en-US" sz="1200">
                <a:solidFill>
                  <a:schemeClr val="dk1"/>
                </a:solidFill>
                <a:latin typeface="Calibri"/>
                <a:ea typeface="Calibri"/>
                <a:cs typeface="Calibri"/>
                <a:sym typeface="Calibri"/>
              </a:rPr>
              <a:t>root user identity </a:t>
            </a:r>
            <a:r>
              <a:rPr b="0" i="0" lang="en-US" sz="1200">
                <a:solidFill>
                  <a:schemeClr val="dk1"/>
                </a:solidFill>
                <a:latin typeface="Calibri"/>
                <a:ea typeface="Calibri"/>
                <a:cs typeface="Calibri"/>
                <a:sym typeface="Calibri"/>
              </a:rPr>
              <a:t>is the identity that is established when you first create an AWS account.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An employee requires temporary access to create several Amazon S3 buckets. Which option should be used for this task?</a:t>
            </a:r>
            <a:endParaRPr/>
          </a:p>
          <a:p>
            <a:pPr indent="0" lvl="0" marL="0" rtl="0" algn="l">
              <a:lnSpc>
                <a:spcPct val="100000"/>
              </a:lnSpc>
              <a:spcBef>
                <a:spcPts val="100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lphaUcPeriod"/>
            </a:pPr>
            <a:r>
              <a:rPr lang="en-US"/>
              <a:t>AWS account root user</a:t>
            </a:r>
            <a:endParaRPr/>
          </a:p>
          <a:p>
            <a:pPr indent="-228600" lvl="0" marL="228600" rtl="0" algn="l">
              <a:spcBef>
                <a:spcPts val="0"/>
              </a:spcBef>
              <a:spcAft>
                <a:spcPts val="0"/>
              </a:spcAft>
              <a:buClr>
                <a:schemeClr val="dk1"/>
              </a:buClr>
              <a:buSzPts val="1200"/>
              <a:buFont typeface="Calibri"/>
              <a:buAutoNum type="alphaUcPeriod"/>
            </a:pPr>
            <a:r>
              <a:rPr lang="en-US"/>
              <a:t>IAM group</a:t>
            </a:r>
            <a:endParaRPr/>
          </a:p>
          <a:p>
            <a:pPr indent="-228600" lvl="0" marL="228600" rtl="0" algn="l">
              <a:spcBef>
                <a:spcPts val="0"/>
              </a:spcBef>
              <a:spcAft>
                <a:spcPts val="0"/>
              </a:spcAft>
              <a:buClr>
                <a:schemeClr val="dk1"/>
              </a:buClr>
              <a:buSzPts val="1200"/>
              <a:buFont typeface="Calibri"/>
              <a:buAutoNum type="alphaUcPeriod"/>
            </a:pPr>
            <a:r>
              <a:rPr lang="en-US"/>
              <a:t>IAM role</a:t>
            </a:r>
            <a:endParaRPr/>
          </a:p>
          <a:p>
            <a:pPr indent="-228600" lvl="0" marL="228600" rtl="0" algn="l">
              <a:spcBef>
                <a:spcPts val="0"/>
              </a:spcBef>
              <a:spcAft>
                <a:spcPts val="0"/>
              </a:spcAft>
              <a:buClr>
                <a:schemeClr val="dk1"/>
              </a:buClr>
              <a:buSzPts val="1200"/>
              <a:buFont typeface="Calibri"/>
              <a:buAutoNum type="alphaUcPeriod"/>
            </a:pPr>
            <a:r>
              <a:rPr lang="en-US"/>
              <a:t>Service control policy (SCP)</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5" name="Google Shape;805;p42:notes"/>
          <p:cNvSpPr txBox="1"/>
          <p:nvPr>
            <p:ph idx="1" type="body"/>
          </p:nvPr>
        </p:nvSpPr>
        <p:spPr>
          <a:xfrm>
            <a:off x="685800" y="422910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correct answer is</a:t>
            </a:r>
            <a:r>
              <a:rPr b="1" i="0" lang="en-US" sz="1200">
                <a:solidFill>
                  <a:schemeClr val="dk1"/>
                </a:solidFill>
                <a:latin typeface="Calibri"/>
                <a:ea typeface="Calibri"/>
                <a:cs typeface="Calibri"/>
                <a:sym typeface="Calibri"/>
              </a:rPr>
              <a:t> C: IAM role</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An IAM role is an identity that you can assume to gain temporary access to permissions. When someone assumes an IAM role, they abandon all permissions that they had under a previous role and assume the permissions of the new role. IAM roles are ideal for situations in which access to services or resources needs to be granted temporarily instead of long-term.</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The AWS account root user is established when you first create an AWS account. As a best practice, do not use the root user for everyday tasks.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 Although you can attach IAM policies to an IAM group, this would not be the best choice for this scenario because the employee only needs to be granted temporary permissions.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D. Service control policies (SCPs) allow you to centrally control permissions for the accounts in your organization. An SCP is not the best choice for granting temporary permissions to an individual employee.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rPr b="0" lang="en-US" sz="1200">
                <a:latin typeface="Arial"/>
                <a:ea typeface="Arial"/>
                <a:cs typeface="Arial"/>
                <a:sym typeface="Arial"/>
              </a:rPr>
              <a:t>Which of the following descriptions best describes the concept of least privilege?</a:t>
            </a:r>
            <a:endParaRPr/>
          </a:p>
          <a:p>
            <a:pPr indent="0" lvl="0" marL="0" rtl="0" algn="l">
              <a:spcBef>
                <a:spcPts val="0"/>
              </a:spcBef>
              <a:spcAft>
                <a:spcPts val="0"/>
              </a:spcAft>
              <a:buNone/>
            </a:pPr>
            <a:r>
              <a:t/>
            </a:r>
            <a:endParaRPr/>
          </a:p>
          <a:p>
            <a:pPr indent="-228600" lvl="0" marL="228600" rtl="0" algn="l">
              <a:spcBef>
                <a:spcPts val="0"/>
              </a:spcBef>
              <a:spcAft>
                <a:spcPts val="0"/>
              </a:spcAft>
              <a:buClr>
                <a:schemeClr val="dk1"/>
              </a:buClr>
              <a:buSzPts val="1200"/>
              <a:buFont typeface="Calibri"/>
              <a:buAutoNum type="alphaUcPeriod"/>
            </a:pPr>
            <a:r>
              <a:rPr lang="en-US"/>
              <a:t>Adding an IAM user into at least one IAM group</a:t>
            </a:r>
            <a:endParaRPr/>
          </a:p>
          <a:p>
            <a:pPr indent="-228600" lvl="0" marL="228600" rtl="0" algn="l">
              <a:spcBef>
                <a:spcPts val="0"/>
              </a:spcBef>
              <a:spcAft>
                <a:spcPts val="0"/>
              </a:spcAft>
              <a:buClr>
                <a:schemeClr val="dk1"/>
              </a:buClr>
              <a:buSzPts val="1200"/>
              <a:buFont typeface="Calibri"/>
              <a:buAutoNum type="alphaUcPeriod"/>
            </a:pPr>
            <a:r>
              <a:rPr lang="en-US"/>
              <a:t>Granting only the permissions that are needed to perform specific job tasks</a:t>
            </a:r>
            <a:endParaRPr/>
          </a:p>
          <a:p>
            <a:pPr indent="-228600" lvl="0" marL="228600" rtl="0" algn="l">
              <a:spcBef>
                <a:spcPts val="0"/>
              </a:spcBef>
              <a:spcAft>
                <a:spcPts val="0"/>
              </a:spcAft>
              <a:buClr>
                <a:schemeClr val="dk1"/>
              </a:buClr>
              <a:buSzPts val="1200"/>
              <a:buFont typeface="Calibri"/>
              <a:buAutoNum type="alphaUcPeriod"/>
            </a:pPr>
            <a:r>
              <a:rPr lang="en-US"/>
              <a:t>Checking a packet’s permissions against an access control list</a:t>
            </a:r>
            <a:endParaRPr/>
          </a:p>
          <a:p>
            <a:pPr indent="-228600" lvl="0" marL="228600" rtl="0" algn="l">
              <a:spcBef>
                <a:spcPts val="0"/>
              </a:spcBef>
              <a:spcAft>
                <a:spcPts val="0"/>
              </a:spcAft>
              <a:buClr>
                <a:schemeClr val="dk1"/>
              </a:buClr>
              <a:buSzPts val="1200"/>
              <a:buFont typeface="Calibri"/>
              <a:buAutoNum type="alphaUcPeriod"/>
            </a:pPr>
            <a:r>
              <a:rPr lang="en-US"/>
              <a:t>Performing a denial of service attack that originates from at least one device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1" name="Google Shape;82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correct response option is </a:t>
            </a:r>
            <a:r>
              <a:rPr b="1" i="0" lang="en-US" sz="1200">
                <a:solidFill>
                  <a:schemeClr val="dk1"/>
                </a:solidFill>
                <a:latin typeface="Calibri"/>
                <a:ea typeface="Calibri"/>
                <a:cs typeface="Calibri"/>
                <a:sym typeface="Calibri"/>
              </a:rPr>
              <a:t>B: Granting only the permissions that are needed to perform specific job tasks.</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you grant permissions by following the principle of least privilege, you prevent users or roles from having more permissions than needed to perform specific job tasks. For example, cashiers in the coffee shop should be given access to the cash register system. As a best practice, grant IAM users and roles a minimum set of permissions and then grant additional permissions as needed.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9" name="Google Shape;82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Which service helps protect your applications against distributed denial of service (DDoS) attacks?</a:t>
            </a:r>
            <a:endParaRPr/>
          </a:p>
          <a:p>
            <a:pPr indent="0" lvl="0" marL="0" rtl="0" algn="l">
              <a:lnSpc>
                <a:spcPct val="100000"/>
              </a:lnSpc>
              <a:spcBef>
                <a:spcPts val="100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lphaUcPeriod"/>
            </a:pPr>
            <a:r>
              <a:rPr lang="en-US"/>
              <a:t>Amazon GuardDuty</a:t>
            </a:r>
            <a:endParaRPr/>
          </a:p>
          <a:p>
            <a:pPr indent="-228600" lvl="0" marL="228600" rtl="0" algn="l">
              <a:spcBef>
                <a:spcPts val="0"/>
              </a:spcBef>
              <a:spcAft>
                <a:spcPts val="0"/>
              </a:spcAft>
              <a:buClr>
                <a:schemeClr val="dk1"/>
              </a:buClr>
              <a:buSzPts val="1200"/>
              <a:buFont typeface="Calibri"/>
              <a:buAutoNum type="alphaUcPeriod"/>
            </a:pPr>
            <a:r>
              <a:rPr lang="en-US"/>
              <a:t>Amazon Inspector</a:t>
            </a:r>
            <a:endParaRPr/>
          </a:p>
          <a:p>
            <a:pPr indent="-228600" lvl="0" marL="228600" rtl="0" algn="l">
              <a:spcBef>
                <a:spcPts val="0"/>
              </a:spcBef>
              <a:spcAft>
                <a:spcPts val="0"/>
              </a:spcAft>
              <a:buClr>
                <a:schemeClr val="dk1"/>
              </a:buClr>
              <a:buSzPts val="1200"/>
              <a:buFont typeface="Calibri"/>
              <a:buAutoNum type="alphaUcPeriod"/>
            </a:pPr>
            <a:r>
              <a:rPr lang="en-US"/>
              <a:t>AWS Artifact</a:t>
            </a:r>
            <a:endParaRPr/>
          </a:p>
          <a:p>
            <a:pPr indent="-228600" lvl="0" marL="228600" rtl="0" algn="l">
              <a:spcBef>
                <a:spcPts val="0"/>
              </a:spcBef>
              <a:spcAft>
                <a:spcPts val="0"/>
              </a:spcAft>
              <a:buClr>
                <a:schemeClr val="dk1"/>
              </a:buClr>
              <a:buSzPts val="1200"/>
              <a:buFont typeface="Calibri"/>
              <a:buAutoNum type="alphaUcPeriod"/>
            </a:pPr>
            <a:r>
              <a:rPr lang="en-US"/>
              <a:t>AWS Shield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correct response option is </a:t>
            </a:r>
            <a:r>
              <a:rPr b="1" i="0" lang="en-US" sz="1200">
                <a:solidFill>
                  <a:schemeClr val="dk1"/>
                </a:solidFill>
                <a:latin typeface="Calibri"/>
                <a:ea typeface="Calibri"/>
                <a:cs typeface="Calibri"/>
                <a:sym typeface="Calibri"/>
              </a:rPr>
              <a:t>D. AWS Shield.</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As network traffic comes into your applications, AWS Shield uses a variety of analysis techniques to detect potential DDoS attacks in real time and automatically mitigates them.</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 Amazon GuardDuty is a service that provides intelligent threat detection for your AWS infrastructure and resources. It identifies threats by continuously monitoring the network activity and account behavior within your AWS environment.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 – Amazon Inspector checks applications for security vulnerabilities and deviations from security best practices, such as open access to Amazon EC2 instances and installations of vulnerable software versions.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C – AWS Artifact is a service that provides on-demand access to AWS security and compliance reports and select online agreements.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Which task can AWS Key Management Service (AWS KMS) perform?</a:t>
            </a:r>
            <a:endParaRPr/>
          </a:p>
          <a:p>
            <a:pPr indent="0" lvl="0" marL="0" rtl="0" algn="l">
              <a:lnSpc>
                <a:spcPct val="100000"/>
              </a:lnSpc>
              <a:spcBef>
                <a:spcPts val="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lphaUcPeriod"/>
            </a:pPr>
            <a:r>
              <a:rPr lang="en-US"/>
              <a:t>Configure multi-factor authentication (MFA).</a:t>
            </a:r>
            <a:endParaRPr/>
          </a:p>
          <a:p>
            <a:pPr indent="-228600" lvl="0" marL="228600" rtl="0" algn="l">
              <a:spcBef>
                <a:spcPts val="0"/>
              </a:spcBef>
              <a:spcAft>
                <a:spcPts val="0"/>
              </a:spcAft>
              <a:buClr>
                <a:schemeClr val="dk1"/>
              </a:buClr>
              <a:buSzPts val="1200"/>
              <a:buFont typeface="Calibri"/>
              <a:buAutoNum type="alphaUcPeriod"/>
            </a:pPr>
            <a:r>
              <a:rPr lang="en-US"/>
              <a:t>Update the AWS account root user password.</a:t>
            </a:r>
            <a:endParaRPr/>
          </a:p>
          <a:p>
            <a:pPr indent="-228600" lvl="0" marL="228600" rtl="0" algn="l">
              <a:spcBef>
                <a:spcPts val="0"/>
              </a:spcBef>
              <a:spcAft>
                <a:spcPts val="0"/>
              </a:spcAft>
              <a:buClr>
                <a:schemeClr val="dk1"/>
              </a:buClr>
              <a:buSzPts val="1200"/>
              <a:buFont typeface="Calibri"/>
              <a:buAutoNum type="alphaUcPeriod"/>
            </a:pPr>
            <a:r>
              <a:rPr lang="en-US"/>
              <a:t>Create cryptographic keys.</a:t>
            </a:r>
            <a:endParaRPr/>
          </a:p>
          <a:p>
            <a:pPr indent="-228600" lvl="0" marL="228600" rtl="0" algn="l">
              <a:spcBef>
                <a:spcPts val="0"/>
              </a:spcBef>
              <a:spcAft>
                <a:spcPts val="0"/>
              </a:spcAft>
              <a:buClr>
                <a:schemeClr val="dk1"/>
              </a:buClr>
              <a:buSzPts val="1200"/>
              <a:buFont typeface="Calibri"/>
              <a:buAutoNum type="alphaUcPeriod"/>
            </a:pPr>
            <a:r>
              <a:rPr lang="en-US"/>
              <a:t>Assign permissions to users and groups.</a:t>
            </a:r>
            <a:endParaRPr/>
          </a:p>
          <a:p>
            <a:pPr indent="-152400" lvl="0" marL="228600" rtl="0" algn="l">
              <a:spcBef>
                <a:spcPts val="0"/>
              </a:spcBef>
              <a:spcAft>
                <a:spcPts val="0"/>
              </a:spcAft>
              <a:buClr>
                <a:schemeClr val="dk1"/>
              </a:buClr>
              <a:buSzPts val="1200"/>
              <a:buFont typeface="Calibri"/>
              <a:buNone/>
            </a:pPr>
            <a:r>
              <a:t/>
            </a:r>
            <a:endParaRPr/>
          </a:p>
          <a:p>
            <a:pPr indent="-152400" lvl="0" marL="22860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3" name="Google Shape;85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correct response option is</a:t>
            </a:r>
            <a:r>
              <a:rPr b="1" i="0" lang="en-US" sz="1200">
                <a:solidFill>
                  <a:schemeClr val="dk1"/>
                </a:solidFill>
                <a:latin typeface="Calibri"/>
                <a:ea typeface="Calibri"/>
                <a:cs typeface="Calibri"/>
                <a:sym typeface="Calibri"/>
              </a:rPr>
              <a:t> C. Create cryptographic keys</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KMS allows you to perform encryption operations through the use of cryptographic keys. A cryptographic key is a random string of digits used for locking (encrypting) and unlocking (decrypting) data. You can use AWS KMS to create, manage, and use cryptographic keys. You can also control the use of keys across a wide range of services and in your applications.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 You can configure multi-factor authentication (MFA) in </a:t>
            </a:r>
            <a:r>
              <a:rPr b="0" i="1" lang="en-US" sz="1200">
                <a:solidFill>
                  <a:schemeClr val="dk1"/>
                </a:solidFill>
                <a:latin typeface="Calibri"/>
                <a:ea typeface="Calibri"/>
                <a:cs typeface="Calibri"/>
                <a:sym typeface="Calibri"/>
              </a:rPr>
              <a:t>AWS Identity and Access Management (IAM)</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 – You can update the AWS account root user password in </a:t>
            </a:r>
            <a:r>
              <a:rPr b="0" i="1" lang="en-US" sz="1200">
                <a:solidFill>
                  <a:schemeClr val="dk1"/>
                </a:solidFill>
                <a:latin typeface="Calibri"/>
                <a:ea typeface="Calibri"/>
                <a:cs typeface="Calibri"/>
                <a:sym typeface="Calibri"/>
              </a:rPr>
              <a:t>the AWS Management Console.</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D – You can assign permissions to users and groups in </a:t>
            </a:r>
            <a:r>
              <a:rPr b="0" i="1" lang="en-US" sz="1200">
                <a:solidFill>
                  <a:schemeClr val="dk1"/>
                </a:solidFill>
                <a:latin typeface="Calibri"/>
                <a:ea typeface="Calibri"/>
                <a:cs typeface="Calibri"/>
                <a:sym typeface="Calibri"/>
              </a:rPr>
              <a:t>AWS Identity and Access Management (IAM)</a:t>
            </a:r>
            <a:r>
              <a:rPr b="0" i="0"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 this module, you learned about the AWS responsibility model, which consists of customers’ responsibilities (“security </a:t>
            </a:r>
            <a:r>
              <a:rPr b="1" i="1" lang="en-US" sz="1200">
                <a:solidFill>
                  <a:schemeClr val="dk1"/>
                </a:solidFill>
                <a:latin typeface="Calibri"/>
                <a:ea typeface="Calibri"/>
                <a:cs typeface="Calibri"/>
                <a:sym typeface="Calibri"/>
              </a:rPr>
              <a:t>in</a:t>
            </a:r>
            <a:r>
              <a:rPr lang="en-US" sz="1200">
                <a:solidFill>
                  <a:schemeClr val="dk1"/>
                </a:solidFill>
                <a:latin typeface="Calibri"/>
                <a:ea typeface="Calibri"/>
                <a:cs typeface="Calibri"/>
                <a:sym typeface="Calibri"/>
              </a:rPr>
              <a:t> the cloud”) and AWS responsibilities (”security </a:t>
            </a:r>
            <a:r>
              <a:rPr b="1" i="1" lang="en-US" sz="1200">
                <a:solidFill>
                  <a:schemeClr val="dk1"/>
                </a:solidFill>
                <a:latin typeface="Calibri"/>
                <a:ea typeface="Calibri"/>
                <a:cs typeface="Calibri"/>
                <a:sym typeface="Calibri"/>
              </a:rPr>
              <a:t>of</a:t>
            </a:r>
            <a:r>
              <a:rPr lang="en-US" sz="1200">
                <a:solidFill>
                  <a:schemeClr val="dk1"/>
                </a:solidFill>
                <a:latin typeface="Calibri"/>
                <a:ea typeface="Calibri"/>
                <a:cs typeface="Calibri"/>
                <a:sym typeface="Calibri"/>
              </a:rPr>
              <a:t> the cloud”).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You learned about features of AWS Identity and Access Management, including: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AWS account root user</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IAM users</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IAM policies</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IAM groups</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IAM roles</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Multi-factor authentication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the section on AWS Organizations, you learned how to use organizational units and SCPs to centrally manage multiple AWS accounts.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You also explored several AWS services for application security and encryption: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AWS Web Application Firewall</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AWS Shield</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Amazon GuardDuty</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Amazon Inspector</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AWS Key Management Services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Finally, you learned about AWS compliance resources: AWS Artifact and the Customer Compliance Center.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next module explores AWS services for monitoring and analytics.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4.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id="15" name="Google Shape;15;p51"/>
          <p:cNvPicPr preferRelativeResize="0"/>
          <p:nvPr/>
        </p:nvPicPr>
        <p:blipFill rotWithShape="1">
          <a:blip r:embed="rId2">
            <a:alphaModFix/>
          </a:blip>
          <a:srcRect b="0" l="0" r="0" t="0"/>
          <a:stretch/>
        </p:blipFill>
        <p:spPr>
          <a:xfrm>
            <a:off x="-81023" y="-47919"/>
            <a:ext cx="12361762" cy="6958182"/>
          </a:xfrm>
          <a:prstGeom prst="rect">
            <a:avLst/>
          </a:prstGeom>
          <a:noFill/>
          <a:ln>
            <a:noFill/>
          </a:ln>
        </p:spPr>
      </p:pic>
      <p:sp>
        <p:nvSpPr>
          <p:cNvPr id="16" name="Google Shape;16;p51"/>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1"/>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b="0" sz="2000">
                <a:solidFill>
                  <a:schemeClr val="lt1"/>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 name="Google Shape;18;p51"/>
          <p:cNvPicPr preferRelativeResize="0"/>
          <p:nvPr/>
        </p:nvPicPr>
        <p:blipFill rotWithShape="1">
          <a:blip r:embed="rId3">
            <a:alphaModFix/>
          </a:blip>
          <a:srcRect b="0" l="0" r="0" t="0"/>
          <a:stretch/>
        </p:blipFill>
        <p:spPr>
          <a:xfrm>
            <a:off x="9861952" y="6089839"/>
            <a:ext cx="1910948" cy="449073"/>
          </a:xfrm>
          <a:prstGeom prst="rect">
            <a:avLst/>
          </a:prstGeom>
          <a:noFill/>
          <a:ln>
            <a:noFill/>
          </a:ln>
        </p:spPr>
      </p:pic>
    </p:spTree>
  </p:cSld>
  <p:clrMapOvr>
    <a:masterClrMapping/>
  </p:clrMapOvr>
  <p:extLst>
    <p:ext uri="{DCECCB84-F9BA-43D5-87BE-67443E8EF086}">
      <p15:sldGuideLst>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ype="obj">
  <p:cSld name="OBJECT">
    <p:spTree>
      <p:nvGrpSpPr>
        <p:cNvPr id="19" name="Shape 19"/>
        <p:cNvGrpSpPr/>
        <p:nvPr/>
      </p:nvGrpSpPr>
      <p:grpSpPr>
        <a:xfrm>
          <a:off x="0" y="0"/>
          <a:ext cx="0" cy="0"/>
          <a:chOff x="0" y="0"/>
          <a:chExt cx="0" cy="0"/>
        </a:xfrm>
      </p:grpSpPr>
      <p:pic>
        <p:nvPicPr>
          <p:cNvPr id="20" name="Google Shape;20;p52"/>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1" name="Google Shape;21;p5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2"/>
          <p:cNvSpPr txBox="1"/>
          <p:nvPr>
            <p:ph idx="1" type="body"/>
          </p:nvPr>
        </p:nvSpPr>
        <p:spPr>
          <a:xfrm>
            <a:off x="419100" y="1528175"/>
            <a:ext cx="11353800"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3" name="Google Shape;23;p52"/>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4" name="Google Shape;24;p52"/>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 name="Google Shape;25;p5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 name="Shape 26"/>
        <p:cNvGrpSpPr/>
        <p:nvPr/>
      </p:nvGrpSpPr>
      <p:grpSpPr>
        <a:xfrm>
          <a:off x="0" y="0"/>
          <a:ext cx="0" cy="0"/>
          <a:chOff x="0" y="0"/>
          <a:chExt cx="0" cy="0"/>
        </a:xfrm>
      </p:grpSpPr>
      <p:sp>
        <p:nvSpPr>
          <p:cNvPr id="27" name="Google Shape;27;p53"/>
          <p:cNvSpPr/>
          <p:nvPr/>
        </p:nvSpPr>
        <p:spPr>
          <a:xfrm>
            <a:off x="0" y="0"/>
            <a:ext cx="12192000" cy="6858000"/>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 name="Google Shape;28;p53"/>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3"/>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5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1" name="Google Shape;31;p53"/>
          <p:cNvPicPr preferRelativeResize="0"/>
          <p:nvPr/>
        </p:nvPicPr>
        <p:blipFill rotWithShape="1">
          <a:blip r:embed="rId2">
            <a:alphaModFix/>
          </a:blip>
          <a:srcRect b="0" l="0" r="0" t="0"/>
          <a:stretch/>
        </p:blipFill>
        <p:spPr>
          <a:xfrm>
            <a:off x="9861952" y="6089839"/>
            <a:ext cx="1910948" cy="44907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pic>
        <p:nvPicPr>
          <p:cNvPr id="33" name="Google Shape;33;p54"/>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34" name="Google Shape;34;p5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5" name="Google Shape;35;p54"/>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36" name="Google Shape;36;p54"/>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5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 by Side">
  <p:cSld name="Side by Side">
    <p:spTree>
      <p:nvGrpSpPr>
        <p:cNvPr id="38" name="Shape 38"/>
        <p:cNvGrpSpPr/>
        <p:nvPr/>
      </p:nvGrpSpPr>
      <p:grpSpPr>
        <a:xfrm>
          <a:off x="0" y="0"/>
          <a:ext cx="0" cy="0"/>
          <a:chOff x="0" y="0"/>
          <a:chExt cx="0" cy="0"/>
        </a:xfrm>
      </p:grpSpPr>
      <p:sp>
        <p:nvSpPr>
          <p:cNvPr id="39" name="Google Shape;39;p55"/>
          <p:cNvSpPr/>
          <p:nvPr/>
        </p:nvSpPr>
        <p:spPr>
          <a:xfrm>
            <a:off x="-2" y="0"/>
            <a:ext cx="5125762" cy="6875492"/>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A circuit board&#10;&#10;Description automatically generated" id="40" name="Google Shape;40;p55"/>
          <p:cNvPicPr preferRelativeResize="0"/>
          <p:nvPr/>
        </p:nvPicPr>
        <p:blipFill rotWithShape="1">
          <a:blip r:embed="rId2">
            <a:alphaModFix/>
          </a:blip>
          <a:srcRect b="21596" l="39690" r="5227" t="3208"/>
          <a:stretch/>
        </p:blipFill>
        <p:spPr>
          <a:xfrm>
            <a:off x="588712" y="3159360"/>
            <a:ext cx="4537048" cy="3716132"/>
          </a:xfrm>
          <a:prstGeom prst="rect">
            <a:avLst/>
          </a:prstGeom>
          <a:noFill/>
          <a:ln>
            <a:noFill/>
          </a:ln>
        </p:spPr>
      </p:pic>
      <p:sp>
        <p:nvSpPr>
          <p:cNvPr id="41" name="Google Shape;41;p55"/>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5"/>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5"/>
          <p:cNvSpPr txBox="1"/>
          <p:nvPr>
            <p:ph idx="12" type="sldNum"/>
          </p:nvPr>
        </p:nvSpPr>
        <p:spPr>
          <a:xfrm>
            <a:off x="423657"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a:solidFill>
                  <a:schemeClr val="lt1"/>
                </a:solidFill>
                <a:latin typeface="Arial"/>
                <a:ea typeface="Arial"/>
                <a:cs typeface="Arial"/>
                <a:sym typeface="Arial"/>
              </a:defRPr>
            </a:lvl1pPr>
            <a:lvl2pPr indent="0" lvl="1" marL="0" algn="l">
              <a:spcBef>
                <a:spcPts val="0"/>
              </a:spcBef>
              <a:buNone/>
              <a:defRPr b="0" i="0" sz="900">
                <a:solidFill>
                  <a:schemeClr val="lt1"/>
                </a:solidFill>
                <a:latin typeface="Arial"/>
                <a:ea typeface="Arial"/>
                <a:cs typeface="Arial"/>
                <a:sym typeface="Arial"/>
              </a:defRPr>
            </a:lvl2pPr>
            <a:lvl3pPr indent="0" lvl="2" marL="0" algn="l">
              <a:spcBef>
                <a:spcPts val="0"/>
              </a:spcBef>
              <a:buNone/>
              <a:defRPr b="0" i="0" sz="900">
                <a:solidFill>
                  <a:schemeClr val="lt1"/>
                </a:solidFill>
                <a:latin typeface="Arial"/>
                <a:ea typeface="Arial"/>
                <a:cs typeface="Arial"/>
                <a:sym typeface="Arial"/>
              </a:defRPr>
            </a:lvl3pPr>
            <a:lvl4pPr indent="0" lvl="3" marL="0" algn="l">
              <a:spcBef>
                <a:spcPts val="0"/>
              </a:spcBef>
              <a:buNone/>
              <a:defRPr b="0" i="0" sz="900">
                <a:solidFill>
                  <a:schemeClr val="lt1"/>
                </a:solidFill>
                <a:latin typeface="Arial"/>
                <a:ea typeface="Arial"/>
                <a:cs typeface="Arial"/>
                <a:sym typeface="Arial"/>
              </a:defRPr>
            </a:lvl4pPr>
            <a:lvl5pPr indent="0" lvl="4" marL="0" algn="l">
              <a:spcBef>
                <a:spcPts val="0"/>
              </a:spcBef>
              <a:buNone/>
              <a:defRPr b="0" i="0" sz="900">
                <a:solidFill>
                  <a:schemeClr val="lt1"/>
                </a:solidFill>
                <a:latin typeface="Arial"/>
                <a:ea typeface="Arial"/>
                <a:cs typeface="Arial"/>
                <a:sym typeface="Arial"/>
              </a:defRPr>
            </a:lvl5pPr>
            <a:lvl6pPr indent="0" lvl="5" marL="0" algn="l">
              <a:spcBef>
                <a:spcPts val="0"/>
              </a:spcBef>
              <a:buNone/>
              <a:defRPr b="0" i="0" sz="900">
                <a:solidFill>
                  <a:schemeClr val="lt1"/>
                </a:solidFill>
                <a:latin typeface="Arial"/>
                <a:ea typeface="Arial"/>
                <a:cs typeface="Arial"/>
                <a:sym typeface="Arial"/>
              </a:defRPr>
            </a:lvl6pPr>
            <a:lvl7pPr indent="0" lvl="6" marL="0" algn="l">
              <a:spcBef>
                <a:spcPts val="0"/>
              </a:spcBef>
              <a:buNone/>
              <a:defRPr b="0" i="0" sz="900">
                <a:solidFill>
                  <a:schemeClr val="lt1"/>
                </a:solidFill>
                <a:latin typeface="Arial"/>
                <a:ea typeface="Arial"/>
                <a:cs typeface="Arial"/>
                <a:sym typeface="Arial"/>
              </a:defRPr>
            </a:lvl7pPr>
            <a:lvl8pPr indent="0" lvl="7" marL="0" algn="l">
              <a:spcBef>
                <a:spcPts val="0"/>
              </a:spcBef>
              <a:buNone/>
              <a:defRPr b="0" i="0" sz="900">
                <a:solidFill>
                  <a:schemeClr val="lt1"/>
                </a:solidFill>
                <a:latin typeface="Arial"/>
                <a:ea typeface="Arial"/>
                <a:cs typeface="Arial"/>
                <a:sym typeface="Arial"/>
              </a:defRPr>
            </a:lvl8pPr>
            <a:lvl9pPr indent="0" lvl="8" marL="0" algn="l">
              <a:spcBef>
                <a:spcPts val="0"/>
              </a:spcBef>
              <a:buNone/>
              <a:defRPr b="0" i="0" sz="900">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44" name="Google Shape;44;p55"/>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5" name="Google Shape;45;p55"/>
          <p:cNvPicPr preferRelativeResize="0"/>
          <p:nvPr/>
        </p:nvPicPr>
        <p:blipFill rotWithShape="1">
          <a:blip r:embed="rId3">
            <a:alphaModFix/>
          </a:blip>
          <a:srcRect b="0" l="0" r="0" t="0"/>
          <a:stretch/>
        </p:blipFill>
        <p:spPr>
          <a:xfrm>
            <a:off x="9840052" y="365126"/>
            <a:ext cx="1910948" cy="44907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Header">
  <p:cSld name="Subsection Header">
    <p:spTree>
      <p:nvGrpSpPr>
        <p:cNvPr id="46" name="Shape 46"/>
        <p:cNvGrpSpPr/>
        <p:nvPr/>
      </p:nvGrpSpPr>
      <p:grpSpPr>
        <a:xfrm>
          <a:off x="0" y="0"/>
          <a:ext cx="0" cy="0"/>
          <a:chOff x="0" y="0"/>
          <a:chExt cx="0" cy="0"/>
        </a:xfrm>
      </p:grpSpPr>
      <p:pic>
        <p:nvPicPr>
          <p:cNvPr id="47" name="Google Shape;47;p56"/>
          <p:cNvPicPr preferRelativeResize="0"/>
          <p:nvPr/>
        </p:nvPicPr>
        <p:blipFill rotWithShape="1">
          <a:blip r:embed="rId2">
            <a:alphaModFix/>
          </a:blip>
          <a:srcRect b="0" l="0" r="0" t="0"/>
          <a:stretch/>
        </p:blipFill>
        <p:spPr>
          <a:xfrm>
            <a:off x="9840052" y="365126"/>
            <a:ext cx="1910948" cy="449072"/>
          </a:xfrm>
          <a:prstGeom prst="rect">
            <a:avLst/>
          </a:prstGeom>
          <a:noFill/>
          <a:ln>
            <a:noFill/>
          </a:ln>
        </p:spPr>
      </p:pic>
      <p:sp>
        <p:nvSpPr>
          <p:cNvPr id="48" name="Google Shape;48;p56"/>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56"/>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0" name="Google Shape;50;p56"/>
          <p:cNvPicPr preferRelativeResize="0"/>
          <p:nvPr/>
        </p:nvPicPr>
        <p:blipFill rotWithShape="1">
          <a:blip r:embed="rId3">
            <a:alphaModFix/>
          </a:blip>
          <a:srcRect b="3809" l="75552" r="3438" t="60520"/>
          <a:stretch/>
        </p:blipFill>
        <p:spPr>
          <a:xfrm rot="10800000">
            <a:off x="-1" y="-2"/>
            <a:ext cx="2268187" cy="2166103"/>
          </a:xfrm>
          <a:prstGeom prst="rect">
            <a:avLst/>
          </a:prstGeom>
          <a:noFill/>
          <a:ln>
            <a:noFill/>
          </a:ln>
        </p:spPr>
      </p:pic>
      <p:sp>
        <p:nvSpPr>
          <p:cNvPr id="51" name="Google Shape;51;p5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52" name="Shape 52"/>
        <p:cNvGrpSpPr/>
        <p:nvPr/>
      </p:nvGrpSpPr>
      <p:grpSpPr>
        <a:xfrm>
          <a:off x="0" y="0"/>
          <a:ext cx="0" cy="0"/>
          <a:chOff x="0" y="0"/>
          <a:chExt cx="0" cy="0"/>
        </a:xfrm>
      </p:grpSpPr>
      <p:pic>
        <p:nvPicPr>
          <p:cNvPr id="53" name="Google Shape;53;p57"/>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54" name="Google Shape;54;p5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7"/>
          <p:cNvSpPr txBox="1"/>
          <p:nvPr>
            <p:ph idx="1" type="body"/>
          </p:nvPr>
        </p:nvSpPr>
        <p:spPr>
          <a:xfrm>
            <a:off x="419100" y="1528175"/>
            <a:ext cx="5504688"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7"/>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57"/>
          <p:cNvSpPr txBox="1"/>
          <p:nvPr>
            <p:ph idx="2" type="body"/>
          </p:nvPr>
        </p:nvSpPr>
        <p:spPr>
          <a:xfrm>
            <a:off x="6246312" y="1524228"/>
            <a:ext cx="5504688"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8" name="Google Shape;58;p57"/>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59" name="Google Shape;59;p5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60" name="Shape 60"/>
        <p:cNvGrpSpPr/>
        <p:nvPr/>
      </p:nvGrpSpPr>
      <p:grpSpPr>
        <a:xfrm>
          <a:off x="0" y="0"/>
          <a:ext cx="0" cy="0"/>
          <a:chOff x="0" y="0"/>
          <a:chExt cx="0" cy="0"/>
        </a:xfrm>
      </p:grpSpPr>
      <p:pic>
        <p:nvPicPr>
          <p:cNvPr id="61" name="Google Shape;61;p58"/>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62" name="Google Shape;62;p58"/>
          <p:cNvSpPr txBox="1"/>
          <p:nvPr>
            <p:ph type="title"/>
          </p:nvPr>
        </p:nvSpPr>
        <p:spPr>
          <a:xfrm>
            <a:off x="419101" y="365125"/>
            <a:ext cx="9037416"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8"/>
          <p:cNvSpPr txBox="1"/>
          <p:nvPr>
            <p:ph idx="1" type="body"/>
          </p:nvPr>
        </p:nvSpPr>
        <p:spPr>
          <a:xfrm>
            <a:off x="419100"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58"/>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58"/>
          <p:cNvSpPr txBox="1"/>
          <p:nvPr>
            <p:ph idx="2" type="body"/>
          </p:nvPr>
        </p:nvSpPr>
        <p:spPr>
          <a:xfrm>
            <a:off x="8173686"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58"/>
          <p:cNvSpPr txBox="1"/>
          <p:nvPr>
            <p:ph idx="3" type="body"/>
          </p:nvPr>
        </p:nvSpPr>
        <p:spPr>
          <a:xfrm>
            <a:off x="4314209"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7" name="Google Shape;67;p58"/>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68" name="Google Shape;68;p5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9" name="Shape 69"/>
        <p:cNvGrpSpPr/>
        <p:nvPr/>
      </p:nvGrpSpPr>
      <p:grpSpPr>
        <a:xfrm>
          <a:off x="0" y="0"/>
          <a:ext cx="0" cy="0"/>
          <a:chOff x="0" y="0"/>
          <a:chExt cx="0" cy="0"/>
        </a:xfrm>
      </p:grpSpPr>
      <p:pic>
        <p:nvPicPr>
          <p:cNvPr id="70" name="Google Shape;70;p59"/>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71" name="Google Shape;71;p5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59"/>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59"/>
          <p:cNvSpPr txBox="1"/>
          <p:nvPr>
            <p:ph idx="1" type="body"/>
          </p:nvPr>
        </p:nvSpPr>
        <p:spPr>
          <a:xfrm>
            <a:off x="419100" y="2041932"/>
            <a:ext cx="5504688"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59"/>
          <p:cNvSpPr txBox="1"/>
          <p:nvPr>
            <p:ph idx="2" type="body"/>
          </p:nvPr>
        </p:nvSpPr>
        <p:spPr>
          <a:xfrm>
            <a:off x="419101" y="1524000"/>
            <a:ext cx="5504688"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9"/>
          <p:cNvSpPr txBox="1"/>
          <p:nvPr>
            <p:ph idx="3" type="body"/>
          </p:nvPr>
        </p:nvSpPr>
        <p:spPr>
          <a:xfrm>
            <a:off x="6249885" y="2041932"/>
            <a:ext cx="5504688"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59"/>
          <p:cNvSpPr txBox="1"/>
          <p:nvPr>
            <p:ph idx="4" type="body"/>
          </p:nvPr>
        </p:nvSpPr>
        <p:spPr>
          <a:xfrm>
            <a:off x="6249886" y="1524000"/>
            <a:ext cx="5504688"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7" name="Google Shape;77;p59"/>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78" name="Google Shape;78;p5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hree">
  <p:cSld name="Comparison Three">
    <p:spTree>
      <p:nvGrpSpPr>
        <p:cNvPr id="79" name="Shape 79"/>
        <p:cNvGrpSpPr/>
        <p:nvPr/>
      </p:nvGrpSpPr>
      <p:grpSpPr>
        <a:xfrm>
          <a:off x="0" y="0"/>
          <a:ext cx="0" cy="0"/>
          <a:chOff x="0" y="0"/>
          <a:chExt cx="0" cy="0"/>
        </a:xfrm>
      </p:grpSpPr>
      <p:pic>
        <p:nvPicPr>
          <p:cNvPr id="80" name="Google Shape;80;p60"/>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81" name="Google Shape;81;p60"/>
          <p:cNvSpPr txBox="1"/>
          <p:nvPr>
            <p:ph type="title"/>
          </p:nvPr>
        </p:nvSpPr>
        <p:spPr>
          <a:xfrm>
            <a:off x="419101" y="365125"/>
            <a:ext cx="9037416"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60"/>
          <p:cNvSpPr txBox="1"/>
          <p:nvPr>
            <p:ph idx="1" type="body"/>
          </p:nvPr>
        </p:nvSpPr>
        <p:spPr>
          <a:xfrm>
            <a:off x="419100" y="2041931"/>
            <a:ext cx="3593592" cy="413139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60"/>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4" name="Google Shape;84;p60"/>
          <p:cNvSpPr txBox="1"/>
          <p:nvPr>
            <p:ph idx="2" type="body"/>
          </p:nvPr>
        </p:nvSpPr>
        <p:spPr>
          <a:xfrm>
            <a:off x="8173686" y="2041932"/>
            <a:ext cx="3593592" cy="413139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60"/>
          <p:cNvSpPr txBox="1"/>
          <p:nvPr>
            <p:ph idx="3" type="body"/>
          </p:nvPr>
        </p:nvSpPr>
        <p:spPr>
          <a:xfrm>
            <a:off x="4314209" y="2041931"/>
            <a:ext cx="3593592" cy="413139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6" name="Google Shape;86;p60"/>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87" name="Google Shape;87;p6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0"/>
          <p:cNvSpPr txBox="1"/>
          <p:nvPr>
            <p:ph idx="4" type="body"/>
          </p:nvPr>
        </p:nvSpPr>
        <p:spPr>
          <a:xfrm>
            <a:off x="419101"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60"/>
          <p:cNvSpPr txBox="1"/>
          <p:nvPr>
            <p:ph idx="5" type="body"/>
          </p:nvPr>
        </p:nvSpPr>
        <p:spPr>
          <a:xfrm>
            <a:off x="4314210"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60"/>
          <p:cNvSpPr txBox="1"/>
          <p:nvPr>
            <p:ph idx="6" type="body"/>
          </p:nvPr>
        </p:nvSpPr>
        <p:spPr>
          <a:xfrm>
            <a:off x="8173686"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Subtitle">
    <p:spTree>
      <p:nvGrpSpPr>
        <p:cNvPr id="91" name="Shape 91"/>
        <p:cNvGrpSpPr/>
        <p:nvPr/>
      </p:nvGrpSpPr>
      <p:grpSpPr>
        <a:xfrm>
          <a:off x="0" y="0"/>
          <a:ext cx="0" cy="0"/>
          <a:chOff x="0" y="0"/>
          <a:chExt cx="0" cy="0"/>
        </a:xfrm>
      </p:grpSpPr>
      <p:pic>
        <p:nvPicPr>
          <p:cNvPr id="92" name="Google Shape;92;p61"/>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93" name="Google Shape;93;p61"/>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61"/>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61"/>
          <p:cNvSpPr txBox="1"/>
          <p:nvPr>
            <p:ph idx="1" type="body"/>
          </p:nvPr>
        </p:nvSpPr>
        <p:spPr>
          <a:xfrm>
            <a:off x="419099" y="2041932"/>
            <a:ext cx="11335473"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61"/>
          <p:cNvSpPr txBox="1"/>
          <p:nvPr>
            <p:ph idx="2" type="body"/>
          </p:nvPr>
        </p:nvSpPr>
        <p:spPr>
          <a:xfrm>
            <a:off x="419100" y="1524000"/>
            <a:ext cx="11335473"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97" name="Google Shape;97;p61"/>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98" name="Google Shape;98;p6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p:cSld name="Code">
    <p:spTree>
      <p:nvGrpSpPr>
        <p:cNvPr id="99" name="Shape 99"/>
        <p:cNvGrpSpPr/>
        <p:nvPr/>
      </p:nvGrpSpPr>
      <p:grpSpPr>
        <a:xfrm>
          <a:off x="0" y="0"/>
          <a:ext cx="0" cy="0"/>
          <a:chOff x="0" y="0"/>
          <a:chExt cx="0" cy="0"/>
        </a:xfrm>
      </p:grpSpPr>
      <p:pic>
        <p:nvPicPr>
          <p:cNvPr id="100" name="Google Shape;100;p62"/>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01" name="Google Shape;101;p6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62"/>
          <p:cNvSpPr txBox="1"/>
          <p:nvPr>
            <p:ph idx="1" type="body"/>
          </p:nvPr>
        </p:nvSpPr>
        <p:spPr>
          <a:xfrm>
            <a:off x="419100" y="1528175"/>
            <a:ext cx="11353800"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62"/>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4" name="Google Shape;104;p62"/>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05" name="Google Shape;105;p6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2 Up">
  <p:cSld name="Code 2 Up">
    <p:spTree>
      <p:nvGrpSpPr>
        <p:cNvPr id="106" name="Shape 106"/>
        <p:cNvGrpSpPr/>
        <p:nvPr/>
      </p:nvGrpSpPr>
      <p:grpSpPr>
        <a:xfrm>
          <a:off x="0" y="0"/>
          <a:ext cx="0" cy="0"/>
          <a:chOff x="0" y="0"/>
          <a:chExt cx="0" cy="0"/>
        </a:xfrm>
      </p:grpSpPr>
      <p:pic>
        <p:nvPicPr>
          <p:cNvPr id="107" name="Google Shape;107;p63"/>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08" name="Google Shape;108;p63"/>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63"/>
          <p:cNvSpPr txBox="1"/>
          <p:nvPr>
            <p:ph idx="1" type="body"/>
          </p:nvPr>
        </p:nvSpPr>
        <p:spPr>
          <a:xfrm>
            <a:off x="419100" y="1528175"/>
            <a:ext cx="5504688"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63"/>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63"/>
          <p:cNvSpPr txBox="1"/>
          <p:nvPr>
            <p:ph idx="2" type="body"/>
          </p:nvPr>
        </p:nvSpPr>
        <p:spPr>
          <a:xfrm>
            <a:off x="6246312" y="1524228"/>
            <a:ext cx="5504688"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2" name="Google Shape;112;p63"/>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13" name="Google Shape;113;p6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
  <p:cSld name="4 Picture">
    <p:spTree>
      <p:nvGrpSpPr>
        <p:cNvPr id="114" name="Shape 114"/>
        <p:cNvGrpSpPr/>
        <p:nvPr/>
      </p:nvGrpSpPr>
      <p:grpSpPr>
        <a:xfrm>
          <a:off x="0" y="0"/>
          <a:ext cx="0" cy="0"/>
          <a:chOff x="0" y="0"/>
          <a:chExt cx="0" cy="0"/>
        </a:xfrm>
      </p:grpSpPr>
      <p:pic>
        <p:nvPicPr>
          <p:cNvPr id="115" name="Google Shape;115;p64"/>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16" name="Google Shape;116;p6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64"/>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64"/>
          <p:cNvSpPr txBox="1"/>
          <p:nvPr>
            <p:ph idx="1" type="body"/>
          </p:nvPr>
        </p:nvSpPr>
        <p:spPr>
          <a:xfrm>
            <a:off x="411876"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64"/>
          <p:cNvSpPr/>
          <p:nvPr>
            <p:ph idx="2" type="pic"/>
          </p:nvPr>
        </p:nvSpPr>
        <p:spPr>
          <a:xfrm>
            <a:off x="419100" y="1524000"/>
            <a:ext cx="2679192" cy="2103120"/>
          </a:xfrm>
          <a:prstGeom prst="rect">
            <a:avLst/>
          </a:prstGeom>
          <a:noFill/>
          <a:ln>
            <a:noFill/>
          </a:ln>
        </p:spPr>
      </p:sp>
      <p:sp>
        <p:nvSpPr>
          <p:cNvPr id="120" name="Google Shape;120;p64"/>
          <p:cNvSpPr txBox="1"/>
          <p:nvPr>
            <p:ph idx="3" type="body"/>
          </p:nvPr>
        </p:nvSpPr>
        <p:spPr>
          <a:xfrm>
            <a:off x="9086484"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64"/>
          <p:cNvSpPr/>
          <p:nvPr>
            <p:ph idx="4" type="pic"/>
          </p:nvPr>
        </p:nvSpPr>
        <p:spPr>
          <a:xfrm>
            <a:off x="9093708" y="1524000"/>
            <a:ext cx="2679192" cy="2103120"/>
          </a:xfrm>
          <a:prstGeom prst="rect">
            <a:avLst/>
          </a:prstGeom>
          <a:noFill/>
          <a:ln>
            <a:noFill/>
          </a:ln>
        </p:spPr>
      </p:sp>
      <p:sp>
        <p:nvSpPr>
          <p:cNvPr id="122" name="Google Shape;122;p64"/>
          <p:cNvSpPr txBox="1"/>
          <p:nvPr>
            <p:ph idx="5" type="body"/>
          </p:nvPr>
        </p:nvSpPr>
        <p:spPr>
          <a:xfrm>
            <a:off x="6200777"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64"/>
          <p:cNvSpPr/>
          <p:nvPr>
            <p:ph idx="6" type="pic"/>
          </p:nvPr>
        </p:nvSpPr>
        <p:spPr>
          <a:xfrm>
            <a:off x="6210469" y="1524000"/>
            <a:ext cx="2679192" cy="2103120"/>
          </a:xfrm>
          <a:prstGeom prst="rect">
            <a:avLst/>
          </a:prstGeom>
          <a:noFill/>
          <a:ln>
            <a:noFill/>
          </a:ln>
        </p:spPr>
      </p:sp>
      <p:sp>
        <p:nvSpPr>
          <p:cNvPr id="124" name="Google Shape;124;p64"/>
          <p:cNvSpPr txBox="1"/>
          <p:nvPr>
            <p:ph idx="7" type="body"/>
          </p:nvPr>
        </p:nvSpPr>
        <p:spPr>
          <a:xfrm>
            <a:off x="3315078"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64"/>
          <p:cNvSpPr/>
          <p:nvPr>
            <p:ph idx="8" type="pic"/>
          </p:nvPr>
        </p:nvSpPr>
        <p:spPr>
          <a:xfrm>
            <a:off x="3322302" y="1524000"/>
            <a:ext cx="2679192" cy="2103120"/>
          </a:xfrm>
          <a:prstGeom prst="rect">
            <a:avLst/>
          </a:prstGeom>
          <a:noFill/>
          <a:ln>
            <a:noFill/>
          </a:ln>
        </p:spPr>
      </p:sp>
      <p:pic>
        <p:nvPicPr>
          <p:cNvPr id="126" name="Google Shape;126;p64"/>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27" name="Google Shape;127;p6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Picture">
  <p:cSld name="6 Picture">
    <p:spTree>
      <p:nvGrpSpPr>
        <p:cNvPr id="128" name="Shape 128"/>
        <p:cNvGrpSpPr/>
        <p:nvPr/>
      </p:nvGrpSpPr>
      <p:grpSpPr>
        <a:xfrm>
          <a:off x="0" y="0"/>
          <a:ext cx="0" cy="0"/>
          <a:chOff x="0" y="0"/>
          <a:chExt cx="0" cy="0"/>
        </a:xfrm>
      </p:grpSpPr>
      <p:pic>
        <p:nvPicPr>
          <p:cNvPr id="129" name="Google Shape;129;p65"/>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30" name="Google Shape;130;p6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65"/>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65"/>
          <p:cNvSpPr txBox="1"/>
          <p:nvPr>
            <p:ph idx="1" type="body"/>
          </p:nvPr>
        </p:nvSpPr>
        <p:spPr>
          <a:xfrm>
            <a:off x="411876"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65"/>
          <p:cNvSpPr/>
          <p:nvPr>
            <p:ph idx="2" type="pic"/>
          </p:nvPr>
        </p:nvSpPr>
        <p:spPr>
          <a:xfrm>
            <a:off x="419100" y="1524000"/>
            <a:ext cx="3611880" cy="1755648"/>
          </a:xfrm>
          <a:prstGeom prst="rect">
            <a:avLst/>
          </a:prstGeom>
          <a:noFill/>
          <a:ln>
            <a:noFill/>
          </a:ln>
        </p:spPr>
      </p:sp>
      <p:sp>
        <p:nvSpPr>
          <p:cNvPr id="134" name="Google Shape;134;p65"/>
          <p:cNvSpPr txBox="1"/>
          <p:nvPr>
            <p:ph idx="3" type="body"/>
          </p:nvPr>
        </p:nvSpPr>
        <p:spPr>
          <a:xfrm>
            <a:off x="8153796"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65"/>
          <p:cNvSpPr/>
          <p:nvPr>
            <p:ph idx="4" type="pic"/>
          </p:nvPr>
        </p:nvSpPr>
        <p:spPr>
          <a:xfrm>
            <a:off x="8161020" y="1524000"/>
            <a:ext cx="3611880" cy="1755648"/>
          </a:xfrm>
          <a:prstGeom prst="rect">
            <a:avLst/>
          </a:prstGeom>
          <a:noFill/>
          <a:ln>
            <a:noFill/>
          </a:ln>
        </p:spPr>
      </p:sp>
      <p:sp>
        <p:nvSpPr>
          <p:cNvPr id="136" name="Google Shape;136;p65"/>
          <p:cNvSpPr txBox="1"/>
          <p:nvPr>
            <p:ph idx="5" type="body"/>
          </p:nvPr>
        </p:nvSpPr>
        <p:spPr>
          <a:xfrm>
            <a:off x="4294312"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65"/>
          <p:cNvSpPr/>
          <p:nvPr>
            <p:ph idx="6" type="pic"/>
          </p:nvPr>
        </p:nvSpPr>
        <p:spPr>
          <a:xfrm>
            <a:off x="4301536" y="1524000"/>
            <a:ext cx="3611880" cy="1755648"/>
          </a:xfrm>
          <a:prstGeom prst="rect">
            <a:avLst/>
          </a:prstGeom>
          <a:noFill/>
          <a:ln>
            <a:noFill/>
          </a:ln>
        </p:spPr>
      </p:sp>
      <p:sp>
        <p:nvSpPr>
          <p:cNvPr id="138" name="Google Shape;138;p65"/>
          <p:cNvSpPr txBox="1"/>
          <p:nvPr>
            <p:ph idx="7" type="body"/>
          </p:nvPr>
        </p:nvSpPr>
        <p:spPr>
          <a:xfrm>
            <a:off x="411876"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65"/>
          <p:cNvSpPr/>
          <p:nvPr>
            <p:ph idx="8" type="pic"/>
          </p:nvPr>
        </p:nvSpPr>
        <p:spPr>
          <a:xfrm>
            <a:off x="419100" y="3934689"/>
            <a:ext cx="3611880" cy="1755648"/>
          </a:xfrm>
          <a:prstGeom prst="rect">
            <a:avLst/>
          </a:prstGeom>
          <a:noFill/>
          <a:ln>
            <a:noFill/>
          </a:ln>
        </p:spPr>
      </p:sp>
      <p:sp>
        <p:nvSpPr>
          <p:cNvPr id="140" name="Google Shape;140;p65"/>
          <p:cNvSpPr txBox="1"/>
          <p:nvPr>
            <p:ph idx="9" type="body"/>
          </p:nvPr>
        </p:nvSpPr>
        <p:spPr>
          <a:xfrm>
            <a:off x="8153796"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65"/>
          <p:cNvSpPr/>
          <p:nvPr>
            <p:ph idx="13" type="pic"/>
          </p:nvPr>
        </p:nvSpPr>
        <p:spPr>
          <a:xfrm>
            <a:off x="8161020" y="3934689"/>
            <a:ext cx="3611880" cy="1755648"/>
          </a:xfrm>
          <a:prstGeom prst="rect">
            <a:avLst/>
          </a:prstGeom>
          <a:noFill/>
          <a:ln>
            <a:noFill/>
          </a:ln>
        </p:spPr>
      </p:sp>
      <p:sp>
        <p:nvSpPr>
          <p:cNvPr id="142" name="Google Shape;142;p65"/>
          <p:cNvSpPr txBox="1"/>
          <p:nvPr>
            <p:ph idx="14" type="body"/>
          </p:nvPr>
        </p:nvSpPr>
        <p:spPr>
          <a:xfrm>
            <a:off x="4294312"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65"/>
          <p:cNvSpPr/>
          <p:nvPr>
            <p:ph idx="15" type="pic"/>
          </p:nvPr>
        </p:nvSpPr>
        <p:spPr>
          <a:xfrm>
            <a:off x="4301536" y="3934689"/>
            <a:ext cx="3611880" cy="1755648"/>
          </a:xfrm>
          <a:prstGeom prst="rect">
            <a:avLst/>
          </a:prstGeom>
          <a:noFill/>
          <a:ln>
            <a:noFill/>
          </a:ln>
        </p:spPr>
      </p:sp>
      <p:pic>
        <p:nvPicPr>
          <p:cNvPr id="144" name="Google Shape;144;p65"/>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45" name="Google Shape;145;p6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p:cSld name="Icons">
    <p:spTree>
      <p:nvGrpSpPr>
        <p:cNvPr id="146" name="Shape 146"/>
        <p:cNvGrpSpPr/>
        <p:nvPr/>
      </p:nvGrpSpPr>
      <p:grpSpPr>
        <a:xfrm>
          <a:off x="0" y="0"/>
          <a:ext cx="0" cy="0"/>
          <a:chOff x="0" y="0"/>
          <a:chExt cx="0" cy="0"/>
        </a:xfrm>
      </p:grpSpPr>
      <p:sp>
        <p:nvSpPr>
          <p:cNvPr id="147" name="Google Shape;147;p66"/>
          <p:cNvSpPr txBox="1"/>
          <p:nvPr>
            <p:ph idx="1" type="body"/>
          </p:nvPr>
        </p:nvSpPr>
        <p:spPr>
          <a:xfrm>
            <a:off x="411876"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66"/>
          <p:cNvSpPr/>
          <p:nvPr>
            <p:ph idx="2" type="pic"/>
          </p:nvPr>
        </p:nvSpPr>
        <p:spPr>
          <a:xfrm>
            <a:off x="1069259" y="2626296"/>
            <a:ext cx="1188720" cy="1188720"/>
          </a:xfrm>
          <a:prstGeom prst="rect">
            <a:avLst/>
          </a:prstGeom>
          <a:noFill/>
          <a:ln>
            <a:noFill/>
          </a:ln>
        </p:spPr>
      </p:sp>
      <p:sp>
        <p:nvSpPr>
          <p:cNvPr id="149" name="Google Shape;149;p66"/>
          <p:cNvSpPr txBox="1"/>
          <p:nvPr>
            <p:ph idx="3" type="body"/>
          </p:nvPr>
        </p:nvSpPr>
        <p:spPr>
          <a:xfrm>
            <a:off x="9086484"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66"/>
          <p:cNvSpPr txBox="1"/>
          <p:nvPr>
            <p:ph idx="4" type="body"/>
          </p:nvPr>
        </p:nvSpPr>
        <p:spPr>
          <a:xfrm>
            <a:off x="6177027"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66"/>
          <p:cNvSpPr txBox="1"/>
          <p:nvPr>
            <p:ph idx="5" type="body"/>
          </p:nvPr>
        </p:nvSpPr>
        <p:spPr>
          <a:xfrm>
            <a:off x="3315078"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66"/>
          <p:cNvSpPr/>
          <p:nvPr>
            <p:ph idx="6" type="pic"/>
          </p:nvPr>
        </p:nvSpPr>
        <p:spPr>
          <a:xfrm>
            <a:off x="4049966" y="2626296"/>
            <a:ext cx="1188720" cy="1188720"/>
          </a:xfrm>
          <a:prstGeom prst="rect">
            <a:avLst/>
          </a:prstGeom>
          <a:noFill/>
          <a:ln>
            <a:noFill/>
          </a:ln>
        </p:spPr>
      </p:sp>
      <p:sp>
        <p:nvSpPr>
          <p:cNvPr id="153" name="Google Shape;153;p66"/>
          <p:cNvSpPr/>
          <p:nvPr>
            <p:ph idx="7" type="pic"/>
          </p:nvPr>
        </p:nvSpPr>
        <p:spPr>
          <a:xfrm>
            <a:off x="6911919" y="2626296"/>
            <a:ext cx="1188720" cy="1188720"/>
          </a:xfrm>
          <a:prstGeom prst="rect">
            <a:avLst/>
          </a:prstGeom>
          <a:noFill/>
          <a:ln>
            <a:noFill/>
          </a:ln>
        </p:spPr>
      </p:sp>
      <p:sp>
        <p:nvSpPr>
          <p:cNvPr id="154" name="Google Shape;154;p66"/>
          <p:cNvSpPr/>
          <p:nvPr>
            <p:ph idx="8" type="pic"/>
          </p:nvPr>
        </p:nvSpPr>
        <p:spPr>
          <a:xfrm>
            <a:off x="9773872" y="2626296"/>
            <a:ext cx="1188720" cy="1188720"/>
          </a:xfrm>
          <a:prstGeom prst="rect">
            <a:avLst/>
          </a:prstGeom>
          <a:noFill/>
          <a:ln>
            <a:noFill/>
          </a:ln>
        </p:spPr>
      </p:sp>
      <p:pic>
        <p:nvPicPr>
          <p:cNvPr id="155" name="Google Shape;155;p66"/>
          <p:cNvPicPr preferRelativeResize="0"/>
          <p:nvPr/>
        </p:nvPicPr>
        <p:blipFill rotWithShape="1">
          <a:blip r:embed="rId2">
            <a:alphaModFix/>
          </a:blip>
          <a:srcRect b="0" l="0" r="0" t="0"/>
          <a:stretch/>
        </p:blipFill>
        <p:spPr>
          <a:xfrm>
            <a:off x="9840052" y="365126"/>
            <a:ext cx="1910948" cy="449072"/>
          </a:xfrm>
          <a:prstGeom prst="rect">
            <a:avLst/>
          </a:prstGeom>
          <a:noFill/>
          <a:ln>
            <a:noFill/>
          </a:ln>
        </p:spPr>
      </p:pic>
      <p:pic>
        <p:nvPicPr>
          <p:cNvPr id="156" name="Google Shape;156;p66"/>
          <p:cNvPicPr preferRelativeResize="0"/>
          <p:nvPr/>
        </p:nvPicPr>
        <p:blipFill rotWithShape="1">
          <a:blip r:embed="rId3">
            <a:alphaModFix/>
          </a:blip>
          <a:srcRect b="3809" l="75552" r="3438" t="60520"/>
          <a:stretch/>
        </p:blipFill>
        <p:spPr>
          <a:xfrm rot="10800000">
            <a:off x="-1" y="-2"/>
            <a:ext cx="2268187" cy="2166103"/>
          </a:xfrm>
          <a:prstGeom prst="rect">
            <a:avLst/>
          </a:prstGeom>
          <a:noFill/>
          <a:ln>
            <a:noFill/>
          </a:ln>
        </p:spPr>
      </p:pic>
      <p:sp>
        <p:nvSpPr>
          <p:cNvPr id="157" name="Google Shape;157;p66"/>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8" name="Google Shape;158;p6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159" name="Shape 159"/>
        <p:cNvGrpSpPr/>
        <p:nvPr/>
      </p:nvGrpSpPr>
      <p:grpSpPr>
        <a:xfrm>
          <a:off x="0" y="0"/>
          <a:ext cx="0" cy="0"/>
          <a:chOff x="0" y="0"/>
          <a:chExt cx="0" cy="0"/>
        </a:xfrm>
      </p:grpSpPr>
      <p:pic>
        <p:nvPicPr>
          <p:cNvPr id="160" name="Google Shape;160;p67"/>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61" name="Google Shape;161;p6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2" name="Google Shape;162;p67"/>
          <p:cNvPicPr preferRelativeResize="0"/>
          <p:nvPr/>
        </p:nvPicPr>
        <p:blipFill rotWithShape="1">
          <a:blip r:embed="rId3">
            <a:alphaModFix/>
          </a:blip>
          <a:srcRect b="0" l="0" r="0" t="0"/>
          <a:stretch/>
        </p:blipFill>
        <p:spPr>
          <a:xfrm>
            <a:off x="9840052" y="365126"/>
            <a:ext cx="1910948" cy="449073"/>
          </a:xfrm>
          <a:prstGeom prst="rect">
            <a:avLst/>
          </a:prstGeom>
          <a:noFill/>
          <a:ln>
            <a:noFill/>
          </a:ln>
        </p:spPr>
      </p:pic>
      <p:sp>
        <p:nvSpPr>
          <p:cNvPr id="163" name="Google Shape;163;p67"/>
          <p:cNvSpPr txBox="1"/>
          <p:nvPr>
            <p:ph idx="12" type="sldNum"/>
          </p:nvPr>
        </p:nvSpPr>
        <p:spPr>
          <a:xfrm>
            <a:off x="9029700"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4" name="Google Shape;164;p6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p:cSld name="Title Only Light">
    <p:spTree>
      <p:nvGrpSpPr>
        <p:cNvPr id="165" name="Shape 165"/>
        <p:cNvGrpSpPr/>
        <p:nvPr/>
      </p:nvGrpSpPr>
      <p:grpSpPr>
        <a:xfrm>
          <a:off x="0" y="0"/>
          <a:ext cx="0" cy="0"/>
          <a:chOff x="0" y="0"/>
          <a:chExt cx="0" cy="0"/>
        </a:xfrm>
      </p:grpSpPr>
      <p:sp>
        <p:nvSpPr>
          <p:cNvPr id="166" name="Google Shape;166;p68"/>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4000"/>
              <a:buFont typeface="Arial"/>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6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168" name="Google Shape;168;p68"/>
          <p:cNvPicPr preferRelativeResize="0"/>
          <p:nvPr/>
        </p:nvPicPr>
        <p:blipFill rotWithShape="1">
          <a:blip r:embed="rId2">
            <a:alphaModFix/>
          </a:blip>
          <a:srcRect b="0" l="0" r="0" t="0"/>
          <a:stretch/>
        </p:blipFill>
        <p:spPr>
          <a:xfrm>
            <a:off x="9840052" y="365125"/>
            <a:ext cx="1910948" cy="449072"/>
          </a:xfrm>
          <a:prstGeom prst="rect">
            <a:avLst/>
          </a:prstGeom>
          <a:noFill/>
          <a:ln>
            <a:noFill/>
          </a:ln>
        </p:spPr>
      </p:pic>
      <p:sp>
        <p:nvSpPr>
          <p:cNvPr id="169" name="Google Shape;169;p68"/>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
  <p:cSld name="Diagram">
    <p:spTree>
      <p:nvGrpSpPr>
        <p:cNvPr id="170" name="Shape 170"/>
        <p:cNvGrpSpPr/>
        <p:nvPr/>
      </p:nvGrpSpPr>
      <p:grpSpPr>
        <a:xfrm>
          <a:off x="0" y="0"/>
          <a:ext cx="0" cy="0"/>
          <a:chOff x="0" y="0"/>
          <a:chExt cx="0" cy="0"/>
        </a:xfrm>
      </p:grpSpPr>
      <p:pic>
        <p:nvPicPr>
          <p:cNvPr id="171" name="Google Shape;171;p69"/>
          <p:cNvPicPr preferRelativeResize="0"/>
          <p:nvPr/>
        </p:nvPicPr>
        <p:blipFill rotWithShape="1">
          <a:blip r:embed="rId2">
            <a:alphaModFix/>
          </a:blip>
          <a:srcRect b="0" l="0" r="0" t="0"/>
          <a:stretch/>
        </p:blipFill>
        <p:spPr>
          <a:xfrm>
            <a:off x="10301048" y="6435724"/>
            <a:ext cx="878193" cy="206375"/>
          </a:xfrm>
          <a:prstGeom prst="rect">
            <a:avLst/>
          </a:prstGeom>
          <a:noFill/>
          <a:ln>
            <a:noFill/>
          </a:ln>
        </p:spPr>
      </p:pic>
      <p:sp>
        <p:nvSpPr>
          <p:cNvPr id="172" name="Google Shape;172;p6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69"/>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74" name="Shape 174"/>
        <p:cNvGrpSpPr/>
        <p:nvPr/>
      </p:nvGrpSpPr>
      <p:grpSpPr>
        <a:xfrm>
          <a:off x="0" y="0"/>
          <a:ext cx="0" cy="0"/>
          <a:chOff x="0" y="0"/>
          <a:chExt cx="0" cy="0"/>
        </a:xfrm>
      </p:grpSpPr>
      <p:sp>
        <p:nvSpPr>
          <p:cNvPr id="175" name="Google Shape;175;p70"/>
          <p:cNvSpPr txBox="1"/>
          <p:nvPr>
            <p:ph type="title"/>
          </p:nvPr>
        </p:nvSpPr>
        <p:spPr>
          <a:xfrm>
            <a:off x="419100" y="365125"/>
            <a:ext cx="829818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4000"/>
              <a:buFont typeface="Arial"/>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70"/>
          <p:cNvSpPr txBox="1"/>
          <p:nvPr>
            <p:ph idx="12" type="sldNum"/>
          </p:nvPr>
        </p:nvSpPr>
        <p:spPr>
          <a:xfrm>
            <a:off x="9029700"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7" name="Google Shape;177;p70"/>
          <p:cNvSpPr txBox="1"/>
          <p:nvPr>
            <p:ph idx="1" type="body"/>
          </p:nvPr>
        </p:nvSpPr>
        <p:spPr>
          <a:xfrm>
            <a:off x="6076191"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70"/>
          <p:cNvSpPr txBox="1"/>
          <p:nvPr>
            <p:ph idx="2" type="body"/>
          </p:nvPr>
        </p:nvSpPr>
        <p:spPr>
          <a:xfrm>
            <a:off x="3251457"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70"/>
          <p:cNvSpPr txBox="1"/>
          <p:nvPr>
            <p:ph idx="3" type="body"/>
          </p:nvPr>
        </p:nvSpPr>
        <p:spPr>
          <a:xfrm>
            <a:off x="419100"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70"/>
          <p:cNvSpPr txBox="1"/>
          <p:nvPr>
            <p:ph idx="4" type="body"/>
          </p:nvPr>
        </p:nvSpPr>
        <p:spPr>
          <a:xfrm>
            <a:off x="419102"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70"/>
          <p:cNvSpPr/>
          <p:nvPr/>
        </p:nvSpPr>
        <p:spPr>
          <a:xfrm>
            <a:off x="9029701" y="0"/>
            <a:ext cx="3188474" cy="6875492"/>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761"/>
              <a:buFont typeface="Arial"/>
              <a:buNone/>
            </a:pPr>
            <a:r>
              <a:t/>
            </a:r>
            <a:endParaRPr b="0" i="0" sz="1761" u="none" cap="none" strike="noStrike">
              <a:solidFill>
                <a:srgbClr val="FFFFFF"/>
              </a:solidFill>
              <a:latin typeface="Arial"/>
              <a:ea typeface="Arial"/>
              <a:cs typeface="Arial"/>
              <a:sym typeface="Arial"/>
            </a:endParaRPr>
          </a:p>
        </p:txBody>
      </p:sp>
      <p:sp>
        <p:nvSpPr>
          <p:cNvPr id="182" name="Google Shape;182;p70"/>
          <p:cNvSpPr/>
          <p:nvPr/>
        </p:nvSpPr>
        <p:spPr>
          <a:xfrm>
            <a:off x="0" y="4020640"/>
            <a:ext cx="9029700" cy="28373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761"/>
              <a:buFont typeface="Arial"/>
              <a:buNone/>
            </a:pPr>
            <a:r>
              <a:t/>
            </a:r>
            <a:endParaRPr b="0" i="0" sz="1761" u="none" cap="none" strike="noStrike">
              <a:solidFill>
                <a:srgbClr val="FFFFFF"/>
              </a:solidFill>
              <a:latin typeface="Arial"/>
              <a:ea typeface="Arial"/>
              <a:cs typeface="Arial"/>
              <a:sym typeface="Arial"/>
            </a:endParaRPr>
          </a:p>
        </p:txBody>
      </p:sp>
      <p:sp>
        <p:nvSpPr>
          <p:cNvPr id="183" name="Google Shape;183;p70"/>
          <p:cNvSpPr txBox="1"/>
          <p:nvPr>
            <p:ph idx="5" type="body"/>
          </p:nvPr>
        </p:nvSpPr>
        <p:spPr>
          <a:xfrm>
            <a:off x="9327146" y="365126"/>
            <a:ext cx="2445755" cy="951555"/>
          </a:xfrm>
          <a:prstGeom prst="rect">
            <a:avLst/>
          </a:prstGeom>
          <a:solidFill>
            <a:schemeClr val="lt1"/>
          </a:solid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2800"/>
              <a:buNone/>
              <a:defRPr>
                <a:solidFill>
                  <a:schemeClr val="lt2"/>
                </a:solidFill>
              </a:defRPr>
            </a:lvl1pPr>
            <a:lvl2pPr indent="-381000" lvl="1" marL="914400" algn="l">
              <a:lnSpc>
                <a:spcPct val="90000"/>
              </a:lnSpc>
              <a:spcBef>
                <a:spcPts val="500"/>
              </a:spcBef>
              <a:spcAft>
                <a:spcPts val="0"/>
              </a:spcAft>
              <a:buClr>
                <a:schemeClr val="lt2"/>
              </a:buClr>
              <a:buSzPts val="2400"/>
              <a:buChar char="•"/>
              <a:defRPr>
                <a:solidFill>
                  <a:schemeClr val="lt2"/>
                </a:solidFill>
              </a:defRPr>
            </a:lvl2pPr>
            <a:lvl3pPr indent="-355600" lvl="2" marL="1371600" algn="l">
              <a:lnSpc>
                <a:spcPct val="90000"/>
              </a:lnSpc>
              <a:spcBef>
                <a:spcPts val="500"/>
              </a:spcBef>
              <a:spcAft>
                <a:spcPts val="0"/>
              </a:spcAft>
              <a:buClr>
                <a:schemeClr val="lt2"/>
              </a:buClr>
              <a:buSzPts val="2000"/>
              <a:buChar char="•"/>
              <a:defRPr>
                <a:solidFill>
                  <a:schemeClr val="lt2"/>
                </a:solidFill>
              </a:defRPr>
            </a:lvl3pPr>
            <a:lvl4pPr indent="-342900" lvl="3" marL="1828800" algn="l">
              <a:lnSpc>
                <a:spcPct val="90000"/>
              </a:lnSpc>
              <a:spcBef>
                <a:spcPts val="500"/>
              </a:spcBef>
              <a:spcAft>
                <a:spcPts val="0"/>
              </a:spcAft>
              <a:buClr>
                <a:schemeClr val="lt2"/>
              </a:buClr>
              <a:buSzPts val="1800"/>
              <a:buChar char="•"/>
              <a:defRPr>
                <a:solidFill>
                  <a:schemeClr val="lt2"/>
                </a:solidFill>
              </a:defRPr>
            </a:lvl4pPr>
            <a:lvl5pPr indent="-342900" lvl="4" marL="2286000" algn="l">
              <a:lnSpc>
                <a:spcPct val="90000"/>
              </a:lnSpc>
              <a:spcBef>
                <a:spcPts val="500"/>
              </a:spcBef>
              <a:spcAft>
                <a:spcPts val="0"/>
              </a:spcAft>
              <a:buClr>
                <a:schemeClr val="lt2"/>
              </a:buClr>
              <a:buSzPts val="1800"/>
              <a:buChar char="•"/>
              <a:defRPr>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70"/>
          <p:cNvSpPr txBox="1"/>
          <p:nvPr>
            <p:ph idx="6" type="body"/>
          </p:nvPr>
        </p:nvSpPr>
        <p:spPr>
          <a:xfrm>
            <a:off x="3259838"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70"/>
          <p:cNvSpPr txBox="1"/>
          <p:nvPr>
            <p:ph idx="7" type="body"/>
          </p:nvPr>
        </p:nvSpPr>
        <p:spPr>
          <a:xfrm>
            <a:off x="6076190"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70"/>
          <p:cNvSpPr txBox="1"/>
          <p:nvPr>
            <p:ph idx="8" type="body"/>
          </p:nvPr>
        </p:nvSpPr>
        <p:spPr>
          <a:xfrm>
            <a:off x="790222" y="4444327"/>
            <a:ext cx="7455707" cy="1311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70"/>
          <p:cNvSpPr txBox="1"/>
          <p:nvPr>
            <p:ph idx="9" type="body"/>
          </p:nvPr>
        </p:nvSpPr>
        <p:spPr>
          <a:xfrm>
            <a:off x="790222" y="5870446"/>
            <a:ext cx="7455707" cy="41370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8" name="Google Shape;188;p70"/>
          <p:cNvPicPr preferRelativeResize="0"/>
          <p:nvPr/>
        </p:nvPicPr>
        <p:blipFill rotWithShape="1">
          <a:blip r:embed="rId2">
            <a:alphaModFix/>
          </a:blip>
          <a:srcRect b="0" l="0" r="0" t="0"/>
          <a:stretch/>
        </p:blipFill>
        <p:spPr>
          <a:xfrm>
            <a:off x="9327092" y="6089840"/>
            <a:ext cx="1910948" cy="449073"/>
          </a:xfrm>
          <a:prstGeom prst="rect">
            <a:avLst/>
          </a:prstGeom>
          <a:noFill/>
          <a:ln>
            <a:noFill/>
          </a:ln>
        </p:spPr>
      </p:pic>
      <p:sp>
        <p:nvSpPr>
          <p:cNvPr id="189" name="Google Shape;189;p70"/>
          <p:cNvSpPr txBox="1"/>
          <p:nvPr>
            <p:ph idx="13" type="body"/>
          </p:nvPr>
        </p:nvSpPr>
        <p:spPr>
          <a:xfrm>
            <a:off x="9327093" y="1564153"/>
            <a:ext cx="2445808" cy="121291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70"/>
          <p:cNvSpPr txBox="1"/>
          <p:nvPr/>
        </p:nvSpPr>
        <p:spPr>
          <a:xfrm>
            <a:off x="290923" y="3889248"/>
            <a:ext cx="770467" cy="23084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14400">
                <a:solidFill>
                  <a:schemeClr val="lt1"/>
                </a:solidFill>
                <a:latin typeface="Arial"/>
                <a:ea typeface="Arial"/>
                <a:cs typeface="Arial"/>
                <a:sym typeface="Arial"/>
              </a:rPr>
              <a:t>“</a:t>
            </a:r>
            <a:endParaRPr sz="14400">
              <a:solidFill>
                <a:schemeClr val="lt1"/>
              </a:solidFill>
              <a:latin typeface="Arial"/>
              <a:ea typeface="Arial"/>
              <a:cs typeface="Arial"/>
              <a:sym typeface="Arial"/>
            </a:endParaRPr>
          </a:p>
        </p:txBody>
      </p:sp>
      <p:sp>
        <p:nvSpPr>
          <p:cNvPr id="191" name="Google Shape;191;p70"/>
          <p:cNvSpPr txBox="1"/>
          <p:nvPr>
            <p:ph idx="14" type="body"/>
          </p:nvPr>
        </p:nvSpPr>
        <p:spPr>
          <a:xfrm>
            <a:off x="9327145" y="3177326"/>
            <a:ext cx="2445808" cy="275849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70"/>
          <p:cNvSpPr txBox="1"/>
          <p:nvPr>
            <p:ph idx="15" type="body"/>
          </p:nvPr>
        </p:nvSpPr>
        <p:spPr>
          <a:xfrm>
            <a:off x="9327092" y="2880834"/>
            <a:ext cx="2445808" cy="29649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70"/>
          <p:cNvSpPr txBox="1"/>
          <p:nvPr/>
        </p:nvSpPr>
        <p:spPr>
          <a:xfrm>
            <a:off x="8171365" y="5105029"/>
            <a:ext cx="770467" cy="23084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14400">
                <a:solidFill>
                  <a:schemeClr val="lt1"/>
                </a:solidFill>
                <a:latin typeface="Arial"/>
                <a:ea typeface="Arial"/>
                <a:cs typeface="Arial"/>
                <a:sym typeface="Arial"/>
              </a:rPr>
              <a:t>“</a:t>
            </a:r>
            <a:endParaRPr sz="14400">
              <a:solidFill>
                <a:schemeClr val="lt1"/>
              </a:solidFill>
              <a:latin typeface="Arial"/>
              <a:ea typeface="Arial"/>
              <a:cs typeface="Arial"/>
              <a:sym typeface="Arial"/>
            </a:endParaRPr>
          </a:p>
        </p:txBody>
      </p:sp>
      <p:sp>
        <p:nvSpPr>
          <p:cNvPr id="194" name="Google Shape;194;p7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Pull Quote">
    <p:bg>
      <p:bgPr>
        <a:solidFill>
          <a:srgbClr val="222E3C"/>
        </a:solidFill>
      </p:bgPr>
    </p:bg>
    <p:spTree>
      <p:nvGrpSpPr>
        <p:cNvPr id="195" name="Shape 195"/>
        <p:cNvGrpSpPr/>
        <p:nvPr/>
      </p:nvGrpSpPr>
      <p:grpSpPr>
        <a:xfrm>
          <a:off x="0" y="0"/>
          <a:ext cx="0" cy="0"/>
          <a:chOff x="0" y="0"/>
          <a:chExt cx="0" cy="0"/>
        </a:xfrm>
      </p:grpSpPr>
      <p:sp>
        <p:nvSpPr>
          <p:cNvPr id="196" name="Google Shape;196;p71"/>
          <p:cNvSpPr txBox="1"/>
          <p:nvPr>
            <p:ph type="title"/>
          </p:nvPr>
        </p:nvSpPr>
        <p:spPr>
          <a:xfrm>
            <a:off x="419100" y="1361287"/>
            <a:ext cx="11353800" cy="3416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71"/>
          <p:cNvSpPr/>
          <p:nvPr/>
        </p:nvSpPr>
        <p:spPr>
          <a:xfrm>
            <a:off x="0" y="1444414"/>
            <a:ext cx="320634" cy="633768"/>
          </a:xfrm>
          <a:prstGeom prst="rect">
            <a:avLst/>
          </a:prstGeom>
          <a:solidFill>
            <a:srgbClr val="36C2B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8" name="Google Shape;198;p71"/>
          <p:cNvSpPr txBox="1"/>
          <p:nvPr>
            <p:ph idx="1" type="body"/>
          </p:nvPr>
        </p:nvSpPr>
        <p:spPr>
          <a:xfrm>
            <a:off x="419100" y="5024594"/>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99" name="Google Shape;199;p71"/>
          <p:cNvPicPr preferRelativeResize="0"/>
          <p:nvPr/>
        </p:nvPicPr>
        <p:blipFill rotWithShape="1">
          <a:blip r:embed="rId2">
            <a:alphaModFix/>
          </a:blip>
          <a:srcRect b="0" l="0" r="0" t="0"/>
          <a:stretch/>
        </p:blipFill>
        <p:spPr>
          <a:xfrm>
            <a:off x="9861952" y="6089839"/>
            <a:ext cx="1910948" cy="449073"/>
          </a:xfrm>
          <a:prstGeom prst="rect">
            <a:avLst/>
          </a:prstGeom>
          <a:noFill/>
          <a:ln>
            <a:noFill/>
          </a:ln>
        </p:spPr>
      </p:pic>
      <p:sp>
        <p:nvSpPr>
          <p:cNvPr id="200" name="Google Shape;200;p7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201" name="Shape 201"/>
        <p:cNvGrpSpPr/>
        <p:nvPr/>
      </p:nvGrpSpPr>
      <p:grpSpPr>
        <a:xfrm>
          <a:off x="0" y="0"/>
          <a:ext cx="0" cy="0"/>
          <a:chOff x="0" y="0"/>
          <a:chExt cx="0" cy="0"/>
        </a:xfrm>
      </p:grpSpPr>
      <p:pic>
        <p:nvPicPr>
          <p:cNvPr id="202" name="Google Shape;202;p72"/>
          <p:cNvPicPr preferRelativeResize="0"/>
          <p:nvPr/>
        </p:nvPicPr>
        <p:blipFill rotWithShape="1">
          <a:blip r:embed="rId2">
            <a:alphaModFix/>
          </a:blip>
          <a:srcRect b="0" l="0" r="0" t="0"/>
          <a:stretch/>
        </p:blipFill>
        <p:spPr>
          <a:xfrm>
            <a:off x="-81023" y="-47919"/>
            <a:ext cx="12361762" cy="6958182"/>
          </a:xfrm>
          <a:prstGeom prst="rect">
            <a:avLst/>
          </a:prstGeom>
          <a:noFill/>
          <a:ln>
            <a:noFill/>
          </a:ln>
        </p:spPr>
      </p:pic>
      <p:sp>
        <p:nvSpPr>
          <p:cNvPr id="203" name="Google Shape;203;p72"/>
          <p:cNvSpPr txBox="1"/>
          <p:nvPr/>
        </p:nvSpPr>
        <p:spPr>
          <a:xfrm>
            <a:off x="423968" y="6089839"/>
            <a:ext cx="8921913" cy="646331"/>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900">
                <a:solidFill>
                  <a:schemeClr val="lt1"/>
                </a:solidFill>
                <a:latin typeface="Arial"/>
                <a:ea typeface="Arial"/>
                <a:cs typeface="Arial"/>
                <a:sym typeface="Arial"/>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a:solidFill>
                  <a:schemeClr val="lt1"/>
                </a:solidFill>
                <a:latin typeface="Arial"/>
                <a:ea typeface="Arial"/>
                <a:cs typeface="Arial"/>
                <a:sym typeface="Arial"/>
              </a:rPr>
              <a:t>aws-course-feedback@amazon.com</a:t>
            </a:r>
            <a:r>
              <a:rPr lang="en-US" sz="900">
                <a:solidFill>
                  <a:schemeClr val="lt1"/>
                </a:solidFill>
                <a:latin typeface="Arial"/>
                <a:ea typeface="Arial"/>
                <a:cs typeface="Arial"/>
                <a:sym typeface="Arial"/>
              </a:rPr>
              <a:t>. For all other questions, contact us at: </a:t>
            </a:r>
            <a:r>
              <a:rPr lang="en-US" sz="900" u="sng">
                <a:solidFill>
                  <a:schemeClr val="lt1"/>
                </a:solidFill>
                <a:latin typeface="Arial"/>
                <a:ea typeface="Arial"/>
                <a:cs typeface="Arial"/>
                <a:sym typeface="Arial"/>
              </a:rPr>
              <a:t>https://aws.amazon.com/contact-us/aws-training/</a:t>
            </a:r>
            <a:r>
              <a:rPr lang="en-US" sz="900">
                <a:solidFill>
                  <a:schemeClr val="lt1"/>
                </a:solidFill>
                <a:latin typeface="Arial"/>
                <a:ea typeface="Arial"/>
                <a:cs typeface="Arial"/>
                <a:sym typeface="Arial"/>
              </a:rPr>
              <a:t>. All trademarks are the property of their owners.</a:t>
            </a:r>
            <a:endParaRPr/>
          </a:p>
          <a:p>
            <a:pPr indent="0" lvl="0" marL="0" marR="0" rtl="0" algn="just">
              <a:spcBef>
                <a:spcPts val="0"/>
              </a:spcBef>
              <a:spcAft>
                <a:spcPts val="0"/>
              </a:spcAft>
              <a:buNone/>
            </a:pPr>
            <a:r>
              <a:t/>
            </a:r>
            <a:endParaRPr sz="900">
              <a:solidFill>
                <a:schemeClr val="dk1"/>
              </a:solidFill>
              <a:latin typeface="Arial"/>
              <a:ea typeface="Arial"/>
              <a:cs typeface="Arial"/>
              <a:sym typeface="Arial"/>
            </a:endParaRPr>
          </a:p>
        </p:txBody>
      </p:sp>
      <p:sp>
        <p:nvSpPr>
          <p:cNvPr id="204" name="Google Shape;204;p72"/>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5" name="Google Shape;205;p72"/>
          <p:cNvPicPr preferRelativeResize="0"/>
          <p:nvPr/>
        </p:nvPicPr>
        <p:blipFill rotWithShape="1">
          <a:blip r:embed="rId3">
            <a:alphaModFix/>
          </a:blip>
          <a:srcRect b="0" l="0" r="0" t="0"/>
          <a:stretch/>
        </p:blipFill>
        <p:spPr>
          <a:xfrm>
            <a:off x="9861952" y="6089839"/>
            <a:ext cx="1910948" cy="449073"/>
          </a:xfrm>
          <a:prstGeom prst="rect">
            <a:avLst/>
          </a:prstGeom>
          <a:noFill/>
          <a:ln>
            <a:noFill/>
          </a:ln>
        </p:spPr>
      </p:pic>
    </p:spTree>
  </p:cSld>
  <p:clrMapOvr>
    <a:masterClrMapping/>
  </p:clrMapOvr>
  <p:extLst>
    <p:ext uri="{DCECCB84-F9BA-43D5-87BE-67443E8EF086}">
      <p15:sldGuideLst>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bg>
      <p:bgPr>
        <a:gradFill>
          <a:gsLst>
            <a:gs pos="0">
              <a:srgbClr val="36C2B4"/>
            </a:gs>
            <a:gs pos="100000">
              <a:srgbClr val="7EE5AA"/>
            </a:gs>
          </a:gsLst>
          <a:lin ang="16200000" scaled="0"/>
        </a:gradFill>
      </p:bgPr>
    </p:bg>
    <p:spTree>
      <p:nvGrpSpPr>
        <p:cNvPr id="206" name="Shape 206"/>
        <p:cNvGrpSpPr/>
        <p:nvPr/>
      </p:nvGrpSpPr>
      <p:grpSpPr>
        <a:xfrm>
          <a:off x="0" y="0"/>
          <a:ext cx="0" cy="0"/>
          <a:chOff x="0" y="0"/>
          <a:chExt cx="0" cy="0"/>
        </a:xfrm>
      </p:grpSpPr>
      <p:sp>
        <p:nvSpPr>
          <p:cNvPr id="207" name="Google Shape;207;p73"/>
          <p:cNvSpPr txBox="1"/>
          <p:nvPr>
            <p:ph type="title"/>
          </p:nvPr>
        </p:nvSpPr>
        <p:spPr>
          <a:xfrm>
            <a:off x="609601" y="2701346"/>
            <a:ext cx="10475057" cy="7276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4267"/>
              <a:buFont typeface="Arial"/>
              <a:buNone/>
              <a:defRPr b="0" i="0" sz="4267">
                <a:solidFill>
                  <a:srgbClr val="232F3E"/>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73"/>
          <p:cNvSpPr/>
          <p:nvPr/>
        </p:nvSpPr>
        <p:spPr>
          <a:xfrm>
            <a:off x="1" y="2701345"/>
            <a:ext cx="373039" cy="72765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a:solidFill>
                <a:schemeClr val="lt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419100" y="365125"/>
            <a:ext cx="113538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Arial"/>
              <a:buNone/>
              <a:defRPr b="0" i="0" sz="4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0"/>
          <p:cNvSpPr txBox="1"/>
          <p:nvPr>
            <p:ph idx="1" type="body"/>
          </p:nvPr>
        </p:nvSpPr>
        <p:spPr>
          <a:xfrm>
            <a:off x="419100" y="1825625"/>
            <a:ext cx="113538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50"/>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50"/>
          <p:cNvSpPr txBox="1"/>
          <p:nvPr>
            <p:ph idx="11" type="ftr"/>
          </p:nvPr>
        </p:nvSpPr>
        <p:spPr>
          <a:xfrm>
            <a:off x="419100" y="6356350"/>
            <a:ext cx="6871048"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image" Target="../media/image9.png"/><Relationship Id="rId7" Type="http://schemas.openxmlformats.org/officeDocument/2006/relationships/image" Target="../media/image15.png"/><Relationship Id="rId8"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9.png"/><Relationship Id="rId5"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40.png"/><Relationship Id="rId5"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38.png"/><Relationship Id="rId5"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9.png"/><Relationship Id="rId4" Type="http://schemas.openxmlformats.org/officeDocument/2006/relationships/image" Target="../media/image41.png"/><Relationship Id="rId5" Type="http://schemas.openxmlformats.org/officeDocument/2006/relationships/image" Target="../media/image50.png"/><Relationship Id="rId6" Type="http://schemas.openxmlformats.org/officeDocument/2006/relationships/image" Target="../media/image46.png"/><Relationship Id="rId7"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42.png"/><Relationship Id="rId4" Type="http://schemas.openxmlformats.org/officeDocument/2006/relationships/image" Target="../media/image15.png"/><Relationship Id="rId5"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45.png"/><Relationship Id="rId4" Type="http://schemas.openxmlformats.org/officeDocument/2006/relationships/image" Target="../media/image53.png"/><Relationship Id="rId5"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60.png"/><Relationship Id="rId4" Type="http://schemas.openxmlformats.org/officeDocument/2006/relationships/image" Target="../media/image63.png"/><Relationship Id="rId5"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61.png"/><Relationship Id="rId6" Type="http://schemas.openxmlformats.org/officeDocument/2006/relationships/image" Target="../media/image5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Security</a:t>
            </a:r>
            <a:endParaRPr/>
          </a:p>
        </p:txBody>
      </p:sp>
      <p:sp>
        <p:nvSpPr>
          <p:cNvPr id="214" name="Google Shape;214;p1"/>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n-US"/>
              <a:t>Module 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Module 6 objectives</a:t>
            </a:r>
            <a:endParaRPr/>
          </a:p>
        </p:txBody>
      </p:sp>
      <p:sp>
        <p:nvSpPr>
          <p:cNvPr id="220" name="Google Shape;220;p2"/>
          <p:cNvSpPr txBox="1"/>
          <p:nvPr>
            <p:ph idx="1" type="body"/>
          </p:nvPr>
        </p:nvSpPr>
        <p:spPr>
          <a:xfrm>
            <a:off x="419100" y="1528175"/>
            <a:ext cx="7052511" cy="464878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In this module, you will learn how to:</a:t>
            </a:r>
            <a:endParaRPr/>
          </a:p>
          <a:p>
            <a:pPr indent="-228600" lvl="0" marL="228600" rtl="0" algn="l">
              <a:lnSpc>
                <a:spcPct val="90000"/>
              </a:lnSpc>
              <a:spcBef>
                <a:spcPts val="2000"/>
              </a:spcBef>
              <a:spcAft>
                <a:spcPts val="0"/>
              </a:spcAft>
              <a:buClr>
                <a:schemeClr val="dk1"/>
              </a:buClr>
              <a:buSzPts val="2400"/>
              <a:buChar char="•"/>
            </a:pPr>
            <a:r>
              <a:rPr lang="en-US" sz="2400"/>
              <a:t>Explain the benefits of the shared responsibility model</a:t>
            </a:r>
            <a:endParaRPr/>
          </a:p>
          <a:p>
            <a:pPr indent="-228600" lvl="0" marL="228600" rtl="0" algn="l">
              <a:lnSpc>
                <a:spcPct val="90000"/>
              </a:lnSpc>
              <a:spcBef>
                <a:spcPts val="1000"/>
              </a:spcBef>
              <a:spcAft>
                <a:spcPts val="0"/>
              </a:spcAft>
              <a:buClr>
                <a:schemeClr val="dk1"/>
              </a:buClr>
              <a:buSzPts val="2400"/>
              <a:buChar char="•"/>
            </a:pPr>
            <a:r>
              <a:rPr lang="en-US" sz="2400"/>
              <a:t>Describe multi-factor authentication (MFA)</a:t>
            </a:r>
            <a:endParaRPr/>
          </a:p>
          <a:p>
            <a:pPr indent="-228600" lvl="0" marL="228600" rtl="0" algn="l">
              <a:lnSpc>
                <a:spcPct val="90000"/>
              </a:lnSpc>
              <a:spcBef>
                <a:spcPts val="1000"/>
              </a:spcBef>
              <a:spcAft>
                <a:spcPts val="0"/>
              </a:spcAft>
              <a:buClr>
                <a:schemeClr val="dk1"/>
              </a:buClr>
              <a:buSzPts val="2400"/>
              <a:buChar char="•"/>
            </a:pPr>
            <a:r>
              <a:rPr lang="en-US" sz="2400"/>
              <a:t>Differentiate among the AWS Identity and Access Management (IAM) security levels</a:t>
            </a:r>
            <a:endParaRPr/>
          </a:p>
          <a:p>
            <a:pPr indent="-228600" lvl="0" marL="228600" rtl="0" algn="l">
              <a:lnSpc>
                <a:spcPct val="90000"/>
              </a:lnSpc>
              <a:spcBef>
                <a:spcPts val="1000"/>
              </a:spcBef>
              <a:spcAft>
                <a:spcPts val="0"/>
              </a:spcAft>
              <a:buClr>
                <a:schemeClr val="dk1"/>
              </a:buClr>
              <a:buSzPts val="2400"/>
              <a:buChar char="•"/>
            </a:pPr>
            <a:r>
              <a:rPr lang="en-US" sz="2400"/>
              <a:t>Explain AWS Organizations benefits</a:t>
            </a:r>
            <a:endParaRPr/>
          </a:p>
          <a:p>
            <a:pPr indent="-228600" lvl="0" marL="228600" rtl="0" algn="l">
              <a:lnSpc>
                <a:spcPct val="90000"/>
              </a:lnSpc>
              <a:spcBef>
                <a:spcPts val="1000"/>
              </a:spcBef>
              <a:spcAft>
                <a:spcPts val="0"/>
              </a:spcAft>
              <a:buClr>
                <a:schemeClr val="dk1"/>
              </a:buClr>
              <a:buSzPts val="2400"/>
              <a:buChar char="•"/>
            </a:pPr>
            <a:r>
              <a:rPr lang="en-US" sz="2400"/>
              <a:t>Describe security policies </a:t>
            </a:r>
            <a:endParaRPr/>
          </a:p>
          <a:p>
            <a:pPr indent="-228600" lvl="0" marL="228600" rtl="0" algn="l">
              <a:lnSpc>
                <a:spcPct val="90000"/>
              </a:lnSpc>
              <a:spcBef>
                <a:spcPts val="1000"/>
              </a:spcBef>
              <a:spcAft>
                <a:spcPts val="0"/>
              </a:spcAft>
              <a:buClr>
                <a:schemeClr val="dk1"/>
              </a:buClr>
              <a:buSzPts val="2400"/>
              <a:buChar char="•"/>
            </a:pPr>
            <a:r>
              <a:rPr lang="en-US" sz="2400"/>
              <a:t>Summarize the benefits of compliance with AWS</a:t>
            </a:r>
            <a:endParaRPr/>
          </a:p>
          <a:p>
            <a:pPr indent="-228600" lvl="0" marL="228600" rtl="0" algn="l">
              <a:lnSpc>
                <a:spcPct val="90000"/>
              </a:lnSpc>
              <a:spcBef>
                <a:spcPts val="1000"/>
              </a:spcBef>
              <a:spcAft>
                <a:spcPts val="0"/>
              </a:spcAft>
              <a:buClr>
                <a:schemeClr val="dk1"/>
              </a:buClr>
              <a:buSzPts val="2400"/>
              <a:buChar char="•"/>
            </a:pPr>
            <a:r>
              <a:rPr lang="en-US" sz="2400"/>
              <a:t>Explain additional AWS security services</a:t>
            </a:r>
            <a:endParaRPr/>
          </a:p>
        </p:txBody>
      </p:sp>
      <p:sp>
        <p:nvSpPr>
          <p:cNvPr id="221" name="Google Shape;221;p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222" name="Google Shape;222;p2"/>
          <p:cNvPicPr preferRelativeResize="0"/>
          <p:nvPr/>
        </p:nvPicPr>
        <p:blipFill rotWithShape="1">
          <a:blip r:embed="rId3">
            <a:alphaModFix/>
          </a:blip>
          <a:srcRect b="0" l="0" r="0" t="0"/>
          <a:stretch/>
        </p:blipFill>
        <p:spPr>
          <a:xfrm>
            <a:off x="7917179" y="2509255"/>
            <a:ext cx="3776029" cy="25076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Shared responsibility model</a:t>
            </a:r>
            <a:endParaRPr/>
          </a:p>
        </p:txBody>
      </p:sp>
      <p:sp>
        <p:nvSpPr>
          <p:cNvPr id="228" name="Google Shape;228;p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Shared responsibility model</a:t>
            </a:r>
            <a:endParaRPr/>
          </a:p>
        </p:txBody>
      </p:sp>
      <p:sp>
        <p:nvSpPr>
          <p:cNvPr id="234" name="Google Shape;234;p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grpSp>
        <p:nvGrpSpPr>
          <p:cNvPr id="235" name="Google Shape;235;p4"/>
          <p:cNvGrpSpPr/>
          <p:nvPr/>
        </p:nvGrpSpPr>
        <p:grpSpPr>
          <a:xfrm>
            <a:off x="436473" y="1607464"/>
            <a:ext cx="11223525" cy="1647072"/>
            <a:chOff x="436473" y="1607464"/>
            <a:chExt cx="11223525" cy="1647072"/>
          </a:xfrm>
        </p:grpSpPr>
        <p:sp>
          <p:nvSpPr>
            <p:cNvPr id="236" name="Google Shape;236;p4"/>
            <p:cNvSpPr/>
            <p:nvPr/>
          </p:nvSpPr>
          <p:spPr>
            <a:xfrm>
              <a:off x="1488950" y="2650876"/>
              <a:ext cx="3373357" cy="60366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Client-side Data Encryption </a:t>
              </a:r>
              <a:endParaRPr/>
            </a:p>
          </p:txBody>
        </p:sp>
        <p:sp>
          <p:nvSpPr>
            <p:cNvPr id="237" name="Google Shape;237;p4"/>
            <p:cNvSpPr/>
            <p:nvPr/>
          </p:nvSpPr>
          <p:spPr>
            <a:xfrm>
              <a:off x="4862308" y="2648876"/>
              <a:ext cx="3417306" cy="60366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Server-side Encryption</a:t>
              </a:r>
              <a:endParaRPr/>
            </a:p>
          </p:txBody>
        </p:sp>
        <p:sp>
          <p:nvSpPr>
            <p:cNvPr id="238" name="Google Shape;238;p4"/>
            <p:cNvSpPr/>
            <p:nvPr/>
          </p:nvSpPr>
          <p:spPr>
            <a:xfrm>
              <a:off x="8242692" y="2648876"/>
              <a:ext cx="3417306" cy="60366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Networking Traffic Protection</a:t>
              </a:r>
              <a:endParaRPr/>
            </a:p>
          </p:txBody>
        </p:sp>
        <p:sp>
          <p:nvSpPr>
            <p:cNvPr id="239" name="Google Shape;239;p4"/>
            <p:cNvSpPr/>
            <p:nvPr/>
          </p:nvSpPr>
          <p:spPr>
            <a:xfrm>
              <a:off x="1488951" y="1607464"/>
              <a:ext cx="10171047" cy="35105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Customer Data</a:t>
              </a:r>
              <a:endParaRPr/>
            </a:p>
          </p:txBody>
        </p:sp>
        <p:sp>
          <p:nvSpPr>
            <p:cNvPr id="240" name="Google Shape;240;p4"/>
            <p:cNvSpPr/>
            <p:nvPr/>
          </p:nvSpPr>
          <p:spPr>
            <a:xfrm>
              <a:off x="1488951" y="1958516"/>
              <a:ext cx="10171047" cy="35105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Platform, Applications, Identity and Access Management</a:t>
              </a:r>
              <a:endParaRPr/>
            </a:p>
          </p:txBody>
        </p:sp>
        <p:sp>
          <p:nvSpPr>
            <p:cNvPr id="241" name="Google Shape;241;p4"/>
            <p:cNvSpPr/>
            <p:nvPr/>
          </p:nvSpPr>
          <p:spPr>
            <a:xfrm>
              <a:off x="1488951" y="2299824"/>
              <a:ext cx="10171047" cy="35105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Operating Systems, Network and Firewall Configuration</a:t>
              </a:r>
              <a:endParaRPr/>
            </a:p>
          </p:txBody>
        </p:sp>
        <p:sp>
          <p:nvSpPr>
            <p:cNvPr id="242" name="Google Shape;242;p4"/>
            <p:cNvSpPr/>
            <p:nvPr/>
          </p:nvSpPr>
          <p:spPr>
            <a:xfrm rot="-5400000">
              <a:off x="136662" y="1907275"/>
              <a:ext cx="1645072" cy="104545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Customers</a:t>
              </a:r>
              <a:endParaRPr/>
            </a:p>
          </p:txBody>
        </p:sp>
      </p:grpSp>
      <p:grpSp>
        <p:nvGrpSpPr>
          <p:cNvPr id="243" name="Google Shape;243;p4"/>
          <p:cNvGrpSpPr/>
          <p:nvPr/>
        </p:nvGrpSpPr>
        <p:grpSpPr>
          <a:xfrm>
            <a:off x="443497" y="3944867"/>
            <a:ext cx="11223527" cy="1643262"/>
            <a:chOff x="443497" y="3944867"/>
            <a:chExt cx="11223527" cy="1643262"/>
          </a:xfrm>
        </p:grpSpPr>
        <p:sp>
          <p:nvSpPr>
            <p:cNvPr id="244" name="Google Shape;244;p4"/>
            <p:cNvSpPr/>
            <p:nvPr/>
          </p:nvSpPr>
          <p:spPr>
            <a:xfrm rot="-5400000">
              <a:off x="144591" y="4243773"/>
              <a:ext cx="1643262" cy="104545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AWS</a:t>
              </a:r>
              <a:endParaRPr/>
            </a:p>
          </p:txBody>
        </p:sp>
        <p:sp>
          <p:nvSpPr>
            <p:cNvPr id="245" name="Google Shape;245;p4"/>
            <p:cNvSpPr/>
            <p:nvPr/>
          </p:nvSpPr>
          <p:spPr>
            <a:xfrm>
              <a:off x="1488950" y="3944867"/>
              <a:ext cx="10178074"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Software</a:t>
              </a:r>
              <a:endParaRPr/>
            </a:p>
          </p:txBody>
        </p:sp>
        <p:sp>
          <p:nvSpPr>
            <p:cNvPr id="246" name="Google Shape;246;p4"/>
            <p:cNvSpPr/>
            <p:nvPr/>
          </p:nvSpPr>
          <p:spPr>
            <a:xfrm>
              <a:off x="1488949" y="4285257"/>
              <a:ext cx="2514600"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Compute</a:t>
              </a:r>
              <a:endParaRPr/>
            </a:p>
          </p:txBody>
        </p:sp>
        <p:sp>
          <p:nvSpPr>
            <p:cNvPr id="247" name="Google Shape;247;p4"/>
            <p:cNvSpPr/>
            <p:nvPr/>
          </p:nvSpPr>
          <p:spPr>
            <a:xfrm>
              <a:off x="4003549" y="4285257"/>
              <a:ext cx="2514600"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Storage</a:t>
              </a:r>
              <a:endParaRPr/>
            </a:p>
          </p:txBody>
        </p:sp>
        <p:sp>
          <p:nvSpPr>
            <p:cNvPr id="248" name="Google Shape;248;p4"/>
            <p:cNvSpPr/>
            <p:nvPr/>
          </p:nvSpPr>
          <p:spPr>
            <a:xfrm>
              <a:off x="6518149" y="4285257"/>
              <a:ext cx="2514600"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Database</a:t>
              </a:r>
              <a:endParaRPr/>
            </a:p>
          </p:txBody>
        </p:sp>
        <p:sp>
          <p:nvSpPr>
            <p:cNvPr id="249" name="Google Shape;249;p4"/>
            <p:cNvSpPr/>
            <p:nvPr/>
          </p:nvSpPr>
          <p:spPr>
            <a:xfrm>
              <a:off x="9032750" y="4285257"/>
              <a:ext cx="2634274"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Networking</a:t>
              </a:r>
              <a:endParaRPr/>
            </a:p>
          </p:txBody>
        </p:sp>
        <p:sp>
          <p:nvSpPr>
            <p:cNvPr id="250" name="Google Shape;250;p4"/>
            <p:cNvSpPr/>
            <p:nvPr/>
          </p:nvSpPr>
          <p:spPr>
            <a:xfrm>
              <a:off x="1488948" y="4638138"/>
              <a:ext cx="10178075"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Hardware/AWS Global Infrastructure</a:t>
              </a:r>
              <a:endParaRPr/>
            </a:p>
          </p:txBody>
        </p:sp>
        <p:sp>
          <p:nvSpPr>
            <p:cNvPr id="251" name="Google Shape;251;p4"/>
            <p:cNvSpPr/>
            <p:nvPr/>
          </p:nvSpPr>
          <p:spPr>
            <a:xfrm>
              <a:off x="1488948" y="4984469"/>
              <a:ext cx="3380384" cy="60366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Regions</a:t>
              </a:r>
              <a:endParaRPr/>
            </a:p>
          </p:txBody>
        </p:sp>
        <p:sp>
          <p:nvSpPr>
            <p:cNvPr id="252" name="Google Shape;252;p4"/>
            <p:cNvSpPr/>
            <p:nvPr/>
          </p:nvSpPr>
          <p:spPr>
            <a:xfrm>
              <a:off x="4869333" y="4984469"/>
              <a:ext cx="3417306" cy="60366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Availability Zones</a:t>
              </a:r>
              <a:endParaRPr/>
            </a:p>
          </p:txBody>
        </p:sp>
        <p:sp>
          <p:nvSpPr>
            <p:cNvPr id="253" name="Google Shape;253;p4"/>
            <p:cNvSpPr/>
            <p:nvPr/>
          </p:nvSpPr>
          <p:spPr>
            <a:xfrm>
              <a:off x="8286639" y="4984469"/>
              <a:ext cx="3380384" cy="60366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Edge Locations</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Customers: Security </a:t>
            </a:r>
            <a:r>
              <a:rPr lang="en-US">
                <a:latin typeface="Arial"/>
                <a:ea typeface="Arial"/>
                <a:cs typeface="Arial"/>
                <a:sym typeface="Arial"/>
              </a:rPr>
              <a:t>IN</a:t>
            </a:r>
            <a:r>
              <a:rPr lang="en-US"/>
              <a:t> the cloud</a:t>
            </a:r>
            <a:endParaRPr/>
          </a:p>
        </p:txBody>
      </p:sp>
      <p:sp>
        <p:nvSpPr>
          <p:cNvPr id="259" name="Google Shape;259;p5"/>
          <p:cNvSpPr txBox="1"/>
          <p:nvPr/>
        </p:nvSpPr>
        <p:spPr>
          <a:xfrm>
            <a:off x="791633" y="4197096"/>
            <a:ext cx="5304367" cy="1633368"/>
          </a:xfrm>
          <a:prstGeom prst="rect">
            <a:avLst/>
          </a:prstGeom>
          <a:noFill/>
          <a:ln>
            <a:noFill/>
          </a:ln>
        </p:spPr>
        <p:txBody>
          <a:bodyPr anchorCtr="0" anchor="t" bIns="60950" lIns="121900" spcFirstLastPara="1" rIns="121900" wrap="square" tIns="60950">
            <a:noAutofit/>
          </a:bodyPr>
          <a:lstStyle/>
          <a:p>
            <a:pPr indent="-457200" lvl="0" marL="457200" marR="0" rtl="0" algn="l">
              <a:lnSpc>
                <a:spcPct val="11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Instance operating system</a:t>
            </a:r>
            <a:endParaRPr/>
          </a:p>
          <a:p>
            <a:pPr indent="-457200" lvl="0" marL="457200" marR="0" rtl="0" algn="l">
              <a:lnSpc>
                <a:spcPct val="110000"/>
              </a:lnSpc>
              <a:spcBef>
                <a:spcPts val="8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Applications</a:t>
            </a:r>
            <a:endParaRPr/>
          </a:p>
          <a:p>
            <a:pPr indent="-457200" lvl="0" marL="457200" marR="0" rtl="0" algn="l">
              <a:lnSpc>
                <a:spcPct val="110000"/>
              </a:lnSpc>
              <a:spcBef>
                <a:spcPts val="8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Security groups</a:t>
            </a:r>
            <a:endParaRPr/>
          </a:p>
        </p:txBody>
      </p:sp>
      <p:sp>
        <p:nvSpPr>
          <p:cNvPr id="260" name="Google Shape;260;p5"/>
          <p:cNvSpPr txBox="1"/>
          <p:nvPr/>
        </p:nvSpPr>
        <p:spPr>
          <a:xfrm>
            <a:off x="5684215" y="4197096"/>
            <a:ext cx="5578145" cy="1980502"/>
          </a:xfrm>
          <a:prstGeom prst="rect">
            <a:avLst/>
          </a:prstGeom>
          <a:noFill/>
          <a:ln>
            <a:noFill/>
          </a:ln>
        </p:spPr>
        <p:txBody>
          <a:bodyPr anchorCtr="0" anchor="t" bIns="60950" lIns="118850" spcFirstLastPara="1" rIns="121900" wrap="square" tIns="60950">
            <a:noAutofit/>
          </a:bodyPr>
          <a:lstStyle/>
          <a:p>
            <a:pPr indent="-457200" lvl="0" marL="457200" marR="0" rtl="0" algn="l">
              <a:lnSpc>
                <a:spcPct val="11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Host-based firewalls</a:t>
            </a:r>
            <a:endParaRPr/>
          </a:p>
          <a:p>
            <a:pPr indent="-457200" lvl="0" marL="457200" marR="0" rtl="0" algn="l">
              <a:lnSpc>
                <a:spcPct val="110000"/>
              </a:lnSpc>
              <a:spcBef>
                <a:spcPts val="8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Account management</a:t>
            </a:r>
            <a:endParaRPr/>
          </a:p>
        </p:txBody>
      </p:sp>
      <p:sp>
        <p:nvSpPr>
          <p:cNvPr id="261" name="Google Shape;261;p5"/>
          <p:cNvSpPr txBox="1"/>
          <p:nvPr/>
        </p:nvSpPr>
        <p:spPr>
          <a:xfrm>
            <a:off x="419100" y="3468420"/>
            <a:ext cx="88315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Arial"/>
                <a:ea typeface="Arial"/>
                <a:cs typeface="Arial"/>
                <a:sym typeface="Arial"/>
              </a:rPr>
              <a:t>Examples of customer responsibilities include:</a:t>
            </a:r>
            <a:endParaRPr/>
          </a:p>
        </p:txBody>
      </p:sp>
      <p:sp>
        <p:nvSpPr>
          <p:cNvPr id="262" name="Google Shape;262;p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grpSp>
        <p:nvGrpSpPr>
          <p:cNvPr id="263" name="Google Shape;263;p5"/>
          <p:cNvGrpSpPr/>
          <p:nvPr/>
        </p:nvGrpSpPr>
        <p:grpSpPr>
          <a:xfrm>
            <a:off x="438912" y="1609344"/>
            <a:ext cx="11223525" cy="1647072"/>
            <a:chOff x="436473" y="1607464"/>
            <a:chExt cx="11223525" cy="1647072"/>
          </a:xfrm>
        </p:grpSpPr>
        <p:sp>
          <p:nvSpPr>
            <p:cNvPr id="264" name="Google Shape;264;p5"/>
            <p:cNvSpPr/>
            <p:nvPr/>
          </p:nvSpPr>
          <p:spPr>
            <a:xfrm>
              <a:off x="1488950" y="2650876"/>
              <a:ext cx="3373357" cy="60366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Client-side Data Encryption </a:t>
              </a:r>
              <a:endParaRPr/>
            </a:p>
          </p:txBody>
        </p:sp>
        <p:sp>
          <p:nvSpPr>
            <p:cNvPr id="265" name="Google Shape;265;p5"/>
            <p:cNvSpPr/>
            <p:nvPr/>
          </p:nvSpPr>
          <p:spPr>
            <a:xfrm>
              <a:off x="4862308" y="2648876"/>
              <a:ext cx="3417306" cy="60366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Server-side Encryption</a:t>
              </a:r>
              <a:endParaRPr/>
            </a:p>
          </p:txBody>
        </p:sp>
        <p:sp>
          <p:nvSpPr>
            <p:cNvPr id="266" name="Google Shape;266;p5"/>
            <p:cNvSpPr/>
            <p:nvPr/>
          </p:nvSpPr>
          <p:spPr>
            <a:xfrm>
              <a:off x="8242692" y="2648876"/>
              <a:ext cx="3417306" cy="60366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Networking Traffic Protection</a:t>
              </a:r>
              <a:endParaRPr/>
            </a:p>
          </p:txBody>
        </p:sp>
        <p:sp>
          <p:nvSpPr>
            <p:cNvPr id="267" name="Google Shape;267;p5"/>
            <p:cNvSpPr/>
            <p:nvPr/>
          </p:nvSpPr>
          <p:spPr>
            <a:xfrm>
              <a:off x="1488951" y="1607464"/>
              <a:ext cx="10171047" cy="35105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Customer Data</a:t>
              </a:r>
              <a:endParaRPr/>
            </a:p>
          </p:txBody>
        </p:sp>
        <p:sp>
          <p:nvSpPr>
            <p:cNvPr id="268" name="Google Shape;268;p5"/>
            <p:cNvSpPr/>
            <p:nvPr/>
          </p:nvSpPr>
          <p:spPr>
            <a:xfrm>
              <a:off x="1488951" y="1958516"/>
              <a:ext cx="10171047" cy="35105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Platform, Applications, Identity and Access Management</a:t>
              </a:r>
              <a:endParaRPr/>
            </a:p>
          </p:txBody>
        </p:sp>
        <p:sp>
          <p:nvSpPr>
            <p:cNvPr id="269" name="Google Shape;269;p5"/>
            <p:cNvSpPr/>
            <p:nvPr/>
          </p:nvSpPr>
          <p:spPr>
            <a:xfrm>
              <a:off x="1488951" y="2299824"/>
              <a:ext cx="10171047" cy="35105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Operating Systems, Network and Firewall Configuration</a:t>
              </a:r>
              <a:endParaRPr/>
            </a:p>
          </p:txBody>
        </p:sp>
        <p:sp>
          <p:nvSpPr>
            <p:cNvPr id="270" name="Google Shape;270;p5"/>
            <p:cNvSpPr/>
            <p:nvPr/>
          </p:nvSpPr>
          <p:spPr>
            <a:xfrm rot="-5400000">
              <a:off x="136662" y="1907275"/>
              <a:ext cx="1645072" cy="104545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Customers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Security </a:t>
            </a:r>
            <a:r>
              <a:rPr lang="en-US">
                <a:latin typeface="Arial"/>
                <a:ea typeface="Arial"/>
                <a:cs typeface="Arial"/>
                <a:sym typeface="Arial"/>
              </a:rPr>
              <a:t>OF</a:t>
            </a:r>
            <a:r>
              <a:rPr lang="en-US"/>
              <a:t> the cloud</a:t>
            </a:r>
            <a:endParaRPr/>
          </a:p>
        </p:txBody>
      </p:sp>
      <p:sp>
        <p:nvSpPr>
          <p:cNvPr id="276" name="Google Shape;276;p6"/>
          <p:cNvSpPr txBox="1"/>
          <p:nvPr/>
        </p:nvSpPr>
        <p:spPr>
          <a:xfrm>
            <a:off x="821188" y="4193854"/>
            <a:ext cx="5304367" cy="1633368"/>
          </a:xfrm>
          <a:prstGeom prst="rect">
            <a:avLst/>
          </a:prstGeom>
          <a:noFill/>
          <a:ln>
            <a:noFill/>
          </a:ln>
        </p:spPr>
        <p:txBody>
          <a:bodyPr anchorCtr="0" anchor="t" bIns="60950" lIns="121900" spcFirstLastPara="1" rIns="121900" wrap="square" tIns="60950">
            <a:noAutofit/>
          </a:bodyPr>
          <a:lstStyle/>
          <a:p>
            <a:pPr indent="-457200" lvl="0" marL="457200" marR="0" rtl="0" algn="l">
              <a:lnSpc>
                <a:spcPct val="90000"/>
              </a:lnSpc>
              <a:spcBef>
                <a:spcPts val="0"/>
              </a:spcBef>
              <a:spcAft>
                <a:spcPts val="0"/>
              </a:spcAft>
              <a:buClr>
                <a:schemeClr val="dk1"/>
              </a:buClr>
              <a:buSzPts val="2400"/>
              <a:buFont typeface="Arial"/>
              <a:buChar char="•"/>
            </a:pPr>
            <a:r>
              <a:rPr b="0" i="0" lang="en-US" sz="2400">
                <a:solidFill>
                  <a:schemeClr val="dk1"/>
                </a:solidFill>
                <a:latin typeface="Arial"/>
                <a:ea typeface="Arial"/>
                <a:cs typeface="Arial"/>
                <a:sym typeface="Arial"/>
              </a:rPr>
              <a:t>Physical security of data centers</a:t>
            </a:r>
            <a:endParaRPr/>
          </a:p>
          <a:p>
            <a:pPr indent="-457200" lvl="0" marL="457200" marR="0" rtl="0" algn="l">
              <a:lnSpc>
                <a:spcPct val="110000"/>
              </a:lnSpc>
              <a:spcBef>
                <a:spcPts val="1200"/>
              </a:spcBef>
              <a:spcAft>
                <a:spcPts val="0"/>
              </a:spcAft>
              <a:buClr>
                <a:schemeClr val="dk1"/>
              </a:buClr>
              <a:buSzPts val="2400"/>
              <a:buFont typeface="Arial"/>
              <a:buChar char="•"/>
            </a:pPr>
            <a:r>
              <a:rPr b="0" i="0" lang="en-US" sz="2400">
                <a:solidFill>
                  <a:schemeClr val="dk1"/>
                </a:solidFill>
                <a:latin typeface="Arial"/>
                <a:ea typeface="Arial"/>
                <a:cs typeface="Arial"/>
                <a:sym typeface="Arial"/>
              </a:rPr>
              <a:t>Hardware and software infrastructure</a:t>
            </a:r>
            <a:endParaRPr/>
          </a:p>
        </p:txBody>
      </p:sp>
      <p:sp>
        <p:nvSpPr>
          <p:cNvPr id="277" name="Google Shape;277;p6"/>
          <p:cNvSpPr txBox="1"/>
          <p:nvPr/>
        </p:nvSpPr>
        <p:spPr>
          <a:xfrm>
            <a:off x="6417733" y="4193854"/>
            <a:ext cx="4953079" cy="1980502"/>
          </a:xfrm>
          <a:prstGeom prst="rect">
            <a:avLst/>
          </a:prstGeom>
          <a:noFill/>
          <a:ln>
            <a:noFill/>
          </a:ln>
        </p:spPr>
        <p:txBody>
          <a:bodyPr anchorCtr="0" anchor="t" bIns="60950" lIns="121900" spcFirstLastPara="1" rIns="121900" wrap="square" tIns="60950">
            <a:noAutofit/>
          </a:bodyPr>
          <a:lstStyle/>
          <a:p>
            <a:pPr indent="-457200" lvl="0" marL="457200" marR="0" rtl="0" algn="l">
              <a:lnSpc>
                <a:spcPct val="110000"/>
              </a:lnSpc>
              <a:spcBef>
                <a:spcPts val="0"/>
              </a:spcBef>
              <a:spcAft>
                <a:spcPts val="0"/>
              </a:spcAft>
              <a:buClr>
                <a:schemeClr val="dk1"/>
              </a:buClr>
              <a:buSzPts val="2400"/>
              <a:buFont typeface="Arial"/>
              <a:buChar char="•"/>
            </a:pPr>
            <a:r>
              <a:rPr b="0" i="0" lang="en-US" sz="2400">
                <a:solidFill>
                  <a:schemeClr val="dk1"/>
                </a:solidFill>
                <a:latin typeface="Arial"/>
                <a:ea typeface="Arial"/>
                <a:cs typeface="Arial"/>
                <a:sym typeface="Arial"/>
              </a:rPr>
              <a:t>Network infrastructure</a:t>
            </a:r>
            <a:endParaRPr/>
          </a:p>
          <a:p>
            <a:pPr indent="-457200" lvl="0" marL="457200" marR="0" rtl="0" algn="l">
              <a:lnSpc>
                <a:spcPct val="110000"/>
              </a:lnSpc>
              <a:spcBef>
                <a:spcPts val="1200"/>
              </a:spcBef>
              <a:spcAft>
                <a:spcPts val="0"/>
              </a:spcAft>
              <a:buClr>
                <a:schemeClr val="dk1"/>
              </a:buClr>
              <a:buSzPts val="2400"/>
              <a:buFont typeface="Arial"/>
              <a:buChar char="•"/>
            </a:pPr>
            <a:r>
              <a:rPr b="0" i="0" lang="en-US" sz="2400">
                <a:solidFill>
                  <a:schemeClr val="dk1"/>
                </a:solidFill>
                <a:latin typeface="Arial"/>
                <a:ea typeface="Arial"/>
                <a:cs typeface="Arial"/>
                <a:sym typeface="Arial"/>
              </a:rPr>
              <a:t>Virtualization infrastructure</a:t>
            </a:r>
            <a:endParaRPr/>
          </a:p>
        </p:txBody>
      </p:sp>
      <p:sp>
        <p:nvSpPr>
          <p:cNvPr id="278" name="Google Shape;278;p6"/>
          <p:cNvSpPr txBox="1"/>
          <p:nvPr/>
        </p:nvSpPr>
        <p:spPr>
          <a:xfrm>
            <a:off x="419100" y="3468420"/>
            <a:ext cx="686918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Examples of AWS responsibilities include:</a:t>
            </a:r>
            <a:endParaRPr/>
          </a:p>
        </p:txBody>
      </p:sp>
      <p:sp>
        <p:nvSpPr>
          <p:cNvPr id="279" name="Google Shape;279;p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grpSp>
        <p:nvGrpSpPr>
          <p:cNvPr id="280" name="Google Shape;280;p6"/>
          <p:cNvGrpSpPr/>
          <p:nvPr/>
        </p:nvGrpSpPr>
        <p:grpSpPr>
          <a:xfrm>
            <a:off x="438912" y="1609344"/>
            <a:ext cx="11223527" cy="1643262"/>
            <a:chOff x="443497" y="3944867"/>
            <a:chExt cx="11223527" cy="1643262"/>
          </a:xfrm>
        </p:grpSpPr>
        <p:sp>
          <p:nvSpPr>
            <p:cNvPr id="281" name="Google Shape;281;p6"/>
            <p:cNvSpPr/>
            <p:nvPr/>
          </p:nvSpPr>
          <p:spPr>
            <a:xfrm rot="-5400000">
              <a:off x="144591" y="4243773"/>
              <a:ext cx="1643262" cy="104545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AWS</a:t>
              </a:r>
              <a:endParaRPr/>
            </a:p>
          </p:txBody>
        </p:sp>
        <p:sp>
          <p:nvSpPr>
            <p:cNvPr id="282" name="Google Shape;282;p6"/>
            <p:cNvSpPr/>
            <p:nvPr/>
          </p:nvSpPr>
          <p:spPr>
            <a:xfrm>
              <a:off x="1488950" y="3944867"/>
              <a:ext cx="10178074"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Software</a:t>
              </a:r>
              <a:endParaRPr/>
            </a:p>
          </p:txBody>
        </p:sp>
        <p:sp>
          <p:nvSpPr>
            <p:cNvPr id="283" name="Google Shape;283;p6"/>
            <p:cNvSpPr/>
            <p:nvPr/>
          </p:nvSpPr>
          <p:spPr>
            <a:xfrm>
              <a:off x="1488949" y="4285257"/>
              <a:ext cx="2514600"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Compute</a:t>
              </a:r>
              <a:endParaRPr/>
            </a:p>
          </p:txBody>
        </p:sp>
        <p:sp>
          <p:nvSpPr>
            <p:cNvPr id="284" name="Google Shape;284;p6"/>
            <p:cNvSpPr/>
            <p:nvPr/>
          </p:nvSpPr>
          <p:spPr>
            <a:xfrm>
              <a:off x="4003549" y="4285257"/>
              <a:ext cx="2514600"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Storage</a:t>
              </a:r>
              <a:endParaRPr/>
            </a:p>
          </p:txBody>
        </p:sp>
        <p:sp>
          <p:nvSpPr>
            <p:cNvPr id="285" name="Google Shape;285;p6"/>
            <p:cNvSpPr/>
            <p:nvPr/>
          </p:nvSpPr>
          <p:spPr>
            <a:xfrm>
              <a:off x="6518149" y="4285257"/>
              <a:ext cx="2514600"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Database</a:t>
              </a:r>
              <a:endParaRPr/>
            </a:p>
          </p:txBody>
        </p:sp>
        <p:sp>
          <p:nvSpPr>
            <p:cNvPr id="286" name="Google Shape;286;p6"/>
            <p:cNvSpPr/>
            <p:nvPr/>
          </p:nvSpPr>
          <p:spPr>
            <a:xfrm>
              <a:off x="9032750" y="4285257"/>
              <a:ext cx="2634274"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Networking</a:t>
              </a:r>
              <a:endParaRPr/>
            </a:p>
          </p:txBody>
        </p:sp>
        <p:sp>
          <p:nvSpPr>
            <p:cNvPr id="287" name="Google Shape;287;p6"/>
            <p:cNvSpPr/>
            <p:nvPr/>
          </p:nvSpPr>
          <p:spPr>
            <a:xfrm>
              <a:off x="1488948" y="4638138"/>
              <a:ext cx="10178075" cy="351052"/>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Hardware/AWS Global Infrastructure</a:t>
              </a:r>
              <a:endParaRPr/>
            </a:p>
          </p:txBody>
        </p:sp>
        <p:sp>
          <p:nvSpPr>
            <p:cNvPr id="288" name="Google Shape;288;p6"/>
            <p:cNvSpPr/>
            <p:nvPr/>
          </p:nvSpPr>
          <p:spPr>
            <a:xfrm>
              <a:off x="1488948" y="4984469"/>
              <a:ext cx="3380384" cy="60366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Regions</a:t>
              </a:r>
              <a:endParaRPr/>
            </a:p>
          </p:txBody>
        </p:sp>
        <p:sp>
          <p:nvSpPr>
            <p:cNvPr id="289" name="Google Shape;289;p6"/>
            <p:cNvSpPr/>
            <p:nvPr/>
          </p:nvSpPr>
          <p:spPr>
            <a:xfrm>
              <a:off x="4869333" y="4984469"/>
              <a:ext cx="3417306" cy="60366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Availability Zones</a:t>
              </a:r>
              <a:endParaRPr/>
            </a:p>
          </p:txBody>
        </p:sp>
        <p:sp>
          <p:nvSpPr>
            <p:cNvPr id="290" name="Google Shape;290;p6"/>
            <p:cNvSpPr/>
            <p:nvPr/>
          </p:nvSpPr>
          <p:spPr>
            <a:xfrm>
              <a:off x="8286639" y="4984469"/>
              <a:ext cx="3380384" cy="60366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Edge Locations</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Review: Shared responsibility model</a:t>
            </a:r>
            <a:endParaRPr/>
          </a:p>
        </p:txBody>
      </p:sp>
      <p:sp>
        <p:nvSpPr>
          <p:cNvPr id="296" name="Google Shape;296;p7"/>
          <p:cNvSpPr txBox="1"/>
          <p:nvPr/>
        </p:nvSpPr>
        <p:spPr>
          <a:xfrm>
            <a:off x="1045368" y="1279005"/>
            <a:ext cx="101012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Arial"/>
                <a:ea typeface="Arial"/>
                <a:cs typeface="Arial"/>
                <a:sym typeface="Arial"/>
              </a:rPr>
              <a:t>Are these tasks the responsibilities of </a:t>
            </a:r>
            <a:r>
              <a:rPr b="1" lang="en-US" sz="2800">
                <a:solidFill>
                  <a:schemeClr val="dk1"/>
                </a:solidFill>
                <a:latin typeface="Arial"/>
                <a:ea typeface="Arial"/>
                <a:cs typeface="Arial"/>
                <a:sym typeface="Arial"/>
              </a:rPr>
              <a:t>customers</a:t>
            </a:r>
            <a:r>
              <a:rPr b="1" lang="en-US" sz="2800">
                <a:solidFill>
                  <a:srgbClr val="2D26AD"/>
                </a:solidFill>
                <a:latin typeface="Arial"/>
                <a:ea typeface="Arial"/>
                <a:cs typeface="Arial"/>
                <a:sym typeface="Arial"/>
              </a:rPr>
              <a:t> </a:t>
            </a:r>
            <a:r>
              <a:rPr lang="en-US" sz="2800">
                <a:solidFill>
                  <a:schemeClr val="dk1"/>
                </a:solidFill>
                <a:latin typeface="Arial"/>
                <a:ea typeface="Arial"/>
                <a:cs typeface="Arial"/>
                <a:sym typeface="Arial"/>
              </a:rPr>
              <a:t>or </a:t>
            </a:r>
            <a:r>
              <a:rPr b="1" lang="en-US" sz="2800">
                <a:solidFill>
                  <a:schemeClr val="dk1"/>
                </a:solidFill>
                <a:latin typeface="Arial"/>
                <a:ea typeface="Arial"/>
                <a:cs typeface="Arial"/>
                <a:sym typeface="Arial"/>
              </a:rPr>
              <a:t>AWS</a:t>
            </a:r>
            <a:r>
              <a:rPr lang="en-US" sz="2800">
                <a:solidFill>
                  <a:schemeClr val="dk1"/>
                </a:solidFill>
                <a:latin typeface="Arial"/>
                <a:ea typeface="Arial"/>
                <a:cs typeface="Arial"/>
                <a:sym typeface="Arial"/>
              </a:rPr>
              <a:t>?</a:t>
            </a:r>
            <a:endParaRPr/>
          </a:p>
        </p:txBody>
      </p:sp>
      <p:sp>
        <p:nvSpPr>
          <p:cNvPr id="297" name="Google Shape;297;p7"/>
          <p:cNvSpPr/>
          <p:nvPr/>
        </p:nvSpPr>
        <p:spPr>
          <a:xfrm>
            <a:off x="2105025" y="1987594"/>
            <a:ext cx="3468757" cy="1128712"/>
          </a:xfrm>
          <a:prstGeom prst="rect">
            <a:avLst/>
          </a:prstGeom>
          <a:no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1. Configuring security groups on Amazon EC2 instances</a:t>
            </a:r>
            <a:endParaRPr/>
          </a:p>
        </p:txBody>
      </p:sp>
      <p:sp>
        <p:nvSpPr>
          <p:cNvPr id="298" name="Google Shape;298;p7"/>
          <p:cNvSpPr/>
          <p:nvPr/>
        </p:nvSpPr>
        <p:spPr>
          <a:xfrm>
            <a:off x="6618218" y="1987594"/>
            <a:ext cx="3468757" cy="1128712"/>
          </a:xfrm>
          <a:prstGeom prst="rect">
            <a:avLst/>
          </a:prstGeom>
          <a:no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2. Maintaining network infrastructure</a:t>
            </a:r>
            <a:endParaRPr/>
          </a:p>
        </p:txBody>
      </p:sp>
      <p:sp>
        <p:nvSpPr>
          <p:cNvPr id="299" name="Google Shape;299;p7"/>
          <p:cNvSpPr/>
          <p:nvPr/>
        </p:nvSpPr>
        <p:spPr>
          <a:xfrm>
            <a:off x="2105024" y="3514931"/>
            <a:ext cx="3468757" cy="1128712"/>
          </a:xfrm>
          <a:prstGeom prst="rect">
            <a:avLst/>
          </a:prstGeom>
          <a:no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3. Implementing physical security controls at data centers</a:t>
            </a:r>
            <a:endParaRPr/>
          </a:p>
        </p:txBody>
      </p:sp>
      <p:sp>
        <p:nvSpPr>
          <p:cNvPr id="300" name="Google Shape;300;p7"/>
          <p:cNvSpPr/>
          <p:nvPr/>
        </p:nvSpPr>
        <p:spPr>
          <a:xfrm>
            <a:off x="6618217" y="3514931"/>
            <a:ext cx="3468757" cy="1128712"/>
          </a:xfrm>
          <a:prstGeom prst="rect">
            <a:avLst/>
          </a:prstGeom>
          <a:no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4. Patching software on Amazon EC2 instances</a:t>
            </a:r>
            <a:endParaRPr/>
          </a:p>
        </p:txBody>
      </p:sp>
      <p:sp>
        <p:nvSpPr>
          <p:cNvPr id="301" name="Google Shape;301;p7"/>
          <p:cNvSpPr/>
          <p:nvPr/>
        </p:nvSpPr>
        <p:spPr>
          <a:xfrm>
            <a:off x="2105023" y="5042268"/>
            <a:ext cx="3468757" cy="1128712"/>
          </a:xfrm>
          <a:prstGeom prst="rect">
            <a:avLst/>
          </a:prstGeom>
          <a:no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5. Maintaining servers that run Amazon EC2 instances</a:t>
            </a:r>
            <a:endParaRPr/>
          </a:p>
        </p:txBody>
      </p:sp>
      <p:sp>
        <p:nvSpPr>
          <p:cNvPr id="302" name="Google Shape;302;p7"/>
          <p:cNvSpPr/>
          <p:nvPr/>
        </p:nvSpPr>
        <p:spPr>
          <a:xfrm>
            <a:off x="6618217" y="5042268"/>
            <a:ext cx="3468757" cy="1128712"/>
          </a:xfrm>
          <a:prstGeom prst="rect">
            <a:avLst/>
          </a:prstGeom>
          <a:no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6. Setting permissions for Amazon S3 objects</a:t>
            </a:r>
            <a:endParaRPr/>
          </a:p>
        </p:txBody>
      </p:sp>
      <p:sp>
        <p:nvSpPr>
          <p:cNvPr id="303" name="Google Shape;303;p7"/>
          <p:cNvSpPr/>
          <p:nvPr/>
        </p:nvSpPr>
        <p:spPr>
          <a:xfrm>
            <a:off x="2103120" y="1984248"/>
            <a:ext cx="3468757" cy="1128712"/>
          </a:xfrm>
          <a:prstGeom prst="rect">
            <a:avLst/>
          </a:prstGeom>
          <a:solidFill>
            <a:schemeClr val="accent4"/>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349250" lvl="0" marL="349250" marR="0" rtl="0" algn="l">
              <a:spcBef>
                <a:spcPts val="0"/>
              </a:spcBef>
              <a:spcAft>
                <a:spcPts val="0"/>
              </a:spcAft>
              <a:buClr>
                <a:srgbClr val="000000"/>
              </a:buClr>
              <a:buSzPts val="2000"/>
              <a:buFont typeface="Arial"/>
              <a:buAutoNum type="arabicPeriod"/>
            </a:pPr>
            <a:r>
              <a:rPr lang="en-US" sz="2000">
                <a:solidFill>
                  <a:srgbClr val="000000"/>
                </a:solidFill>
                <a:latin typeface="Arial"/>
                <a:ea typeface="Arial"/>
                <a:cs typeface="Arial"/>
                <a:sym typeface="Arial"/>
              </a:rPr>
              <a:t>Configuring security groups on Amazon EC2 instances</a:t>
            </a:r>
            <a:endParaRPr/>
          </a:p>
        </p:txBody>
      </p:sp>
      <p:sp>
        <p:nvSpPr>
          <p:cNvPr id="304" name="Google Shape;304;p7"/>
          <p:cNvSpPr/>
          <p:nvPr/>
        </p:nvSpPr>
        <p:spPr>
          <a:xfrm>
            <a:off x="6620256" y="1984248"/>
            <a:ext cx="3468757" cy="1128712"/>
          </a:xfrm>
          <a:prstGeom prst="rect">
            <a:avLst/>
          </a:prstGeom>
          <a:solidFill>
            <a:schemeClr val="accent3"/>
          </a:solidFill>
          <a:ln cap="flat" cmpd="sng" w="12700">
            <a:solidFill>
              <a:srgbClr val="AC11AC"/>
            </a:solidFill>
            <a:prstDash val="solid"/>
            <a:miter lim="800000"/>
            <a:headEnd len="sm" w="sm" type="none"/>
            <a:tailEnd len="sm" w="sm" type="none"/>
          </a:ln>
        </p:spPr>
        <p:txBody>
          <a:bodyPr anchorCtr="0" anchor="ctr" bIns="45700" lIns="91425" spcFirstLastPara="1" rIns="91425" wrap="square" tIns="45700">
            <a:noAutofit/>
          </a:bodyPr>
          <a:lstStyle/>
          <a:p>
            <a:pPr indent="-349250" lvl="0" marL="349250" marR="0" rtl="0" algn="l">
              <a:spcBef>
                <a:spcPts val="0"/>
              </a:spcBef>
              <a:spcAft>
                <a:spcPts val="0"/>
              </a:spcAft>
              <a:buClr>
                <a:srgbClr val="000000"/>
              </a:buClr>
              <a:buSzPts val="2000"/>
              <a:buFont typeface="Arial"/>
              <a:buAutoNum type="arabicPeriod" startAt="2"/>
            </a:pPr>
            <a:r>
              <a:rPr lang="en-US" sz="2000">
                <a:solidFill>
                  <a:srgbClr val="000000"/>
                </a:solidFill>
                <a:latin typeface="Arial"/>
                <a:ea typeface="Arial"/>
                <a:cs typeface="Arial"/>
                <a:sym typeface="Arial"/>
              </a:rPr>
              <a:t>Maintaining network infrastructure</a:t>
            </a:r>
            <a:endParaRPr/>
          </a:p>
        </p:txBody>
      </p:sp>
      <p:sp>
        <p:nvSpPr>
          <p:cNvPr id="305" name="Google Shape;305;p7"/>
          <p:cNvSpPr/>
          <p:nvPr/>
        </p:nvSpPr>
        <p:spPr>
          <a:xfrm>
            <a:off x="6620256" y="3511296"/>
            <a:ext cx="3468757" cy="1128712"/>
          </a:xfrm>
          <a:prstGeom prst="rect">
            <a:avLst/>
          </a:prstGeom>
          <a:solidFill>
            <a:schemeClr val="accent4"/>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349250" lvl="0" marL="349250" marR="0" rtl="0" algn="l">
              <a:spcBef>
                <a:spcPts val="0"/>
              </a:spcBef>
              <a:spcAft>
                <a:spcPts val="0"/>
              </a:spcAft>
              <a:buClr>
                <a:srgbClr val="000000"/>
              </a:buClr>
              <a:buSzPts val="2000"/>
              <a:buFont typeface="Arial"/>
              <a:buAutoNum type="arabicPeriod" startAt="4"/>
            </a:pPr>
            <a:r>
              <a:rPr lang="en-US" sz="2000">
                <a:solidFill>
                  <a:srgbClr val="000000"/>
                </a:solidFill>
                <a:latin typeface="Arial"/>
                <a:ea typeface="Arial"/>
                <a:cs typeface="Arial"/>
                <a:sym typeface="Arial"/>
              </a:rPr>
              <a:t>Patching software on Amazon EC2 instances</a:t>
            </a:r>
            <a:endParaRPr/>
          </a:p>
        </p:txBody>
      </p:sp>
      <p:sp>
        <p:nvSpPr>
          <p:cNvPr id="306" name="Google Shape;306;p7"/>
          <p:cNvSpPr/>
          <p:nvPr/>
        </p:nvSpPr>
        <p:spPr>
          <a:xfrm>
            <a:off x="6620256" y="5038344"/>
            <a:ext cx="3468757" cy="1128712"/>
          </a:xfrm>
          <a:prstGeom prst="rect">
            <a:avLst/>
          </a:prstGeom>
          <a:solidFill>
            <a:schemeClr val="accent4"/>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349250" lvl="0" marL="349250" marR="0" rtl="0" algn="l">
              <a:spcBef>
                <a:spcPts val="0"/>
              </a:spcBef>
              <a:spcAft>
                <a:spcPts val="0"/>
              </a:spcAft>
              <a:buClr>
                <a:srgbClr val="000000"/>
              </a:buClr>
              <a:buSzPts val="2000"/>
              <a:buFont typeface="Arial"/>
              <a:buAutoNum type="arabicPeriod" startAt="6"/>
            </a:pPr>
            <a:r>
              <a:rPr lang="en-US" sz="2000">
                <a:solidFill>
                  <a:srgbClr val="000000"/>
                </a:solidFill>
                <a:latin typeface="Arial"/>
                <a:ea typeface="Arial"/>
                <a:cs typeface="Arial"/>
                <a:sym typeface="Arial"/>
              </a:rPr>
              <a:t>Setting permissions for Amazon S3 objects</a:t>
            </a:r>
            <a:endParaRPr/>
          </a:p>
        </p:txBody>
      </p:sp>
      <p:sp>
        <p:nvSpPr>
          <p:cNvPr id="307" name="Google Shape;307;p7"/>
          <p:cNvSpPr/>
          <p:nvPr/>
        </p:nvSpPr>
        <p:spPr>
          <a:xfrm>
            <a:off x="2103120" y="3511296"/>
            <a:ext cx="3468757" cy="1128712"/>
          </a:xfrm>
          <a:prstGeom prst="rect">
            <a:avLst/>
          </a:prstGeom>
          <a:solidFill>
            <a:schemeClr val="accent3"/>
          </a:solidFill>
          <a:ln cap="flat" cmpd="sng" w="12700">
            <a:solidFill>
              <a:srgbClr val="AC11AC"/>
            </a:solidFill>
            <a:prstDash val="solid"/>
            <a:miter lim="800000"/>
            <a:headEnd len="sm" w="sm" type="none"/>
            <a:tailEnd len="sm" w="sm" type="none"/>
          </a:ln>
        </p:spPr>
        <p:txBody>
          <a:bodyPr anchorCtr="0" anchor="ctr" bIns="45700" lIns="91425" spcFirstLastPara="1" rIns="91425" wrap="square" tIns="45700">
            <a:noAutofit/>
          </a:bodyPr>
          <a:lstStyle/>
          <a:p>
            <a:pPr indent="-349250" lvl="0" marL="349250" marR="0" rtl="0" algn="l">
              <a:spcBef>
                <a:spcPts val="0"/>
              </a:spcBef>
              <a:spcAft>
                <a:spcPts val="0"/>
              </a:spcAft>
              <a:buClr>
                <a:srgbClr val="000000"/>
              </a:buClr>
              <a:buSzPts val="2000"/>
              <a:buFont typeface="Arial"/>
              <a:buAutoNum type="arabicPeriod" startAt="3"/>
            </a:pPr>
            <a:r>
              <a:rPr lang="en-US" sz="2000">
                <a:solidFill>
                  <a:srgbClr val="000000"/>
                </a:solidFill>
                <a:latin typeface="Arial"/>
                <a:ea typeface="Arial"/>
                <a:cs typeface="Arial"/>
                <a:sym typeface="Arial"/>
              </a:rPr>
              <a:t>Implementing physical security controls at data centers</a:t>
            </a:r>
            <a:endParaRPr/>
          </a:p>
        </p:txBody>
      </p:sp>
      <p:sp>
        <p:nvSpPr>
          <p:cNvPr id="308" name="Google Shape;308;p7"/>
          <p:cNvSpPr/>
          <p:nvPr/>
        </p:nvSpPr>
        <p:spPr>
          <a:xfrm>
            <a:off x="2103120" y="5038344"/>
            <a:ext cx="3468757" cy="1128712"/>
          </a:xfrm>
          <a:prstGeom prst="rect">
            <a:avLst/>
          </a:prstGeom>
          <a:solidFill>
            <a:schemeClr val="accent3"/>
          </a:solidFill>
          <a:ln cap="flat" cmpd="sng" w="12700">
            <a:solidFill>
              <a:srgbClr val="AC11AC"/>
            </a:solidFill>
            <a:prstDash val="solid"/>
            <a:miter lim="800000"/>
            <a:headEnd len="sm" w="sm" type="none"/>
            <a:tailEnd len="sm" w="sm" type="none"/>
          </a:ln>
        </p:spPr>
        <p:txBody>
          <a:bodyPr anchorCtr="0" anchor="ctr" bIns="45700" lIns="91425" spcFirstLastPara="1" rIns="91425" wrap="square" tIns="45700">
            <a:noAutofit/>
          </a:bodyPr>
          <a:lstStyle/>
          <a:p>
            <a:pPr indent="-349250" lvl="0" marL="349250" marR="0" rtl="0" algn="l">
              <a:spcBef>
                <a:spcPts val="0"/>
              </a:spcBef>
              <a:spcAft>
                <a:spcPts val="0"/>
              </a:spcAft>
              <a:buClr>
                <a:srgbClr val="000000"/>
              </a:buClr>
              <a:buSzPts val="2000"/>
              <a:buFont typeface="Arial"/>
              <a:buAutoNum type="arabicPeriod" startAt="5"/>
            </a:pPr>
            <a:r>
              <a:rPr lang="en-US" sz="2000">
                <a:solidFill>
                  <a:srgbClr val="000000"/>
                </a:solidFill>
                <a:latin typeface="Arial"/>
                <a:ea typeface="Arial"/>
                <a:cs typeface="Arial"/>
                <a:sym typeface="Arial"/>
              </a:rPr>
              <a:t>Maintaining servers that run Amazon EC2 instances</a:t>
            </a:r>
            <a:endParaRPr/>
          </a:p>
        </p:txBody>
      </p:sp>
      <p:sp>
        <p:nvSpPr>
          <p:cNvPr id="309" name="Google Shape;309;p7"/>
          <p:cNvSpPr/>
          <p:nvPr/>
        </p:nvSpPr>
        <p:spPr>
          <a:xfrm>
            <a:off x="347662" y="2313677"/>
            <a:ext cx="1395411" cy="474120"/>
          </a:xfrm>
          <a:prstGeom prst="rect">
            <a:avLst/>
          </a:prstGeom>
          <a:solidFill>
            <a:schemeClr val="accent4"/>
          </a:solidFill>
          <a:ln cap="flat" cmpd="sng" w="12700">
            <a:solidFill>
              <a:srgbClr val="2D26A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Customers</a:t>
            </a:r>
            <a:endParaRPr/>
          </a:p>
        </p:txBody>
      </p:sp>
      <p:sp>
        <p:nvSpPr>
          <p:cNvPr id="310" name="Google Shape;310;p7"/>
          <p:cNvSpPr/>
          <p:nvPr/>
        </p:nvSpPr>
        <p:spPr>
          <a:xfrm>
            <a:off x="10448925" y="3846965"/>
            <a:ext cx="1395411" cy="474120"/>
          </a:xfrm>
          <a:prstGeom prst="rect">
            <a:avLst/>
          </a:prstGeom>
          <a:solidFill>
            <a:schemeClr val="accent4"/>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Customers</a:t>
            </a:r>
            <a:endParaRPr/>
          </a:p>
        </p:txBody>
      </p:sp>
      <p:sp>
        <p:nvSpPr>
          <p:cNvPr id="311" name="Google Shape;311;p7"/>
          <p:cNvSpPr/>
          <p:nvPr/>
        </p:nvSpPr>
        <p:spPr>
          <a:xfrm>
            <a:off x="10445643" y="5369564"/>
            <a:ext cx="1395411" cy="474120"/>
          </a:xfrm>
          <a:prstGeom prst="rect">
            <a:avLst/>
          </a:prstGeom>
          <a:solidFill>
            <a:schemeClr val="accent4"/>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Customers</a:t>
            </a:r>
            <a:endParaRPr/>
          </a:p>
        </p:txBody>
      </p:sp>
      <p:sp>
        <p:nvSpPr>
          <p:cNvPr id="312" name="Google Shape;312;p7"/>
          <p:cNvSpPr/>
          <p:nvPr/>
        </p:nvSpPr>
        <p:spPr>
          <a:xfrm>
            <a:off x="347661" y="3840155"/>
            <a:ext cx="1395411" cy="474120"/>
          </a:xfrm>
          <a:prstGeom prst="rect">
            <a:avLst/>
          </a:prstGeom>
          <a:solidFill>
            <a:schemeClr val="accent3"/>
          </a:solidFill>
          <a:ln cap="flat" cmpd="sng" w="12700">
            <a:solidFill>
              <a:srgbClr val="AC11A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AWS</a:t>
            </a:r>
            <a:endParaRPr/>
          </a:p>
        </p:txBody>
      </p:sp>
      <p:sp>
        <p:nvSpPr>
          <p:cNvPr id="313" name="Google Shape;313;p7"/>
          <p:cNvSpPr/>
          <p:nvPr/>
        </p:nvSpPr>
        <p:spPr>
          <a:xfrm>
            <a:off x="347660" y="5356632"/>
            <a:ext cx="1395411" cy="474120"/>
          </a:xfrm>
          <a:prstGeom prst="rect">
            <a:avLst/>
          </a:prstGeom>
          <a:solidFill>
            <a:schemeClr val="accent3"/>
          </a:solidFill>
          <a:ln cap="flat" cmpd="sng" w="12700">
            <a:solidFill>
              <a:srgbClr val="AC11A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AWS</a:t>
            </a:r>
            <a:endParaRPr/>
          </a:p>
        </p:txBody>
      </p:sp>
      <p:sp>
        <p:nvSpPr>
          <p:cNvPr id="314" name="Google Shape;314;p7"/>
          <p:cNvSpPr/>
          <p:nvPr/>
        </p:nvSpPr>
        <p:spPr>
          <a:xfrm>
            <a:off x="10448925" y="2313677"/>
            <a:ext cx="1395411" cy="474120"/>
          </a:xfrm>
          <a:prstGeom prst="rect">
            <a:avLst/>
          </a:prstGeom>
          <a:solidFill>
            <a:schemeClr val="accent3"/>
          </a:solidFill>
          <a:ln cap="flat" cmpd="sng" w="12700">
            <a:solidFill>
              <a:srgbClr val="AC11A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AWS</a:t>
            </a:r>
            <a:endParaRPr/>
          </a:p>
        </p:txBody>
      </p:sp>
      <p:sp>
        <p:nvSpPr>
          <p:cNvPr id="315" name="Google Shape;315;p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8"/>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AWS Identity and Access Management (IAM)</a:t>
            </a:r>
            <a:endParaRPr/>
          </a:p>
        </p:txBody>
      </p:sp>
      <p:sp>
        <p:nvSpPr>
          <p:cNvPr id="321" name="Google Shape;321;p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Security in the coffee shop</a:t>
            </a:r>
            <a:endParaRPr/>
          </a:p>
        </p:txBody>
      </p:sp>
      <p:pic>
        <p:nvPicPr>
          <p:cNvPr id="327" name="Google Shape;327;p9"/>
          <p:cNvPicPr preferRelativeResize="0"/>
          <p:nvPr/>
        </p:nvPicPr>
        <p:blipFill rotWithShape="1">
          <a:blip r:embed="rId3">
            <a:alphaModFix/>
          </a:blip>
          <a:srcRect b="0" l="0" r="0" t="0"/>
          <a:stretch/>
        </p:blipFill>
        <p:spPr>
          <a:xfrm>
            <a:off x="1489755" y="2507494"/>
            <a:ext cx="1442735" cy="1642232"/>
          </a:xfrm>
          <a:prstGeom prst="rect">
            <a:avLst/>
          </a:prstGeom>
          <a:noFill/>
          <a:ln>
            <a:noFill/>
          </a:ln>
        </p:spPr>
      </p:pic>
      <p:sp>
        <p:nvSpPr>
          <p:cNvPr id="328" name="Google Shape;328;p9"/>
          <p:cNvSpPr txBox="1"/>
          <p:nvPr/>
        </p:nvSpPr>
        <p:spPr>
          <a:xfrm>
            <a:off x="932528" y="4242187"/>
            <a:ext cx="2558288"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A new cashier begins working at the coffee shop.</a:t>
            </a:r>
            <a:endParaRPr/>
          </a:p>
        </p:txBody>
      </p:sp>
      <p:pic>
        <p:nvPicPr>
          <p:cNvPr id="329" name="Google Shape;329;p9"/>
          <p:cNvPicPr preferRelativeResize="0"/>
          <p:nvPr/>
        </p:nvPicPr>
        <p:blipFill rotWithShape="1">
          <a:blip r:embed="rId4">
            <a:alphaModFix/>
          </a:blip>
          <a:srcRect b="0" l="0" r="0" t="0"/>
          <a:stretch/>
        </p:blipFill>
        <p:spPr>
          <a:xfrm>
            <a:off x="9100410" y="2708274"/>
            <a:ext cx="1643054" cy="1441452"/>
          </a:xfrm>
          <a:prstGeom prst="rect">
            <a:avLst/>
          </a:prstGeom>
          <a:noFill/>
          <a:ln>
            <a:noFill/>
          </a:ln>
        </p:spPr>
      </p:pic>
      <p:sp>
        <p:nvSpPr>
          <p:cNvPr id="330" name="Google Shape;330;p9"/>
          <p:cNvSpPr txBox="1"/>
          <p:nvPr/>
        </p:nvSpPr>
        <p:spPr>
          <a:xfrm>
            <a:off x="8584402" y="4334520"/>
            <a:ext cx="267507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The cashier uses their account to access the point of sale system.</a:t>
            </a:r>
            <a:endParaRPr/>
          </a:p>
        </p:txBody>
      </p:sp>
      <p:pic>
        <p:nvPicPr>
          <p:cNvPr id="331" name="Google Shape;331;p9"/>
          <p:cNvPicPr preferRelativeResize="0"/>
          <p:nvPr/>
        </p:nvPicPr>
        <p:blipFill rotWithShape="1">
          <a:blip r:embed="rId5">
            <a:alphaModFix/>
          </a:blip>
          <a:srcRect b="0" l="0" r="0" t="0"/>
          <a:stretch/>
        </p:blipFill>
        <p:spPr>
          <a:xfrm>
            <a:off x="6359111" y="2968800"/>
            <a:ext cx="1046882" cy="1046882"/>
          </a:xfrm>
          <a:prstGeom prst="rect">
            <a:avLst/>
          </a:prstGeom>
          <a:noFill/>
          <a:ln>
            <a:noFill/>
          </a:ln>
        </p:spPr>
      </p:pic>
      <p:pic>
        <p:nvPicPr>
          <p:cNvPr id="332" name="Google Shape;332;p9"/>
          <p:cNvPicPr preferRelativeResize="0"/>
          <p:nvPr/>
        </p:nvPicPr>
        <p:blipFill rotWithShape="1">
          <a:blip r:embed="rId6">
            <a:alphaModFix/>
          </a:blip>
          <a:srcRect b="0" l="0" r="0" t="0"/>
          <a:stretch/>
        </p:blipFill>
        <p:spPr>
          <a:xfrm>
            <a:off x="4899482" y="2937581"/>
            <a:ext cx="1046882" cy="1046882"/>
          </a:xfrm>
          <a:prstGeom prst="rect">
            <a:avLst/>
          </a:prstGeom>
          <a:noFill/>
          <a:ln>
            <a:noFill/>
          </a:ln>
        </p:spPr>
      </p:pic>
      <p:sp>
        <p:nvSpPr>
          <p:cNvPr id="333" name="Google Shape;333;p9"/>
          <p:cNvSpPr txBox="1"/>
          <p:nvPr/>
        </p:nvSpPr>
        <p:spPr>
          <a:xfrm>
            <a:off x="4280988" y="4242187"/>
            <a:ext cx="3630024"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The cashier is given an account that has permission to access the point of sale system.</a:t>
            </a:r>
            <a:endParaRPr/>
          </a:p>
        </p:txBody>
      </p:sp>
      <p:cxnSp>
        <p:nvCxnSpPr>
          <p:cNvPr id="334" name="Google Shape;334;p9"/>
          <p:cNvCxnSpPr/>
          <p:nvPr/>
        </p:nvCxnSpPr>
        <p:spPr>
          <a:xfrm rot="10800000">
            <a:off x="7654989" y="3569585"/>
            <a:ext cx="1097280" cy="0"/>
          </a:xfrm>
          <a:prstGeom prst="straightConnector1">
            <a:avLst/>
          </a:prstGeom>
          <a:noFill/>
          <a:ln cap="flat" cmpd="sng" w="31750">
            <a:solidFill>
              <a:schemeClr val="dk1"/>
            </a:solidFill>
            <a:prstDash val="solid"/>
            <a:miter lim="800000"/>
            <a:headEnd len="med" w="med" type="stealth"/>
            <a:tailEnd len="sm" w="sm" type="none"/>
          </a:ln>
        </p:spPr>
      </p:cxnSp>
      <p:cxnSp>
        <p:nvCxnSpPr>
          <p:cNvPr id="335" name="Google Shape;335;p9"/>
          <p:cNvCxnSpPr/>
          <p:nvPr/>
        </p:nvCxnSpPr>
        <p:spPr>
          <a:xfrm rot="10800000">
            <a:off x="3183708" y="3569585"/>
            <a:ext cx="1097280" cy="0"/>
          </a:xfrm>
          <a:prstGeom prst="straightConnector1">
            <a:avLst/>
          </a:prstGeom>
          <a:noFill/>
          <a:ln cap="flat" cmpd="sng" w="31750">
            <a:solidFill>
              <a:schemeClr val="dk1"/>
            </a:solidFill>
            <a:prstDash val="solid"/>
            <a:miter lim="800000"/>
            <a:headEnd len="med" w="med" type="stealth"/>
            <a:tailEnd len="sm" w="sm" type="none"/>
          </a:ln>
        </p:spPr>
      </p:cxnSp>
      <p:sp>
        <p:nvSpPr>
          <p:cNvPr id="336" name="Google Shape;336;p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0"/>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IAM</a:t>
            </a:r>
            <a:endParaRPr/>
          </a:p>
        </p:txBody>
      </p:sp>
      <p:sp>
        <p:nvSpPr>
          <p:cNvPr id="342" name="Google Shape;342;p10"/>
          <p:cNvSpPr txBox="1"/>
          <p:nvPr/>
        </p:nvSpPr>
        <p:spPr>
          <a:xfrm>
            <a:off x="872546" y="4101738"/>
            <a:ext cx="489345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AWS Identity and Access Management (IAM) allows you to manage access to AWS services and resources.</a:t>
            </a:r>
            <a:endParaRPr/>
          </a:p>
        </p:txBody>
      </p:sp>
      <p:pic>
        <p:nvPicPr>
          <p:cNvPr id="343" name="Google Shape;343;p10"/>
          <p:cNvPicPr preferRelativeResize="0"/>
          <p:nvPr/>
        </p:nvPicPr>
        <p:blipFill rotWithShape="1">
          <a:blip r:embed="rId3">
            <a:alphaModFix/>
          </a:blip>
          <a:srcRect b="0" l="0" r="0" t="0"/>
          <a:stretch/>
        </p:blipFill>
        <p:spPr>
          <a:xfrm>
            <a:off x="2286000" y="1737360"/>
            <a:ext cx="2066543" cy="2066543"/>
          </a:xfrm>
          <a:prstGeom prst="rect">
            <a:avLst/>
          </a:prstGeom>
          <a:noFill/>
          <a:ln>
            <a:noFill/>
          </a:ln>
        </p:spPr>
      </p:pic>
      <p:sp>
        <p:nvSpPr>
          <p:cNvPr id="344" name="Google Shape;344;p10"/>
          <p:cNvSpPr/>
          <p:nvPr/>
        </p:nvSpPr>
        <p:spPr>
          <a:xfrm>
            <a:off x="7236059" y="1405719"/>
            <a:ext cx="4269004" cy="4948656"/>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5" name="Google Shape;345;p10"/>
          <p:cNvSpPr txBox="1"/>
          <p:nvPr/>
        </p:nvSpPr>
        <p:spPr>
          <a:xfrm>
            <a:off x="8368778" y="1585550"/>
            <a:ext cx="224773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IAM features</a:t>
            </a:r>
            <a:endParaRPr/>
          </a:p>
        </p:txBody>
      </p:sp>
      <p:pic>
        <p:nvPicPr>
          <p:cNvPr id="346" name="Google Shape;346;p10"/>
          <p:cNvPicPr preferRelativeResize="0"/>
          <p:nvPr/>
        </p:nvPicPr>
        <p:blipFill rotWithShape="1">
          <a:blip r:embed="rId4">
            <a:alphaModFix/>
          </a:blip>
          <a:srcRect b="0" l="0" r="0" t="0"/>
          <a:stretch/>
        </p:blipFill>
        <p:spPr>
          <a:xfrm>
            <a:off x="9043377" y="4886568"/>
            <a:ext cx="906271" cy="906271"/>
          </a:xfrm>
          <a:prstGeom prst="rect">
            <a:avLst/>
          </a:prstGeom>
          <a:noFill/>
          <a:ln>
            <a:noFill/>
          </a:ln>
        </p:spPr>
      </p:pic>
      <p:pic>
        <p:nvPicPr>
          <p:cNvPr id="347" name="Google Shape;347;p10"/>
          <p:cNvPicPr preferRelativeResize="0"/>
          <p:nvPr/>
        </p:nvPicPr>
        <p:blipFill rotWithShape="1">
          <a:blip r:embed="rId5">
            <a:alphaModFix/>
          </a:blip>
          <a:srcRect b="0" l="0" r="0" t="0"/>
          <a:stretch/>
        </p:blipFill>
        <p:spPr>
          <a:xfrm>
            <a:off x="10178958" y="2286558"/>
            <a:ext cx="718008" cy="718008"/>
          </a:xfrm>
          <a:prstGeom prst="rect">
            <a:avLst/>
          </a:prstGeom>
          <a:noFill/>
          <a:ln>
            <a:noFill/>
          </a:ln>
        </p:spPr>
      </p:pic>
      <p:pic>
        <p:nvPicPr>
          <p:cNvPr id="348" name="Google Shape;348;p10"/>
          <p:cNvPicPr preferRelativeResize="0"/>
          <p:nvPr/>
        </p:nvPicPr>
        <p:blipFill rotWithShape="1">
          <a:blip r:embed="rId6">
            <a:alphaModFix/>
          </a:blip>
          <a:srcRect b="0" l="0" r="0" t="0"/>
          <a:stretch/>
        </p:blipFill>
        <p:spPr>
          <a:xfrm>
            <a:off x="10114873" y="3631082"/>
            <a:ext cx="763496" cy="763496"/>
          </a:xfrm>
          <a:prstGeom prst="rect">
            <a:avLst/>
          </a:prstGeom>
          <a:noFill/>
          <a:ln>
            <a:noFill/>
          </a:ln>
        </p:spPr>
      </p:pic>
      <p:pic>
        <p:nvPicPr>
          <p:cNvPr id="349" name="Google Shape;349;p10"/>
          <p:cNvPicPr preferRelativeResize="0"/>
          <p:nvPr/>
        </p:nvPicPr>
        <p:blipFill rotWithShape="1">
          <a:blip r:embed="rId7">
            <a:alphaModFix/>
          </a:blip>
          <a:srcRect b="0" l="0" r="0" t="0"/>
          <a:stretch/>
        </p:blipFill>
        <p:spPr>
          <a:xfrm>
            <a:off x="8092487" y="2360459"/>
            <a:ext cx="589387" cy="589387"/>
          </a:xfrm>
          <a:prstGeom prst="rect">
            <a:avLst/>
          </a:prstGeom>
          <a:noFill/>
          <a:ln>
            <a:noFill/>
          </a:ln>
        </p:spPr>
      </p:pic>
      <p:pic>
        <p:nvPicPr>
          <p:cNvPr id="350" name="Google Shape;350;p10"/>
          <p:cNvPicPr preferRelativeResize="0"/>
          <p:nvPr/>
        </p:nvPicPr>
        <p:blipFill rotWithShape="1">
          <a:blip r:embed="rId8">
            <a:alphaModFix/>
          </a:blip>
          <a:srcRect b="0" l="0" r="0" t="0"/>
          <a:stretch/>
        </p:blipFill>
        <p:spPr>
          <a:xfrm flipH="1">
            <a:off x="8020486" y="3681372"/>
            <a:ext cx="733978" cy="713206"/>
          </a:xfrm>
          <a:prstGeom prst="rect">
            <a:avLst/>
          </a:prstGeom>
          <a:noFill/>
          <a:ln>
            <a:noFill/>
          </a:ln>
        </p:spPr>
      </p:pic>
      <p:sp>
        <p:nvSpPr>
          <p:cNvPr id="351" name="Google Shape;351;p10"/>
          <p:cNvSpPr txBox="1"/>
          <p:nvPr/>
        </p:nvSpPr>
        <p:spPr>
          <a:xfrm>
            <a:off x="7860694" y="3030654"/>
            <a:ext cx="10919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IAM user</a:t>
            </a:r>
            <a:endParaRPr/>
          </a:p>
        </p:txBody>
      </p:sp>
      <p:sp>
        <p:nvSpPr>
          <p:cNvPr id="352" name="Google Shape;352;p10"/>
          <p:cNvSpPr txBox="1"/>
          <p:nvPr/>
        </p:nvSpPr>
        <p:spPr>
          <a:xfrm>
            <a:off x="9884114" y="3033322"/>
            <a:ext cx="12698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IAM policy</a:t>
            </a:r>
            <a:endParaRPr/>
          </a:p>
        </p:txBody>
      </p:sp>
      <p:sp>
        <p:nvSpPr>
          <p:cNvPr id="353" name="Google Shape;353;p10"/>
          <p:cNvSpPr txBox="1"/>
          <p:nvPr/>
        </p:nvSpPr>
        <p:spPr>
          <a:xfrm>
            <a:off x="7767459" y="4455907"/>
            <a:ext cx="12763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IAM group</a:t>
            </a:r>
            <a:endParaRPr/>
          </a:p>
        </p:txBody>
      </p:sp>
      <p:sp>
        <p:nvSpPr>
          <p:cNvPr id="354" name="Google Shape;354;p10"/>
          <p:cNvSpPr txBox="1"/>
          <p:nvPr/>
        </p:nvSpPr>
        <p:spPr>
          <a:xfrm>
            <a:off x="9984301" y="4455907"/>
            <a:ext cx="10599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IAM role</a:t>
            </a:r>
            <a:endParaRPr/>
          </a:p>
        </p:txBody>
      </p:sp>
      <p:sp>
        <p:nvSpPr>
          <p:cNvPr id="355" name="Google Shape;355;p10"/>
          <p:cNvSpPr txBox="1"/>
          <p:nvPr/>
        </p:nvSpPr>
        <p:spPr>
          <a:xfrm>
            <a:off x="8043229" y="5790407"/>
            <a:ext cx="30299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Multi-factor authentication</a:t>
            </a:r>
            <a:endParaRPr/>
          </a:p>
        </p:txBody>
      </p:sp>
      <p:sp>
        <p:nvSpPr>
          <p:cNvPr id="356" name="Google Shape;356;p1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1"/>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account root user</a:t>
            </a:r>
            <a:endParaRPr/>
          </a:p>
        </p:txBody>
      </p:sp>
      <p:pic>
        <p:nvPicPr>
          <p:cNvPr id="362" name="Google Shape;362;p11"/>
          <p:cNvPicPr preferRelativeResize="0"/>
          <p:nvPr/>
        </p:nvPicPr>
        <p:blipFill rotWithShape="1">
          <a:blip r:embed="rId3">
            <a:alphaModFix/>
          </a:blip>
          <a:srcRect b="0" l="0" r="0" t="0"/>
          <a:stretch/>
        </p:blipFill>
        <p:spPr>
          <a:xfrm>
            <a:off x="1208742" y="2648853"/>
            <a:ext cx="1665271" cy="1443756"/>
          </a:xfrm>
          <a:prstGeom prst="rect">
            <a:avLst/>
          </a:prstGeom>
          <a:noFill/>
          <a:ln>
            <a:noFill/>
          </a:ln>
        </p:spPr>
      </p:pic>
      <p:sp>
        <p:nvSpPr>
          <p:cNvPr id="363" name="Google Shape;363;p11"/>
          <p:cNvSpPr txBox="1"/>
          <p:nvPr/>
        </p:nvSpPr>
        <p:spPr>
          <a:xfrm>
            <a:off x="600133" y="4150048"/>
            <a:ext cx="2914303"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Create an AWS account. This establishes your root user identity.</a:t>
            </a:r>
            <a:endParaRPr/>
          </a:p>
        </p:txBody>
      </p:sp>
      <p:pic>
        <p:nvPicPr>
          <p:cNvPr id="364" name="Google Shape;364;p11"/>
          <p:cNvPicPr preferRelativeResize="0"/>
          <p:nvPr/>
        </p:nvPicPr>
        <p:blipFill rotWithShape="1">
          <a:blip r:embed="rId4">
            <a:alphaModFix/>
          </a:blip>
          <a:srcRect b="0" l="0" r="0" t="0"/>
          <a:stretch/>
        </p:blipFill>
        <p:spPr>
          <a:xfrm>
            <a:off x="5066396" y="2840602"/>
            <a:ext cx="1087907" cy="1087907"/>
          </a:xfrm>
          <a:prstGeom prst="rect">
            <a:avLst/>
          </a:prstGeom>
          <a:noFill/>
          <a:ln>
            <a:noFill/>
          </a:ln>
        </p:spPr>
      </p:pic>
      <p:sp>
        <p:nvSpPr>
          <p:cNvPr id="365" name="Google Shape;365;p11"/>
          <p:cNvSpPr txBox="1"/>
          <p:nvPr/>
        </p:nvSpPr>
        <p:spPr>
          <a:xfrm>
            <a:off x="4079385" y="4150047"/>
            <a:ext cx="3061927"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Create your first IAM user and give it permissions to create other users.</a:t>
            </a:r>
            <a:endParaRPr/>
          </a:p>
        </p:txBody>
      </p:sp>
      <p:grpSp>
        <p:nvGrpSpPr>
          <p:cNvPr id="366" name="Google Shape;366;p11"/>
          <p:cNvGrpSpPr/>
          <p:nvPr/>
        </p:nvGrpSpPr>
        <p:grpSpPr>
          <a:xfrm>
            <a:off x="8176411" y="1467473"/>
            <a:ext cx="3720447" cy="2130324"/>
            <a:chOff x="8052452" y="2252480"/>
            <a:chExt cx="3720447" cy="2130324"/>
          </a:xfrm>
        </p:grpSpPr>
        <p:pic>
          <p:nvPicPr>
            <p:cNvPr id="367" name="Google Shape;367;p11"/>
            <p:cNvPicPr preferRelativeResize="0"/>
            <p:nvPr/>
          </p:nvPicPr>
          <p:blipFill rotWithShape="1">
            <a:blip r:embed="rId5">
              <a:alphaModFix/>
            </a:blip>
            <a:srcRect b="0" l="0" r="0" t="0"/>
            <a:stretch/>
          </p:blipFill>
          <p:spPr>
            <a:xfrm>
              <a:off x="8208377" y="2532874"/>
              <a:ext cx="1590502" cy="1686460"/>
            </a:xfrm>
            <a:prstGeom prst="rect">
              <a:avLst/>
            </a:prstGeom>
            <a:noFill/>
            <a:ln>
              <a:noFill/>
            </a:ln>
          </p:spPr>
        </p:pic>
        <p:sp>
          <p:nvSpPr>
            <p:cNvPr id="368" name="Google Shape;368;p11"/>
            <p:cNvSpPr txBox="1"/>
            <p:nvPr/>
          </p:nvSpPr>
          <p:spPr>
            <a:xfrm>
              <a:off x="9909031" y="2459423"/>
              <a:ext cx="1753715"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Log in as the new IAM user and continue to create other users.</a:t>
              </a:r>
              <a:endParaRPr/>
            </a:p>
          </p:txBody>
        </p:sp>
        <p:sp>
          <p:nvSpPr>
            <p:cNvPr id="369" name="Google Shape;369;p11"/>
            <p:cNvSpPr/>
            <p:nvPr/>
          </p:nvSpPr>
          <p:spPr>
            <a:xfrm>
              <a:off x="8052452" y="2252480"/>
              <a:ext cx="3720447" cy="2130324"/>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370" name="Google Shape;370;p11"/>
          <p:cNvGrpSpPr/>
          <p:nvPr/>
        </p:nvGrpSpPr>
        <p:grpSpPr>
          <a:xfrm>
            <a:off x="8176411" y="4226026"/>
            <a:ext cx="3720447" cy="2130324"/>
            <a:chOff x="8176411" y="4118422"/>
            <a:chExt cx="3720447" cy="2130324"/>
          </a:xfrm>
        </p:grpSpPr>
        <p:grpSp>
          <p:nvGrpSpPr>
            <p:cNvPr id="371" name="Google Shape;371;p11"/>
            <p:cNvGrpSpPr/>
            <p:nvPr/>
          </p:nvGrpSpPr>
          <p:grpSpPr>
            <a:xfrm>
              <a:off x="8176411" y="4118422"/>
              <a:ext cx="3720447" cy="2130324"/>
              <a:chOff x="8052452" y="2252480"/>
              <a:chExt cx="3720447" cy="2130324"/>
            </a:xfrm>
          </p:grpSpPr>
          <p:sp>
            <p:nvSpPr>
              <p:cNvPr id="372" name="Google Shape;372;p11"/>
              <p:cNvSpPr txBox="1"/>
              <p:nvPr/>
            </p:nvSpPr>
            <p:spPr>
              <a:xfrm>
                <a:off x="9909031" y="2459423"/>
                <a:ext cx="1753715"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Only access the root user for a limited number of tasks.</a:t>
                </a:r>
                <a:endParaRPr/>
              </a:p>
            </p:txBody>
          </p:sp>
          <p:sp>
            <p:nvSpPr>
              <p:cNvPr id="373" name="Google Shape;373;p11"/>
              <p:cNvSpPr/>
              <p:nvPr/>
            </p:nvSpPr>
            <p:spPr>
              <a:xfrm>
                <a:off x="8052452" y="2252480"/>
                <a:ext cx="3720447" cy="2130324"/>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id="374" name="Google Shape;374;p11"/>
            <p:cNvPicPr preferRelativeResize="0"/>
            <p:nvPr/>
          </p:nvPicPr>
          <p:blipFill rotWithShape="1">
            <a:blip r:embed="rId6">
              <a:alphaModFix/>
            </a:blip>
            <a:srcRect b="0" l="0" r="0" t="0"/>
            <a:stretch/>
          </p:blipFill>
          <p:spPr>
            <a:xfrm>
              <a:off x="8386664" y="4642945"/>
              <a:ext cx="1481845" cy="996056"/>
            </a:xfrm>
            <a:prstGeom prst="rect">
              <a:avLst/>
            </a:prstGeom>
            <a:noFill/>
            <a:ln>
              <a:noFill/>
            </a:ln>
          </p:spPr>
        </p:pic>
      </p:grpSp>
      <p:cxnSp>
        <p:nvCxnSpPr>
          <p:cNvPr id="375" name="Google Shape;375;p11"/>
          <p:cNvCxnSpPr/>
          <p:nvPr/>
        </p:nvCxnSpPr>
        <p:spPr>
          <a:xfrm rot="10800000">
            <a:off x="3514436" y="3885666"/>
            <a:ext cx="548640" cy="0"/>
          </a:xfrm>
          <a:prstGeom prst="straightConnector1">
            <a:avLst/>
          </a:prstGeom>
          <a:noFill/>
          <a:ln cap="flat" cmpd="sng" w="38100">
            <a:solidFill>
              <a:schemeClr val="dk1"/>
            </a:solidFill>
            <a:prstDash val="solid"/>
            <a:miter lim="800000"/>
            <a:headEnd len="med" w="med" type="stealth"/>
            <a:tailEnd len="sm" w="sm" type="none"/>
          </a:ln>
        </p:spPr>
      </p:cxnSp>
      <p:grpSp>
        <p:nvGrpSpPr>
          <p:cNvPr id="376" name="Google Shape;376;p11"/>
          <p:cNvGrpSpPr/>
          <p:nvPr/>
        </p:nvGrpSpPr>
        <p:grpSpPr>
          <a:xfrm>
            <a:off x="7141313" y="2528164"/>
            <a:ext cx="1035097" cy="2938958"/>
            <a:chOff x="2485711" y="1567527"/>
            <a:chExt cx="1677120" cy="304785"/>
          </a:xfrm>
        </p:grpSpPr>
        <p:sp>
          <p:nvSpPr>
            <p:cNvPr id="377" name="Google Shape;377;p11"/>
            <p:cNvSpPr/>
            <p:nvPr/>
          </p:nvSpPr>
          <p:spPr>
            <a:xfrm rot="10800000">
              <a:off x="3247469" y="1567527"/>
              <a:ext cx="915362" cy="304785"/>
            </a:xfrm>
            <a:custGeom>
              <a:rect b="b" l="l" r="r" t="t"/>
              <a:pathLst>
                <a:path extrusionOk="0" h="1574800" w="622300">
                  <a:moveTo>
                    <a:pt x="0" y="0"/>
                  </a:moveTo>
                  <a:lnTo>
                    <a:pt x="622300" y="0"/>
                  </a:lnTo>
                  <a:lnTo>
                    <a:pt x="622300" y="1574800"/>
                  </a:lnTo>
                  <a:lnTo>
                    <a:pt x="482600" y="1574800"/>
                  </a:lnTo>
                  <a:lnTo>
                    <a:pt x="0" y="1574800"/>
                  </a:lnTo>
                </a:path>
              </a:pathLst>
            </a:custGeom>
            <a:noFill/>
            <a:ln cap="flat" cmpd="sng" w="38100">
              <a:solidFill>
                <a:schemeClr val="dk1"/>
              </a:solidFill>
              <a:prstDash val="solid"/>
              <a:miter lim="800000"/>
              <a:headEnd len="med" w="med" type="stealth"/>
              <a:tailEnd len="med" w="med" type="stealth"/>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8" name="Google Shape;378;p11"/>
            <p:cNvCxnSpPr/>
            <p:nvPr/>
          </p:nvCxnSpPr>
          <p:spPr>
            <a:xfrm>
              <a:off x="2485711" y="1712074"/>
              <a:ext cx="761756" cy="0"/>
            </a:xfrm>
            <a:prstGeom prst="straightConnector1">
              <a:avLst/>
            </a:prstGeom>
            <a:noFill/>
            <a:ln cap="flat" cmpd="sng" w="38100">
              <a:solidFill>
                <a:schemeClr val="dk1"/>
              </a:solidFill>
              <a:prstDash val="solid"/>
              <a:miter lim="800000"/>
              <a:headEnd len="sm" w="sm" type="none"/>
              <a:tailEnd len="sm" w="sm" type="none"/>
            </a:ln>
          </p:spPr>
        </p:cxnSp>
      </p:grpSp>
      <p:sp>
        <p:nvSpPr>
          <p:cNvPr id="379" name="Google Shape;379;p11"/>
          <p:cNvSpPr/>
          <p:nvPr/>
        </p:nvSpPr>
        <p:spPr>
          <a:xfrm>
            <a:off x="4079387" y="2373090"/>
            <a:ext cx="3061927" cy="3094032"/>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11"/>
          <p:cNvSpPr/>
          <p:nvPr/>
        </p:nvSpPr>
        <p:spPr>
          <a:xfrm>
            <a:off x="419100" y="2373090"/>
            <a:ext cx="3095336" cy="3110838"/>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1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IAM users</a:t>
            </a:r>
            <a:endParaRPr/>
          </a:p>
        </p:txBody>
      </p:sp>
      <p:sp>
        <p:nvSpPr>
          <p:cNvPr id="387" name="Google Shape;387;p1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
        <p:nvSpPr>
          <p:cNvPr id="388" name="Google Shape;388;p12"/>
          <p:cNvSpPr txBox="1"/>
          <p:nvPr/>
        </p:nvSpPr>
        <p:spPr>
          <a:xfrm>
            <a:off x="419100" y="2252349"/>
            <a:ext cx="6496050" cy="33650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An IAM user is an identity that represents a person or application that interacts with AWS services and resources.</a:t>
            </a:r>
            <a:endParaRPr/>
          </a:p>
          <a:p>
            <a:pPr indent="0" lvl="0" marL="0" marR="0" rtl="0" algn="l">
              <a:spcBef>
                <a:spcPts val="2000"/>
              </a:spcBef>
              <a:spcAft>
                <a:spcPts val="0"/>
              </a:spcAft>
              <a:buNone/>
            </a:pPr>
            <a:r>
              <a:rPr lang="en-US" sz="2800">
                <a:solidFill>
                  <a:schemeClr val="dk1"/>
                </a:solidFill>
                <a:latin typeface="Arial"/>
                <a:ea typeface="Arial"/>
                <a:cs typeface="Arial"/>
                <a:sym typeface="Arial"/>
              </a:rPr>
              <a:t>Best practice: Create individual IAM users for each person who needs to access AWS.</a:t>
            </a:r>
            <a:endParaRPr/>
          </a:p>
        </p:txBody>
      </p:sp>
      <p:pic>
        <p:nvPicPr>
          <p:cNvPr id="389" name="Google Shape;389;p12"/>
          <p:cNvPicPr preferRelativeResize="0"/>
          <p:nvPr/>
        </p:nvPicPr>
        <p:blipFill rotWithShape="1">
          <a:blip r:embed="rId3">
            <a:alphaModFix/>
          </a:blip>
          <a:srcRect b="0" l="0" r="0" t="0"/>
          <a:stretch/>
        </p:blipFill>
        <p:spPr>
          <a:xfrm>
            <a:off x="8549428" y="2653951"/>
            <a:ext cx="1887691" cy="1887691"/>
          </a:xfrm>
          <a:prstGeom prst="rect">
            <a:avLst/>
          </a:prstGeom>
          <a:noFill/>
          <a:ln>
            <a:noFill/>
          </a:ln>
        </p:spPr>
      </p:pic>
      <p:sp>
        <p:nvSpPr>
          <p:cNvPr id="390" name="Google Shape;390;p12"/>
          <p:cNvSpPr txBox="1"/>
          <p:nvPr/>
        </p:nvSpPr>
        <p:spPr>
          <a:xfrm>
            <a:off x="8915230" y="4541642"/>
            <a:ext cx="115608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IAM user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3"/>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IAM policies</a:t>
            </a:r>
            <a:endParaRPr/>
          </a:p>
        </p:txBody>
      </p:sp>
      <p:sp>
        <p:nvSpPr>
          <p:cNvPr id="396" name="Google Shape;396;p13"/>
          <p:cNvSpPr txBox="1"/>
          <p:nvPr/>
        </p:nvSpPr>
        <p:spPr>
          <a:xfrm>
            <a:off x="8915229" y="4541642"/>
            <a:ext cx="13388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IAM policy</a:t>
            </a:r>
            <a:endParaRPr/>
          </a:p>
        </p:txBody>
      </p:sp>
      <p:pic>
        <p:nvPicPr>
          <p:cNvPr id="397" name="Google Shape;397;p13"/>
          <p:cNvPicPr preferRelativeResize="0"/>
          <p:nvPr/>
        </p:nvPicPr>
        <p:blipFill rotWithShape="1">
          <a:blip r:embed="rId3">
            <a:alphaModFix/>
          </a:blip>
          <a:srcRect b="0" l="0" r="0" t="0"/>
          <a:stretch/>
        </p:blipFill>
        <p:spPr>
          <a:xfrm>
            <a:off x="8640705" y="2653765"/>
            <a:ext cx="1887877" cy="1887877"/>
          </a:xfrm>
          <a:prstGeom prst="rect">
            <a:avLst/>
          </a:prstGeom>
          <a:noFill/>
          <a:ln>
            <a:noFill/>
          </a:ln>
        </p:spPr>
      </p:pic>
      <p:sp>
        <p:nvSpPr>
          <p:cNvPr id="398" name="Google Shape;398;p13"/>
          <p:cNvSpPr txBox="1"/>
          <p:nvPr/>
        </p:nvSpPr>
        <p:spPr>
          <a:xfrm>
            <a:off x="419100" y="2238448"/>
            <a:ext cx="6496050" cy="25032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An IAM policy is a document that grants or denies permissions to AWS services and resources.</a:t>
            </a:r>
            <a:endParaRPr/>
          </a:p>
          <a:p>
            <a:pPr indent="0" lvl="0" marL="0" marR="0" rtl="0" algn="l">
              <a:spcBef>
                <a:spcPts val="2000"/>
              </a:spcBef>
              <a:spcAft>
                <a:spcPts val="0"/>
              </a:spcAft>
              <a:buNone/>
            </a:pPr>
            <a:r>
              <a:rPr lang="en-US" sz="2800">
                <a:solidFill>
                  <a:schemeClr val="dk1"/>
                </a:solidFill>
                <a:latin typeface="Arial"/>
                <a:ea typeface="Arial"/>
                <a:cs typeface="Arial"/>
                <a:sym typeface="Arial"/>
              </a:rPr>
              <a:t>Best practice: Follow the security principle of least privilege.</a:t>
            </a:r>
            <a:endParaRPr/>
          </a:p>
        </p:txBody>
      </p:sp>
      <p:sp>
        <p:nvSpPr>
          <p:cNvPr id="399" name="Google Shape;399;p1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Example: IAM policy</a:t>
            </a:r>
            <a:endParaRPr/>
          </a:p>
        </p:txBody>
      </p:sp>
      <p:sp>
        <p:nvSpPr>
          <p:cNvPr id="405" name="Google Shape;405;p14"/>
          <p:cNvSpPr txBox="1"/>
          <p:nvPr/>
        </p:nvSpPr>
        <p:spPr>
          <a:xfrm>
            <a:off x="1306694" y="2956928"/>
            <a:ext cx="9578610" cy="2862322"/>
          </a:xfrm>
          <a:prstGeom prst="rect">
            <a:avLst/>
          </a:prstGeom>
          <a:solidFill>
            <a:srgbClr val="EAE8EB"/>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a:t>
            </a:r>
            <a:endParaRPr/>
          </a:p>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  "Version": "2012-10-17",</a:t>
            </a:r>
            <a:endParaRPr/>
          </a:p>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  "Statement": {</a:t>
            </a:r>
            <a:endParaRPr/>
          </a:p>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    "Effect": "Allow",</a:t>
            </a:r>
            <a:endParaRPr/>
          </a:p>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    "Action": ["s3:ListObject", "s3:GetObject"],</a:t>
            </a:r>
            <a:endParaRPr/>
          </a:p>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    "Resource": ["arn:aws:s3::: awsdoc-example-bucket", "arn:aws:s3::: awsdoc-example-bucket/*"]  </a:t>
            </a:r>
            <a:endParaRPr/>
          </a:p>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   }</a:t>
            </a:r>
            <a:endParaRPr/>
          </a:p>
          <a:p>
            <a:pPr indent="0" lvl="1" marL="457200" marR="0" rtl="0" algn="l">
              <a:spcBef>
                <a:spcPts val="0"/>
              </a:spcBef>
              <a:spcAft>
                <a:spcPts val="0"/>
              </a:spcAft>
              <a:buNone/>
            </a:pPr>
            <a:r>
              <a:rPr b="0" i="0" lang="en-US" sz="2000" u="none" cap="none" strike="noStrike">
                <a:solidFill>
                  <a:schemeClr val="dk1"/>
                </a:solidFill>
                <a:latin typeface="Courier"/>
                <a:ea typeface="Courier"/>
                <a:cs typeface="Courier"/>
                <a:sym typeface="Courier"/>
              </a:rPr>
              <a:t>}</a:t>
            </a:r>
            <a:endParaRPr b="0" i="0" sz="2000" u="none" cap="none" strike="noStrike">
              <a:solidFill>
                <a:schemeClr val="dk1"/>
              </a:solidFill>
              <a:latin typeface="Courier"/>
              <a:ea typeface="Courier"/>
              <a:cs typeface="Courier"/>
              <a:sym typeface="Courier"/>
            </a:endParaRPr>
          </a:p>
        </p:txBody>
      </p:sp>
      <p:sp>
        <p:nvSpPr>
          <p:cNvPr id="406" name="Google Shape;406;p14"/>
          <p:cNvSpPr txBox="1"/>
          <p:nvPr/>
        </p:nvSpPr>
        <p:spPr>
          <a:xfrm>
            <a:off x="577102" y="1422510"/>
            <a:ext cx="11037795"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This sample IAM policy allows permission to view a list of objects in the Amazon S3 bucket with ID </a:t>
            </a:r>
            <a:r>
              <a:rPr b="1" i="1" lang="en-US" sz="2800">
                <a:solidFill>
                  <a:schemeClr val="dk1"/>
                </a:solidFill>
                <a:latin typeface="Arial"/>
                <a:ea typeface="Arial"/>
                <a:cs typeface="Arial"/>
                <a:sym typeface="Arial"/>
              </a:rPr>
              <a:t>awsdoc-example-bucket</a:t>
            </a:r>
            <a:r>
              <a:rPr lang="en-US" sz="2800">
                <a:solidFill>
                  <a:schemeClr val="dk1"/>
                </a:solidFill>
                <a:latin typeface="Arial"/>
                <a:ea typeface="Arial"/>
                <a:cs typeface="Arial"/>
                <a:sym typeface="Arial"/>
              </a:rPr>
              <a:t>,</a:t>
            </a:r>
            <a:r>
              <a:rPr b="1" i="1" lang="en-US" sz="2800">
                <a:solidFill>
                  <a:schemeClr val="dk1"/>
                </a:solidFill>
                <a:latin typeface="Arial"/>
                <a:ea typeface="Arial"/>
                <a:cs typeface="Arial"/>
                <a:sym typeface="Arial"/>
              </a:rPr>
              <a:t> </a:t>
            </a:r>
            <a:r>
              <a:rPr lang="en-US" sz="2800">
                <a:solidFill>
                  <a:schemeClr val="dk1"/>
                </a:solidFill>
                <a:latin typeface="Arial"/>
                <a:ea typeface="Arial"/>
                <a:cs typeface="Arial"/>
                <a:sym typeface="Arial"/>
              </a:rPr>
              <a:t>and also access them.</a:t>
            </a:r>
            <a:endParaRPr sz="2800">
              <a:solidFill>
                <a:schemeClr val="dk1"/>
              </a:solidFill>
              <a:latin typeface="Arial"/>
              <a:ea typeface="Arial"/>
              <a:cs typeface="Arial"/>
              <a:sym typeface="Arial"/>
            </a:endParaRPr>
          </a:p>
        </p:txBody>
      </p:sp>
      <p:sp>
        <p:nvSpPr>
          <p:cNvPr id="407" name="Google Shape;407;p1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grpSp>
        <p:nvGrpSpPr>
          <p:cNvPr id="412" name="Google Shape;412;p15"/>
          <p:cNvGrpSpPr/>
          <p:nvPr/>
        </p:nvGrpSpPr>
        <p:grpSpPr>
          <a:xfrm flipH="1" rot="10800000">
            <a:off x="6978706" y="3944531"/>
            <a:ext cx="3663242" cy="800410"/>
            <a:chOff x="6948233" y="3093467"/>
            <a:chExt cx="3663242" cy="800410"/>
          </a:xfrm>
        </p:grpSpPr>
        <p:cxnSp>
          <p:nvCxnSpPr>
            <p:cNvPr id="413" name="Google Shape;413;p15"/>
            <p:cNvCxnSpPr/>
            <p:nvPr/>
          </p:nvCxnSpPr>
          <p:spPr>
            <a:xfrm>
              <a:off x="8784385" y="3093467"/>
              <a:ext cx="0" cy="800410"/>
            </a:xfrm>
            <a:prstGeom prst="straightConnector1">
              <a:avLst/>
            </a:prstGeom>
            <a:noFill/>
            <a:ln cap="flat" cmpd="sng" w="31750">
              <a:solidFill>
                <a:schemeClr val="accent1"/>
              </a:solidFill>
              <a:prstDash val="solid"/>
              <a:miter lim="800000"/>
              <a:headEnd len="sm" w="sm" type="none"/>
              <a:tailEnd len="sm" w="sm" type="none"/>
            </a:ln>
          </p:spPr>
        </p:cxnSp>
        <p:cxnSp>
          <p:nvCxnSpPr>
            <p:cNvPr id="414" name="Google Shape;414;p15"/>
            <p:cNvCxnSpPr/>
            <p:nvPr/>
          </p:nvCxnSpPr>
          <p:spPr>
            <a:xfrm flipH="1">
              <a:off x="8763875" y="3093468"/>
              <a:ext cx="1847600" cy="800409"/>
            </a:xfrm>
            <a:prstGeom prst="straightConnector1">
              <a:avLst/>
            </a:prstGeom>
            <a:noFill/>
            <a:ln cap="flat" cmpd="sng" w="31750">
              <a:solidFill>
                <a:schemeClr val="accent1"/>
              </a:solidFill>
              <a:prstDash val="solid"/>
              <a:miter lim="800000"/>
              <a:headEnd len="sm" w="sm" type="none"/>
              <a:tailEnd len="sm" w="sm" type="none"/>
            </a:ln>
          </p:spPr>
        </p:cxnSp>
        <p:cxnSp>
          <p:nvCxnSpPr>
            <p:cNvPr id="415" name="Google Shape;415;p15"/>
            <p:cNvCxnSpPr/>
            <p:nvPr/>
          </p:nvCxnSpPr>
          <p:spPr>
            <a:xfrm>
              <a:off x="6948233" y="3093467"/>
              <a:ext cx="1815642" cy="800410"/>
            </a:xfrm>
            <a:prstGeom prst="straightConnector1">
              <a:avLst/>
            </a:prstGeom>
            <a:noFill/>
            <a:ln cap="flat" cmpd="sng" w="31750">
              <a:solidFill>
                <a:schemeClr val="accent1"/>
              </a:solidFill>
              <a:prstDash val="solid"/>
              <a:miter lim="800000"/>
              <a:headEnd len="sm" w="sm" type="none"/>
              <a:tailEnd len="sm" w="sm" type="none"/>
            </a:ln>
          </p:spPr>
        </p:cxnSp>
      </p:grpSp>
      <p:sp>
        <p:nvSpPr>
          <p:cNvPr id="416" name="Google Shape;416;p1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IAM groups</a:t>
            </a:r>
            <a:endParaRPr/>
          </a:p>
        </p:txBody>
      </p:sp>
      <p:sp>
        <p:nvSpPr>
          <p:cNvPr id="417" name="Google Shape;417;p15"/>
          <p:cNvSpPr txBox="1"/>
          <p:nvPr/>
        </p:nvSpPr>
        <p:spPr>
          <a:xfrm>
            <a:off x="424958" y="1795309"/>
            <a:ext cx="5128260" cy="36215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An IAM group is a collection of IAM users.</a:t>
            </a:r>
            <a:endParaRPr/>
          </a:p>
          <a:p>
            <a:pPr indent="0" lvl="0" marL="0" marR="0" rtl="0" algn="l">
              <a:spcBef>
                <a:spcPts val="2000"/>
              </a:spcBef>
              <a:spcAft>
                <a:spcPts val="0"/>
              </a:spcAft>
              <a:buNone/>
            </a:pPr>
            <a:r>
              <a:rPr lang="en-US" sz="2800">
                <a:solidFill>
                  <a:schemeClr val="dk1"/>
                </a:solidFill>
                <a:latin typeface="Arial"/>
                <a:ea typeface="Arial"/>
                <a:cs typeface="Arial"/>
                <a:sym typeface="Arial"/>
              </a:rPr>
              <a:t>Best practice: Attach IAM policies to IAM groups, rather than to individual IAM users.</a:t>
            </a:r>
            <a:endParaRPr/>
          </a:p>
          <a:p>
            <a:pPr indent="0" lvl="0" marL="0" marR="0" rtl="0" algn="l">
              <a:spcBef>
                <a:spcPts val="2000"/>
              </a:spcBef>
              <a:spcAft>
                <a:spcPts val="0"/>
              </a:spcAft>
              <a:buNone/>
            </a:pPr>
            <a:r>
              <a:rPr lang="en-US" sz="2800">
                <a:solidFill>
                  <a:schemeClr val="dk1"/>
                </a:solidFill>
                <a:latin typeface="Arial"/>
                <a:ea typeface="Arial"/>
                <a:cs typeface="Arial"/>
                <a:sym typeface="Arial"/>
              </a:rPr>
              <a:t>Members inherit the policies assigned to the group</a:t>
            </a:r>
            <a:r>
              <a:rPr lang="en-US" sz="2400">
                <a:solidFill>
                  <a:schemeClr val="dk1"/>
                </a:solidFill>
                <a:latin typeface="Arial"/>
                <a:ea typeface="Arial"/>
                <a:cs typeface="Arial"/>
                <a:sym typeface="Arial"/>
              </a:rPr>
              <a:t>.</a:t>
            </a:r>
            <a:endParaRPr/>
          </a:p>
        </p:txBody>
      </p:sp>
      <p:grpSp>
        <p:nvGrpSpPr>
          <p:cNvPr id="418" name="Google Shape;418;p15"/>
          <p:cNvGrpSpPr/>
          <p:nvPr/>
        </p:nvGrpSpPr>
        <p:grpSpPr>
          <a:xfrm>
            <a:off x="7573100" y="1795309"/>
            <a:ext cx="2492586" cy="2145712"/>
            <a:chOff x="7532371" y="3893877"/>
            <a:chExt cx="2492586" cy="2145712"/>
          </a:xfrm>
        </p:grpSpPr>
        <p:pic>
          <p:nvPicPr>
            <p:cNvPr id="419" name="Google Shape;419;p15"/>
            <p:cNvPicPr preferRelativeResize="0"/>
            <p:nvPr/>
          </p:nvPicPr>
          <p:blipFill rotWithShape="1">
            <a:blip r:embed="rId3">
              <a:alphaModFix/>
            </a:blip>
            <a:srcRect b="0" l="0" r="0" t="0"/>
            <a:stretch/>
          </p:blipFill>
          <p:spPr>
            <a:xfrm flipH="1">
              <a:off x="8217251" y="4190722"/>
              <a:ext cx="1116010" cy="1084426"/>
            </a:xfrm>
            <a:prstGeom prst="rect">
              <a:avLst/>
            </a:prstGeom>
            <a:noFill/>
            <a:ln>
              <a:noFill/>
            </a:ln>
          </p:spPr>
        </p:pic>
        <p:sp>
          <p:nvSpPr>
            <p:cNvPr id="420" name="Google Shape;420;p15"/>
            <p:cNvSpPr txBox="1"/>
            <p:nvPr/>
          </p:nvSpPr>
          <p:spPr>
            <a:xfrm>
              <a:off x="7628147" y="5401784"/>
              <a:ext cx="2396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“Cashiers” IAM group</a:t>
              </a:r>
              <a:endParaRPr/>
            </a:p>
          </p:txBody>
        </p:sp>
        <p:sp>
          <p:nvSpPr>
            <p:cNvPr id="421" name="Google Shape;421;p15"/>
            <p:cNvSpPr/>
            <p:nvPr/>
          </p:nvSpPr>
          <p:spPr>
            <a:xfrm>
              <a:off x="7532371" y="3893877"/>
              <a:ext cx="2463007" cy="2145712"/>
            </a:xfrm>
            <a:prstGeom prst="roundRect">
              <a:avLst>
                <a:gd fmla="val 16667" name="adj"/>
              </a:avLst>
            </a:prstGeom>
            <a:noFill/>
            <a:ln cap="flat" cmpd="sng" w="38100">
              <a:solidFill>
                <a:srgbClr val="BF08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422" name="Google Shape;422;p15"/>
          <p:cNvGrpSpPr/>
          <p:nvPr/>
        </p:nvGrpSpPr>
        <p:grpSpPr>
          <a:xfrm>
            <a:off x="6286030" y="4751959"/>
            <a:ext cx="5016775" cy="1354547"/>
            <a:chOff x="6271466" y="1738922"/>
            <a:chExt cx="5016775" cy="1354547"/>
          </a:xfrm>
        </p:grpSpPr>
        <p:grpSp>
          <p:nvGrpSpPr>
            <p:cNvPr id="423" name="Google Shape;423;p15"/>
            <p:cNvGrpSpPr/>
            <p:nvPr/>
          </p:nvGrpSpPr>
          <p:grpSpPr>
            <a:xfrm>
              <a:off x="6271466" y="1738922"/>
              <a:ext cx="1353533" cy="1354545"/>
              <a:chOff x="6553200" y="2171554"/>
              <a:chExt cx="1353533" cy="1354545"/>
            </a:xfrm>
          </p:grpSpPr>
          <p:pic>
            <p:nvPicPr>
              <p:cNvPr id="424" name="Google Shape;424;p15"/>
              <p:cNvPicPr preferRelativeResize="0"/>
              <p:nvPr/>
            </p:nvPicPr>
            <p:blipFill rotWithShape="1">
              <a:blip r:embed="rId4">
                <a:alphaModFix/>
              </a:blip>
              <a:srcRect b="0" l="0" r="0" t="0"/>
              <a:stretch/>
            </p:blipFill>
            <p:spPr>
              <a:xfrm>
                <a:off x="6975242" y="2318094"/>
                <a:ext cx="541270" cy="541270"/>
              </a:xfrm>
              <a:prstGeom prst="rect">
                <a:avLst/>
              </a:prstGeom>
              <a:noFill/>
              <a:ln>
                <a:noFill/>
              </a:ln>
            </p:spPr>
          </p:pic>
          <p:sp>
            <p:nvSpPr>
              <p:cNvPr id="425" name="Google Shape;425;p15"/>
              <p:cNvSpPr txBox="1"/>
              <p:nvPr/>
            </p:nvSpPr>
            <p:spPr>
              <a:xfrm>
                <a:off x="6687871" y="2986000"/>
                <a:ext cx="11448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Cashier 1</a:t>
                </a:r>
                <a:endParaRPr/>
              </a:p>
            </p:txBody>
          </p:sp>
          <p:sp>
            <p:nvSpPr>
              <p:cNvPr id="426" name="Google Shape;426;p15"/>
              <p:cNvSpPr/>
              <p:nvPr/>
            </p:nvSpPr>
            <p:spPr>
              <a:xfrm>
                <a:off x="6553200" y="2171554"/>
                <a:ext cx="1353533" cy="1354545"/>
              </a:xfrm>
              <a:prstGeom prst="roundRect">
                <a:avLst>
                  <a:gd fmla="val 16667" name="adj"/>
                </a:avLst>
              </a:prstGeom>
              <a:noFill/>
              <a:ln cap="flat" cmpd="sng" w="38100">
                <a:solidFill>
                  <a:srgbClr val="BF08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427" name="Google Shape;427;p15"/>
            <p:cNvGrpSpPr/>
            <p:nvPr/>
          </p:nvGrpSpPr>
          <p:grpSpPr>
            <a:xfrm>
              <a:off x="8103087" y="1738924"/>
              <a:ext cx="1353533" cy="1354545"/>
              <a:chOff x="6553200" y="2171554"/>
              <a:chExt cx="1353533" cy="1354545"/>
            </a:xfrm>
          </p:grpSpPr>
          <p:pic>
            <p:nvPicPr>
              <p:cNvPr id="428" name="Google Shape;428;p15"/>
              <p:cNvPicPr preferRelativeResize="0"/>
              <p:nvPr/>
            </p:nvPicPr>
            <p:blipFill rotWithShape="1">
              <a:blip r:embed="rId4">
                <a:alphaModFix/>
              </a:blip>
              <a:srcRect b="0" l="0" r="0" t="0"/>
              <a:stretch/>
            </p:blipFill>
            <p:spPr>
              <a:xfrm>
                <a:off x="6975242" y="2318094"/>
                <a:ext cx="541270" cy="541270"/>
              </a:xfrm>
              <a:prstGeom prst="rect">
                <a:avLst/>
              </a:prstGeom>
              <a:noFill/>
              <a:ln>
                <a:noFill/>
              </a:ln>
            </p:spPr>
          </p:pic>
          <p:sp>
            <p:nvSpPr>
              <p:cNvPr id="429" name="Google Shape;429;p15"/>
              <p:cNvSpPr txBox="1"/>
              <p:nvPr/>
            </p:nvSpPr>
            <p:spPr>
              <a:xfrm>
                <a:off x="6687871" y="2986000"/>
                <a:ext cx="11448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Cashier 2</a:t>
                </a:r>
                <a:endParaRPr/>
              </a:p>
            </p:txBody>
          </p:sp>
          <p:sp>
            <p:nvSpPr>
              <p:cNvPr id="430" name="Google Shape;430;p15"/>
              <p:cNvSpPr/>
              <p:nvPr/>
            </p:nvSpPr>
            <p:spPr>
              <a:xfrm>
                <a:off x="6553200" y="2171554"/>
                <a:ext cx="1353533" cy="1354545"/>
              </a:xfrm>
              <a:prstGeom prst="roundRect">
                <a:avLst>
                  <a:gd fmla="val 16667" name="adj"/>
                </a:avLst>
              </a:prstGeom>
              <a:noFill/>
              <a:ln cap="flat" cmpd="sng" w="38100">
                <a:solidFill>
                  <a:srgbClr val="BF08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431" name="Google Shape;431;p15"/>
            <p:cNvGrpSpPr/>
            <p:nvPr/>
          </p:nvGrpSpPr>
          <p:grpSpPr>
            <a:xfrm>
              <a:off x="9934708" y="1738923"/>
              <a:ext cx="1353533" cy="1354545"/>
              <a:chOff x="6553200" y="2171554"/>
              <a:chExt cx="1353533" cy="1354545"/>
            </a:xfrm>
          </p:grpSpPr>
          <p:pic>
            <p:nvPicPr>
              <p:cNvPr id="432" name="Google Shape;432;p15"/>
              <p:cNvPicPr preferRelativeResize="0"/>
              <p:nvPr/>
            </p:nvPicPr>
            <p:blipFill rotWithShape="1">
              <a:blip r:embed="rId4">
                <a:alphaModFix/>
              </a:blip>
              <a:srcRect b="0" l="0" r="0" t="0"/>
              <a:stretch/>
            </p:blipFill>
            <p:spPr>
              <a:xfrm>
                <a:off x="6975242" y="2318094"/>
                <a:ext cx="541270" cy="541270"/>
              </a:xfrm>
              <a:prstGeom prst="rect">
                <a:avLst/>
              </a:prstGeom>
              <a:noFill/>
              <a:ln>
                <a:noFill/>
              </a:ln>
            </p:spPr>
          </p:pic>
          <p:sp>
            <p:nvSpPr>
              <p:cNvPr id="433" name="Google Shape;433;p15"/>
              <p:cNvSpPr txBox="1"/>
              <p:nvPr/>
            </p:nvSpPr>
            <p:spPr>
              <a:xfrm>
                <a:off x="6687871" y="2986000"/>
                <a:ext cx="11448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Cashier 3</a:t>
                </a:r>
                <a:endParaRPr/>
              </a:p>
            </p:txBody>
          </p:sp>
          <p:sp>
            <p:nvSpPr>
              <p:cNvPr id="434" name="Google Shape;434;p15"/>
              <p:cNvSpPr/>
              <p:nvPr/>
            </p:nvSpPr>
            <p:spPr>
              <a:xfrm>
                <a:off x="6553200" y="2171554"/>
                <a:ext cx="1353533" cy="1354545"/>
              </a:xfrm>
              <a:prstGeom prst="roundRect">
                <a:avLst>
                  <a:gd fmla="val 16667" name="adj"/>
                </a:avLst>
              </a:prstGeom>
              <a:noFill/>
              <a:ln cap="flat" cmpd="sng" w="38100">
                <a:solidFill>
                  <a:srgbClr val="BF08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sp>
        <p:nvSpPr>
          <p:cNvPr id="435" name="Google Shape;435;p1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IAM roles</a:t>
            </a:r>
            <a:endParaRPr/>
          </a:p>
        </p:txBody>
      </p:sp>
      <p:sp>
        <p:nvSpPr>
          <p:cNvPr id="441" name="Google Shape;441;p16"/>
          <p:cNvSpPr txBox="1"/>
          <p:nvPr/>
        </p:nvSpPr>
        <p:spPr>
          <a:xfrm>
            <a:off x="419100" y="1273751"/>
            <a:ext cx="1146810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An IAM role is an identity that you can assume to gain temporary access to permissions.</a:t>
            </a:r>
            <a:endParaRPr/>
          </a:p>
        </p:txBody>
      </p:sp>
      <p:grpSp>
        <p:nvGrpSpPr>
          <p:cNvPr id="442" name="Google Shape;442;p16"/>
          <p:cNvGrpSpPr/>
          <p:nvPr/>
        </p:nvGrpSpPr>
        <p:grpSpPr>
          <a:xfrm>
            <a:off x="175743" y="2726186"/>
            <a:ext cx="2746797" cy="2973617"/>
            <a:chOff x="175743" y="2726186"/>
            <a:chExt cx="2746797" cy="2973617"/>
          </a:xfrm>
        </p:grpSpPr>
        <p:grpSp>
          <p:nvGrpSpPr>
            <p:cNvPr id="443" name="Google Shape;443;p16"/>
            <p:cNvGrpSpPr/>
            <p:nvPr/>
          </p:nvGrpSpPr>
          <p:grpSpPr>
            <a:xfrm>
              <a:off x="352260" y="3260445"/>
              <a:ext cx="2423159" cy="2383329"/>
              <a:chOff x="457200" y="3538624"/>
              <a:chExt cx="2423159" cy="2383329"/>
            </a:xfrm>
          </p:grpSpPr>
          <p:pic>
            <p:nvPicPr>
              <p:cNvPr id="444" name="Google Shape;444;p16"/>
              <p:cNvPicPr preferRelativeResize="0"/>
              <p:nvPr/>
            </p:nvPicPr>
            <p:blipFill rotWithShape="1">
              <a:blip r:embed="rId3">
                <a:alphaModFix/>
              </a:blip>
              <a:srcRect b="0" l="0" r="0" t="0"/>
              <a:stretch/>
            </p:blipFill>
            <p:spPr>
              <a:xfrm>
                <a:off x="1142860" y="3538624"/>
                <a:ext cx="1022442" cy="1022442"/>
              </a:xfrm>
              <a:prstGeom prst="rect">
                <a:avLst/>
              </a:prstGeom>
              <a:noFill/>
              <a:ln>
                <a:noFill/>
              </a:ln>
            </p:spPr>
          </p:pic>
          <p:sp>
            <p:nvSpPr>
              <p:cNvPr id="445" name="Google Shape;445;p16"/>
              <p:cNvSpPr txBox="1"/>
              <p:nvPr/>
            </p:nvSpPr>
            <p:spPr>
              <a:xfrm>
                <a:off x="457200" y="4721624"/>
                <a:ext cx="242315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owner gives the employee permissions to switch to specific roles.</a:t>
                </a:r>
                <a:endParaRPr/>
              </a:p>
            </p:txBody>
          </p:sp>
        </p:grpSp>
        <p:sp>
          <p:nvSpPr>
            <p:cNvPr id="446" name="Google Shape;446;p16"/>
            <p:cNvSpPr/>
            <p:nvPr/>
          </p:nvSpPr>
          <p:spPr>
            <a:xfrm>
              <a:off x="175743" y="2726186"/>
              <a:ext cx="2746797" cy="2973617"/>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447" name="Google Shape;447;p16"/>
          <p:cNvGrpSpPr/>
          <p:nvPr/>
        </p:nvGrpSpPr>
        <p:grpSpPr>
          <a:xfrm>
            <a:off x="3595620" y="2099285"/>
            <a:ext cx="3288360" cy="4227418"/>
            <a:chOff x="3595620" y="2099285"/>
            <a:chExt cx="3288360" cy="4227418"/>
          </a:xfrm>
        </p:grpSpPr>
        <p:grpSp>
          <p:nvGrpSpPr>
            <p:cNvPr id="448" name="Google Shape;448;p16"/>
            <p:cNvGrpSpPr/>
            <p:nvPr/>
          </p:nvGrpSpPr>
          <p:grpSpPr>
            <a:xfrm>
              <a:off x="4411647" y="2289771"/>
              <a:ext cx="1596912" cy="2188155"/>
              <a:chOff x="5297544" y="2316066"/>
              <a:chExt cx="1596912" cy="2188155"/>
            </a:xfrm>
          </p:grpSpPr>
          <p:cxnSp>
            <p:nvCxnSpPr>
              <p:cNvPr id="449" name="Google Shape;449;p16"/>
              <p:cNvCxnSpPr/>
              <p:nvPr/>
            </p:nvCxnSpPr>
            <p:spPr>
              <a:xfrm>
                <a:off x="6097977" y="2897511"/>
                <a:ext cx="0" cy="713232"/>
              </a:xfrm>
              <a:prstGeom prst="straightConnector1">
                <a:avLst/>
              </a:prstGeom>
              <a:noFill/>
              <a:ln cap="flat" cmpd="sng" w="31750">
                <a:solidFill>
                  <a:schemeClr val="accent1"/>
                </a:solidFill>
                <a:prstDash val="solid"/>
                <a:miter lim="800000"/>
                <a:headEnd len="sm" w="sm" type="none"/>
                <a:tailEnd len="sm" w="sm" type="none"/>
              </a:ln>
            </p:spPr>
          </p:cxnSp>
          <p:grpSp>
            <p:nvGrpSpPr>
              <p:cNvPr id="450" name="Google Shape;450;p16"/>
              <p:cNvGrpSpPr/>
              <p:nvPr/>
            </p:nvGrpSpPr>
            <p:grpSpPr>
              <a:xfrm>
                <a:off x="5297544" y="2316066"/>
                <a:ext cx="1596912" cy="2188155"/>
                <a:chOff x="5297544" y="2316066"/>
                <a:chExt cx="1596912" cy="2188155"/>
              </a:xfrm>
            </p:grpSpPr>
            <p:pic>
              <p:nvPicPr>
                <p:cNvPr id="451" name="Google Shape;451;p16"/>
                <p:cNvPicPr preferRelativeResize="0"/>
                <p:nvPr/>
              </p:nvPicPr>
              <p:blipFill rotWithShape="1">
                <a:blip r:embed="rId4">
                  <a:alphaModFix/>
                </a:blip>
                <a:srcRect b="0" l="0" r="0" t="0"/>
                <a:stretch/>
              </p:blipFill>
              <p:spPr>
                <a:xfrm>
                  <a:off x="5714252" y="3429000"/>
                  <a:ext cx="763496" cy="763496"/>
                </a:xfrm>
                <a:prstGeom prst="rect">
                  <a:avLst/>
                </a:prstGeom>
                <a:noFill/>
                <a:ln>
                  <a:noFill/>
                </a:ln>
              </p:spPr>
            </p:pic>
            <p:pic>
              <p:nvPicPr>
                <p:cNvPr id="452" name="Google Shape;452;p16"/>
                <p:cNvPicPr preferRelativeResize="0"/>
                <p:nvPr/>
              </p:nvPicPr>
              <p:blipFill rotWithShape="1">
                <a:blip r:embed="rId5">
                  <a:alphaModFix/>
                </a:blip>
                <a:srcRect b="0" l="0" r="0" t="0"/>
                <a:stretch/>
              </p:blipFill>
              <p:spPr>
                <a:xfrm>
                  <a:off x="5788425" y="2316066"/>
                  <a:ext cx="615150" cy="615150"/>
                </a:xfrm>
                <a:prstGeom prst="rect">
                  <a:avLst/>
                </a:prstGeom>
                <a:noFill/>
                <a:ln>
                  <a:noFill/>
                </a:ln>
              </p:spPr>
            </p:pic>
            <p:sp>
              <p:nvSpPr>
                <p:cNvPr id="453" name="Google Shape;453;p16"/>
                <p:cNvSpPr txBox="1"/>
                <p:nvPr/>
              </p:nvSpPr>
              <p:spPr>
                <a:xfrm>
                  <a:off x="5297544" y="4134889"/>
                  <a:ext cx="159691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a:t>
                  </a:r>
                  <a:r>
                    <a:rPr lang="en-US" sz="1800">
                      <a:solidFill>
                        <a:schemeClr val="dk1"/>
                      </a:solidFill>
                      <a:latin typeface="Arial"/>
                      <a:ea typeface="Arial"/>
                      <a:cs typeface="Arial"/>
                      <a:sym typeface="Arial"/>
                    </a:rPr>
                    <a:t>Cashier” role</a:t>
                  </a:r>
                  <a:endParaRPr/>
                </a:p>
              </p:txBody>
            </p:sp>
          </p:grpSp>
        </p:grpSp>
        <p:sp>
          <p:nvSpPr>
            <p:cNvPr id="454" name="Google Shape;454;p16"/>
            <p:cNvSpPr txBox="1"/>
            <p:nvPr/>
          </p:nvSpPr>
          <p:spPr>
            <a:xfrm>
              <a:off x="3841177" y="4444853"/>
              <a:ext cx="2956054" cy="13285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employee assumes the “Cashier” role. </a:t>
              </a:r>
              <a:endParaRPr/>
            </a:p>
            <a:p>
              <a:pPr indent="0" lvl="0" marL="0" marR="0" rtl="0" algn="l">
                <a:spcBef>
                  <a:spcPts val="1000"/>
                </a:spcBef>
                <a:spcAft>
                  <a:spcPts val="0"/>
                </a:spcAft>
                <a:buNone/>
              </a:pPr>
              <a:r>
                <a:rPr lang="en-US" sz="1800">
                  <a:solidFill>
                    <a:schemeClr val="dk1"/>
                  </a:solidFill>
                  <a:latin typeface="Arial"/>
                  <a:ea typeface="Arial"/>
                  <a:cs typeface="Arial"/>
                  <a:sym typeface="Arial"/>
                </a:rPr>
                <a:t>This grants them access to the cash register system.</a:t>
              </a:r>
              <a:endParaRPr/>
            </a:p>
          </p:txBody>
        </p:sp>
        <p:sp>
          <p:nvSpPr>
            <p:cNvPr id="455" name="Google Shape;455;p16"/>
            <p:cNvSpPr/>
            <p:nvPr/>
          </p:nvSpPr>
          <p:spPr>
            <a:xfrm>
              <a:off x="3595620" y="2099285"/>
              <a:ext cx="3288360" cy="4227418"/>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456" name="Google Shape;456;p16"/>
          <p:cNvGrpSpPr/>
          <p:nvPr/>
        </p:nvGrpSpPr>
        <p:grpSpPr>
          <a:xfrm>
            <a:off x="7562382" y="2094628"/>
            <a:ext cx="4462793" cy="4222057"/>
            <a:chOff x="7562382" y="2094628"/>
            <a:chExt cx="4462793" cy="4222057"/>
          </a:xfrm>
        </p:grpSpPr>
        <p:sp>
          <p:nvSpPr>
            <p:cNvPr id="457" name="Google Shape;457;p16"/>
            <p:cNvSpPr txBox="1"/>
            <p:nvPr/>
          </p:nvSpPr>
          <p:spPr>
            <a:xfrm>
              <a:off x="7731030" y="4518424"/>
              <a:ext cx="4294145" cy="16055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employee assumes the “Inventory” role. </a:t>
              </a:r>
              <a:endParaRPr/>
            </a:p>
            <a:p>
              <a:pPr indent="0" lvl="0" marL="0" marR="0" rtl="0" algn="l">
                <a:spcBef>
                  <a:spcPts val="1000"/>
                </a:spcBef>
                <a:spcAft>
                  <a:spcPts val="0"/>
                </a:spcAft>
                <a:buNone/>
              </a:pPr>
              <a:r>
                <a:rPr lang="en-US" sz="1800">
                  <a:solidFill>
                    <a:schemeClr val="dk1"/>
                  </a:solidFill>
                  <a:latin typeface="Arial"/>
                  <a:ea typeface="Arial"/>
                  <a:cs typeface="Arial"/>
                  <a:sym typeface="Arial"/>
                </a:rPr>
                <a:t>This grants them access to the inventory system and revokes their access to the cash register system.</a:t>
              </a:r>
              <a:endParaRPr/>
            </a:p>
          </p:txBody>
        </p:sp>
        <p:grpSp>
          <p:nvGrpSpPr>
            <p:cNvPr id="458" name="Google Shape;458;p16"/>
            <p:cNvGrpSpPr/>
            <p:nvPr/>
          </p:nvGrpSpPr>
          <p:grpSpPr>
            <a:xfrm>
              <a:off x="7929435" y="2289771"/>
              <a:ext cx="3852682" cy="2188988"/>
              <a:chOff x="8080435" y="2414156"/>
              <a:chExt cx="3852682" cy="2188988"/>
            </a:xfrm>
          </p:grpSpPr>
          <p:cxnSp>
            <p:nvCxnSpPr>
              <p:cNvPr id="459" name="Google Shape;459;p16"/>
              <p:cNvCxnSpPr/>
              <p:nvPr/>
            </p:nvCxnSpPr>
            <p:spPr>
              <a:xfrm>
                <a:off x="9946595" y="3008516"/>
                <a:ext cx="1060627" cy="707453"/>
              </a:xfrm>
              <a:prstGeom prst="straightConnector1">
                <a:avLst/>
              </a:prstGeom>
              <a:noFill/>
              <a:ln cap="flat" cmpd="sng" w="31750">
                <a:solidFill>
                  <a:schemeClr val="accent1"/>
                </a:solidFill>
                <a:prstDash val="solid"/>
                <a:miter lim="800000"/>
                <a:headEnd len="sm" w="sm" type="none"/>
                <a:tailEnd len="sm" w="sm" type="none"/>
              </a:ln>
            </p:spPr>
          </p:cxnSp>
          <p:pic>
            <p:nvPicPr>
              <p:cNvPr id="460" name="Google Shape;460;p16"/>
              <p:cNvPicPr preferRelativeResize="0"/>
              <p:nvPr/>
            </p:nvPicPr>
            <p:blipFill rotWithShape="1">
              <a:blip r:embed="rId4">
                <a:alphaModFix/>
              </a:blip>
              <a:srcRect b="0" l="0" r="0" t="0"/>
              <a:stretch/>
            </p:blipFill>
            <p:spPr>
              <a:xfrm>
                <a:off x="8505960" y="3529724"/>
                <a:ext cx="763496" cy="763496"/>
              </a:xfrm>
              <a:prstGeom prst="rect">
                <a:avLst/>
              </a:prstGeom>
              <a:noFill/>
              <a:ln>
                <a:noFill/>
              </a:ln>
            </p:spPr>
          </p:pic>
          <p:pic>
            <p:nvPicPr>
              <p:cNvPr id="461" name="Google Shape;461;p16"/>
              <p:cNvPicPr preferRelativeResize="0"/>
              <p:nvPr/>
            </p:nvPicPr>
            <p:blipFill rotWithShape="1">
              <a:blip r:embed="rId5">
                <a:alphaModFix/>
              </a:blip>
              <a:srcRect b="0" l="0" r="0" t="0"/>
              <a:stretch/>
            </p:blipFill>
            <p:spPr>
              <a:xfrm>
                <a:off x="9639020" y="2414156"/>
                <a:ext cx="615150" cy="615150"/>
              </a:xfrm>
              <a:prstGeom prst="rect">
                <a:avLst/>
              </a:prstGeom>
              <a:noFill/>
              <a:ln>
                <a:noFill/>
              </a:ln>
            </p:spPr>
          </p:pic>
          <p:sp>
            <p:nvSpPr>
              <p:cNvPr id="462" name="Google Shape;462;p16"/>
              <p:cNvSpPr txBox="1"/>
              <p:nvPr/>
            </p:nvSpPr>
            <p:spPr>
              <a:xfrm>
                <a:off x="8080435" y="4233812"/>
                <a:ext cx="161454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“Cashier” role</a:t>
                </a:r>
                <a:endParaRPr/>
              </a:p>
            </p:txBody>
          </p:sp>
          <p:pic>
            <p:nvPicPr>
              <p:cNvPr id="463" name="Google Shape;463;p16"/>
              <p:cNvPicPr preferRelativeResize="0"/>
              <p:nvPr/>
            </p:nvPicPr>
            <p:blipFill rotWithShape="1">
              <a:blip r:embed="rId4">
                <a:alphaModFix/>
              </a:blip>
              <a:srcRect b="0" l="0" r="0" t="0"/>
              <a:stretch/>
            </p:blipFill>
            <p:spPr>
              <a:xfrm>
                <a:off x="10625474" y="3529724"/>
                <a:ext cx="763496" cy="763496"/>
              </a:xfrm>
              <a:prstGeom prst="rect">
                <a:avLst/>
              </a:prstGeom>
              <a:noFill/>
              <a:ln>
                <a:noFill/>
              </a:ln>
            </p:spPr>
          </p:pic>
          <p:sp>
            <p:nvSpPr>
              <p:cNvPr id="464" name="Google Shape;464;p16"/>
              <p:cNvSpPr txBox="1"/>
              <p:nvPr/>
            </p:nvSpPr>
            <p:spPr>
              <a:xfrm>
                <a:off x="10081327" y="4233812"/>
                <a:ext cx="185179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“Inventory” role</a:t>
                </a:r>
                <a:endParaRPr/>
              </a:p>
            </p:txBody>
          </p:sp>
        </p:grpSp>
        <p:sp>
          <p:nvSpPr>
            <p:cNvPr id="465" name="Google Shape;465;p16"/>
            <p:cNvSpPr/>
            <p:nvPr/>
          </p:nvSpPr>
          <p:spPr>
            <a:xfrm>
              <a:off x="7562382" y="2094628"/>
              <a:ext cx="4462793" cy="4222057"/>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cxnSp>
        <p:nvCxnSpPr>
          <p:cNvPr id="466" name="Google Shape;466;p16"/>
          <p:cNvCxnSpPr/>
          <p:nvPr/>
        </p:nvCxnSpPr>
        <p:spPr>
          <a:xfrm rot="10800000">
            <a:off x="2922540" y="4114800"/>
            <a:ext cx="640080" cy="0"/>
          </a:xfrm>
          <a:prstGeom prst="straightConnector1">
            <a:avLst/>
          </a:prstGeom>
          <a:noFill/>
          <a:ln cap="flat" cmpd="sng" w="38100">
            <a:solidFill>
              <a:schemeClr val="dk1"/>
            </a:solidFill>
            <a:prstDash val="solid"/>
            <a:miter lim="800000"/>
            <a:headEnd len="med" w="med" type="stealth"/>
            <a:tailEnd len="sm" w="sm" type="none"/>
          </a:ln>
        </p:spPr>
      </p:cxnSp>
      <p:cxnSp>
        <p:nvCxnSpPr>
          <p:cNvPr id="467" name="Google Shape;467;p16"/>
          <p:cNvCxnSpPr/>
          <p:nvPr/>
        </p:nvCxnSpPr>
        <p:spPr>
          <a:xfrm rot="10800000">
            <a:off x="6883980" y="4114800"/>
            <a:ext cx="640080" cy="0"/>
          </a:xfrm>
          <a:prstGeom prst="straightConnector1">
            <a:avLst/>
          </a:prstGeom>
          <a:noFill/>
          <a:ln cap="flat" cmpd="sng" w="38100">
            <a:solidFill>
              <a:schemeClr val="dk1"/>
            </a:solidFill>
            <a:prstDash val="solid"/>
            <a:miter lim="800000"/>
            <a:headEnd len="med" w="med" type="stealth"/>
            <a:tailEnd len="sm" w="sm" type="none"/>
          </a:ln>
        </p:spPr>
      </p:cxnSp>
      <p:sp>
        <p:nvSpPr>
          <p:cNvPr id="468" name="Google Shape;468;p1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Multi-factor authentication</a:t>
            </a:r>
            <a:endParaRPr/>
          </a:p>
        </p:txBody>
      </p:sp>
      <p:sp>
        <p:nvSpPr>
          <p:cNvPr id="474" name="Google Shape;474;p17"/>
          <p:cNvSpPr txBox="1"/>
          <p:nvPr/>
        </p:nvSpPr>
        <p:spPr>
          <a:xfrm>
            <a:off x="419100" y="1394330"/>
            <a:ext cx="1068104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Multi-factor authentication provides an extra layer of protection for your AWS account.</a:t>
            </a:r>
            <a:endParaRPr/>
          </a:p>
        </p:txBody>
      </p:sp>
      <p:grpSp>
        <p:nvGrpSpPr>
          <p:cNvPr id="475" name="Google Shape;475;p17"/>
          <p:cNvGrpSpPr/>
          <p:nvPr/>
        </p:nvGrpSpPr>
        <p:grpSpPr>
          <a:xfrm>
            <a:off x="309280" y="2516589"/>
            <a:ext cx="4388351" cy="2973617"/>
            <a:chOff x="175743" y="2630502"/>
            <a:chExt cx="4388351" cy="2973617"/>
          </a:xfrm>
        </p:grpSpPr>
        <p:sp>
          <p:nvSpPr>
            <p:cNvPr id="476" name="Google Shape;476;p17"/>
            <p:cNvSpPr txBox="1"/>
            <p:nvPr/>
          </p:nvSpPr>
          <p:spPr>
            <a:xfrm>
              <a:off x="488649" y="4421512"/>
              <a:ext cx="37625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To sign in to an AWS website, a user enters their IAM user ID and password.</a:t>
              </a:r>
              <a:endParaRPr/>
            </a:p>
          </p:txBody>
        </p:sp>
        <p:sp>
          <p:nvSpPr>
            <p:cNvPr id="477" name="Google Shape;477;p17"/>
            <p:cNvSpPr/>
            <p:nvPr/>
          </p:nvSpPr>
          <p:spPr>
            <a:xfrm>
              <a:off x="175743" y="2630502"/>
              <a:ext cx="4388351" cy="2973617"/>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8" name="Google Shape;478;p17"/>
            <p:cNvSpPr txBox="1"/>
            <p:nvPr/>
          </p:nvSpPr>
          <p:spPr>
            <a:xfrm>
              <a:off x="349649" y="3157632"/>
              <a:ext cx="135325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IAM user ID: </a:t>
              </a:r>
              <a:endParaRPr/>
            </a:p>
          </p:txBody>
        </p:sp>
        <p:sp>
          <p:nvSpPr>
            <p:cNvPr id="479" name="Google Shape;479;p17"/>
            <p:cNvSpPr txBox="1"/>
            <p:nvPr/>
          </p:nvSpPr>
          <p:spPr>
            <a:xfrm>
              <a:off x="1585906" y="3157632"/>
              <a:ext cx="2757759" cy="33855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AIDACKCEVSQ6C2EXAMPLE</a:t>
              </a:r>
              <a:endParaRPr sz="1600">
                <a:solidFill>
                  <a:schemeClr val="dk1"/>
                </a:solidFill>
                <a:latin typeface="Arial"/>
                <a:ea typeface="Arial"/>
                <a:cs typeface="Arial"/>
                <a:sym typeface="Arial"/>
              </a:endParaRPr>
            </a:p>
          </p:txBody>
        </p:sp>
        <p:sp>
          <p:nvSpPr>
            <p:cNvPr id="480" name="Google Shape;480;p17"/>
            <p:cNvSpPr txBox="1"/>
            <p:nvPr/>
          </p:nvSpPr>
          <p:spPr>
            <a:xfrm>
              <a:off x="346475" y="3778757"/>
              <a:ext cx="117211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Password: </a:t>
              </a:r>
              <a:endParaRPr/>
            </a:p>
          </p:txBody>
        </p:sp>
        <p:sp>
          <p:nvSpPr>
            <p:cNvPr id="481" name="Google Shape;481;p17"/>
            <p:cNvSpPr txBox="1"/>
            <p:nvPr/>
          </p:nvSpPr>
          <p:spPr>
            <a:xfrm>
              <a:off x="1583559" y="3778757"/>
              <a:ext cx="2757759" cy="33855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t>
              </a:r>
              <a:endParaRPr sz="1600">
                <a:solidFill>
                  <a:schemeClr val="dk1"/>
                </a:solidFill>
                <a:latin typeface="Arial"/>
                <a:ea typeface="Arial"/>
                <a:cs typeface="Arial"/>
                <a:sym typeface="Arial"/>
              </a:endParaRPr>
            </a:p>
          </p:txBody>
        </p:sp>
      </p:grpSp>
      <p:sp>
        <p:nvSpPr>
          <p:cNvPr id="482" name="Google Shape;482;p17"/>
          <p:cNvSpPr txBox="1"/>
          <p:nvPr/>
        </p:nvSpPr>
        <p:spPr>
          <a:xfrm>
            <a:off x="5395540" y="4344160"/>
            <a:ext cx="284293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user is prompted to provide an authentication response from their AWS MFA device.</a:t>
            </a:r>
            <a:endParaRPr/>
          </a:p>
        </p:txBody>
      </p:sp>
      <p:sp>
        <p:nvSpPr>
          <p:cNvPr id="483" name="Google Shape;483;p17"/>
          <p:cNvSpPr/>
          <p:nvPr/>
        </p:nvSpPr>
        <p:spPr>
          <a:xfrm>
            <a:off x="5253277" y="2279655"/>
            <a:ext cx="2985194" cy="3594741"/>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84" name="Google Shape;484;p17"/>
          <p:cNvPicPr preferRelativeResize="0"/>
          <p:nvPr/>
        </p:nvPicPr>
        <p:blipFill rotWithShape="1">
          <a:blip r:embed="rId3">
            <a:alphaModFix/>
          </a:blip>
          <a:srcRect b="0" l="0" r="0" t="0"/>
          <a:stretch/>
        </p:blipFill>
        <p:spPr>
          <a:xfrm>
            <a:off x="5711112" y="2991576"/>
            <a:ext cx="2051441" cy="1263317"/>
          </a:xfrm>
          <a:prstGeom prst="rect">
            <a:avLst/>
          </a:prstGeom>
          <a:noFill/>
          <a:ln>
            <a:noFill/>
          </a:ln>
        </p:spPr>
      </p:pic>
      <p:sp>
        <p:nvSpPr>
          <p:cNvPr id="485" name="Google Shape;485;p17"/>
          <p:cNvSpPr txBox="1"/>
          <p:nvPr/>
        </p:nvSpPr>
        <p:spPr>
          <a:xfrm>
            <a:off x="9076295" y="4344159"/>
            <a:ext cx="263102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user is successfully authenticated and can access the requested AWS services or resources.</a:t>
            </a:r>
            <a:endParaRPr/>
          </a:p>
        </p:txBody>
      </p:sp>
      <p:sp>
        <p:nvSpPr>
          <p:cNvPr id="486" name="Google Shape;486;p17"/>
          <p:cNvSpPr/>
          <p:nvPr/>
        </p:nvSpPr>
        <p:spPr>
          <a:xfrm>
            <a:off x="8850700" y="2279656"/>
            <a:ext cx="2985194" cy="3594741"/>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87" name="Google Shape;487;p17"/>
          <p:cNvCxnSpPr/>
          <p:nvPr/>
        </p:nvCxnSpPr>
        <p:spPr>
          <a:xfrm rot="10800000">
            <a:off x="4697631" y="4114800"/>
            <a:ext cx="502920" cy="0"/>
          </a:xfrm>
          <a:prstGeom prst="straightConnector1">
            <a:avLst/>
          </a:prstGeom>
          <a:noFill/>
          <a:ln cap="flat" cmpd="sng" w="38100">
            <a:solidFill>
              <a:schemeClr val="dk1"/>
            </a:solidFill>
            <a:prstDash val="solid"/>
            <a:miter lim="800000"/>
            <a:headEnd len="med" w="med" type="stealth"/>
            <a:tailEnd len="sm" w="sm" type="none"/>
          </a:ln>
        </p:spPr>
      </p:cxnSp>
      <p:cxnSp>
        <p:nvCxnSpPr>
          <p:cNvPr id="488" name="Google Shape;488;p17"/>
          <p:cNvCxnSpPr/>
          <p:nvPr/>
        </p:nvCxnSpPr>
        <p:spPr>
          <a:xfrm rot="10800000">
            <a:off x="8238471" y="4114800"/>
            <a:ext cx="548640" cy="0"/>
          </a:xfrm>
          <a:prstGeom prst="straightConnector1">
            <a:avLst/>
          </a:prstGeom>
          <a:noFill/>
          <a:ln cap="flat" cmpd="sng" w="38100">
            <a:solidFill>
              <a:schemeClr val="dk1"/>
            </a:solidFill>
            <a:prstDash val="solid"/>
            <a:miter lim="800000"/>
            <a:headEnd len="med" w="med" type="stealth"/>
            <a:tailEnd len="sm" w="sm" type="none"/>
          </a:ln>
        </p:spPr>
      </p:cxnSp>
      <p:grpSp>
        <p:nvGrpSpPr>
          <p:cNvPr id="489" name="Google Shape;489;p17"/>
          <p:cNvGrpSpPr/>
          <p:nvPr/>
        </p:nvGrpSpPr>
        <p:grpSpPr>
          <a:xfrm>
            <a:off x="9547583" y="2663462"/>
            <a:ext cx="1591428" cy="1591428"/>
            <a:chOff x="9685297" y="2636910"/>
            <a:chExt cx="1591428" cy="1591428"/>
          </a:xfrm>
        </p:grpSpPr>
        <p:pic>
          <p:nvPicPr>
            <p:cNvPr id="490" name="Google Shape;490;p17"/>
            <p:cNvPicPr preferRelativeResize="0"/>
            <p:nvPr/>
          </p:nvPicPr>
          <p:blipFill rotWithShape="1">
            <a:blip r:embed="rId4">
              <a:alphaModFix/>
            </a:blip>
            <a:srcRect b="0" l="0" r="0" t="0"/>
            <a:stretch/>
          </p:blipFill>
          <p:spPr>
            <a:xfrm>
              <a:off x="9685297" y="2636910"/>
              <a:ext cx="1591428" cy="1591428"/>
            </a:xfrm>
            <a:prstGeom prst="rect">
              <a:avLst/>
            </a:prstGeom>
            <a:noFill/>
            <a:ln>
              <a:noFill/>
            </a:ln>
          </p:spPr>
        </p:pic>
        <p:pic>
          <p:nvPicPr>
            <p:cNvPr descr="Thumbs up sign" id="491" name="Google Shape;491;p17"/>
            <p:cNvPicPr preferRelativeResize="0"/>
            <p:nvPr/>
          </p:nvPicPr>
          <p:blipFill rotWithShape="1">
            <a:blip r:embed="rId5">
              <a:alphaModFix/>
            </a:blip>
            <a:srcRect b="0" l="0" r="0" t="0"/>
            <a:stretch/>
          </p:blipFill>
          <p:spPr>
            <a:xfrm>
              <a:off x="10234744" y="2926230"/>
              <a:ext cx="576363" cy="576363"/>
            </a:xfrm>
            <a:prstGeom prst="rect">
              <a:avLst/>
            </a:prstGeom>
            <a:noFill/>
            <a:ln>
              <a:noFill/>
            </a:ln>
          </p:spPr>
        </p:pic>
      </p:grpSp>
      <p:sp>
        <p:nvSpPr>
          <p:cNvPr id="492" name="Google Shape;492;p1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8"/>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AWS Organizations</a:t>
            </a:r>
            <a:endParaRPr/>
          </a:p>
        </p:txBody>
      </p:sp>
      <p:sp>
        <p:nvSpPr>
          <p:cNvPr id="498" name="Google Shape;498;p1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Organizations</a:t>
            </a:r>
            <a:endParaRPr/>
          </a:p>
        </p:txBody>
      </p:sp>
      <p:sp>
        <p:nvSpPr>
          <p:cNvPr id="504" name="Google Shape;504;p19"/>
          <p:cNvSpPr txBox="1"/>
          <p:nvPr/>
        </p:nvSpPr>
        <p:spPr>
          <a:xfrm>
            <a:off x="415401" y="1810130"/>
            <a:ext cx="5397911" cy="379591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AWS Organizations helps customers consolidate and manage multiple AWS accounts in a central location.</a:t>
            </a:r>
            <a:endParaRPr/>
          </a:p>
          <a:p>
            <a:pPr indent="-342900" lvl="0" marL="342900" marR="0" rtl="0" algn="l">
              <a:spcBef>
                <a:spcPts val="2000"/>
              </a:spcBef>
              <a:spcAft>
                <a:spcPts val="0"/>
              </a:spcAft>
              <a:buClr>
                <a:schemeClr val="dk1"/>
              </a:buClr>
              <a:buSzPts val="2800"/>
              <a:buFont typeface="Arial"/>
              <a:buChar char="•"/>
            </a:pPr>
            <a:r>
              <a:rPr lang="en-US" sz="2800">
                <a:solidFill>
                  <a:schemeClr val="dk1"/>
                </a:solidFill>
                <a:latin typeface="Arial"/>
                <a:ea typeface="Arial"/>
                <a:cs typeface="Arial"/>
                <a:sym typeface="Arial"/>
              </a:rPr>
              <a:t>Use service control policies (SCPs) to centrally control permissions for the accounts in your organization.</a:t>
            </a:r>
            <a:endParaRPr/>
          </a:p>
        </p:txBody>
      </p:sp>
      <p:grpSp>
        <p:nvGrpSpPr>
          <p:cNvPr id="505" name="Google Shape;505;p19"/>
          <p:cNvGrpSpPr/>
          <p:nvPr/>
        </p:nvGrpSpPr>
        <p:grpSpPr>
          <a:xfrm>
            <a:off x="6433724" y="2322710"/>
            <a:ext cx="5016775" cy="2962385"/>
            <a:chOff x="6489142" y="3086172"/>
            <a:chExt cx="5016775" cy="2962385"/>
          </a:xfrm>
        </p:grpSpPr>
        <p:grpSp>
          <p:nvGrpSpPr>
            <p:cNvPr id="506" name="Google Shape;506;p19"/>
            <p:cNvGrpSpPr/>
            <p:nvPr/>
          </p:nvGrpSpPr>
          <p:grpSpPr>
            <a:xfrm flipH="1" rot="10800000">
              <a:off x="7181818" y="3886582"/>
              <a:ext cx="3663242" cy="800410"/>
              <a:chOff x="6948233" y="3093467"/>
              <a:chExt cx="3663242" cy="800410"/>
            </a:xfrm>
          </p:grpSpPr>
          <p:cxnSp>
            <p:nvCxnSpPr>
              <p:cNvPr id="507" name="Google Shape;507;p19"/>
              <p:cNvCxnSpPr/>
              <p:nvPr/>
            </p:nvCxnSpPr>
            <p:spPr>
              <a:xfrm>
                <a:off x="8784385" y="3093467"/>
                <a:ext cx="0" cy="800410"/>
              </a:xfrm>
              <a:prstGeom prst="straightConnector1">
                <a:avLst/>
              </a:prstGeom>
              <a:noFill/>
              <a:ln cap="flat" cmpd="sng" w="31750">
                <a:solidFill>
                  <a:schemeClr val="accent1"/>
                </a:solidFill>
                <a:prstDash val="solid"/>
                <a:miter lim="800000"/>
                <a:headEnd len="sm" w="sm" type="none"/>
                <a:tailEnd len="sm" w="sm" type="none"/>
              </a:ln>
            </p:spPr>
          </p:cxnSp>
          <p:cxnSp>
            <p:nvCxnSpPr>
              <p:cNvPr id="508" name="Google Shape;508;p19"/>
              <p:cNvCxnSpPr/>
              <p:nvPr/>
            </p:nvCxnSpPr>
            <p:spPr>
              <a:xfrm flipH="1">
                <a:off x="8763875" y="3093468"/>
                <a:ext cx="1847600" cy="800409"/>
              </a:xfrm>
              <a:prstGeom prst="straightConnector1">
                <a:avLst/>
              </a:prstGeom>
              <a:noFill/>
              <a:ln cap="flat" cmpd="sng" w="31750">
                <a:solidFill>
                  <a:schemeClr val="accent1"/>
                </a:solidFill>
                <a:prstDash val="solid"/>
                <a:miter lim="800000"/>
                <a:headEnd len="sm" w="sm" type="none"/>
                <a:tailEnd len="sm" w="sm" type="none"/>
              </a:ln>
            </p:spPr>
          </p:cxnSp>
          <p:cxnSp>
            <p:nvCxnSpPr>
              <p:cNvPr id="509" name="Google Shape;509;p19"/>
              <p:cNvCxnSpPr/>
              <p:nvPr/>
            </p:nvCxnSpPr>
            <p:spPr>
              <a:xfrm>
                <a:off x="6948233" y="3093467"/>
                <a:ext cx="1815642" cy="800410"/>
              </a:xfrm>
              <a:prstGeom prst="straightConnector1">
                <a:avLst/>
              </a:prstGeom>
              <a:noFill/>
              <a:ln cap="flat" cmpd="sng" w="31750">
                <a:solidFill>
                  <a:schemeClr val="accent1"/>
                </a:solidFill>
                <a:prstDash val="solid"/>
                <a:miter lim="800000"/>
                <a:headEnd len="sm" w="sm" type="none"/>
                <a:tailEnd len="sm" w="sm" type="none"/>
              </a:ln>
            </p:spPr>
          </p:cxnSp>
        </p:grpSp>
        <p:sp>
          <p:nvSpPr>
            <p:cNvPr id="510" name="Google Shape;510;p19"/>
            <p:cNvSpPr/>
            <p:nvPr/>
          </p:nvSpPr>
          <p:spPr>
            <a:xfrm>
              <a:off x="7786465" y="3086172"/>
              <a:ext cx="2438192" cy="800409"/>
            </a:xfrm>
            <a:prstGeom prst="roundRect">
              <a:avLst>
                <a:gd fmla="val 16667" name="adj"/>
              </a:avLst>
            </a:prstGeom>
            <a:solidFill>
              <a:schemeClr val="accent5"/>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Arial"/>
                  <a:ea typeface="Arial"/>
                  <a:cs typeface="Arial"/>
                  <a:sym typeface="Arial"/>
                </a:rPr>
                <a:t>Root</a:t>
              </a:r>
              <a:endParaRPr/>
            </a:p>
          </p:txBody>
        </p:sp>
        <p:grpSp>
          <p:nvGrpSpPr>
            <p:cNvPr id="511" name="Google Shape;511;p19"/>
            <p:cNvGrpSpPr/>
            <p:nvPr/>
          </p:nvGrpSpPr>
          <p:grpSpPr>
            <a:xfrm>
              <a:off x="6489142" y="4694010"/>
              <a:ext cx="5016775" cy="1354547"/>
              <a:chOff x="6271466" y="1738922"/>
              <a:chExt cx="5016775" cy="1354547"/>
            </a:xfrm>
          </p:grpSpPr>
          <p:grpSp>
            <p:nvGrpSpPr>
              <p:cNvPr id="512" name="Google Shape;512;p19"/>
              <p:cNvGrpSpPr/>
              <p:nvPr/>
            </p:nvGrpSpPr>
            <p:grpSpPr>
              <a:xfrm>
                <a:off x="6271466" y="1738922"/>
                <a:ext cx="1353533" cy="1354545"/>
                <a:chOff x="6553200" y="2171554"/>
                <a:chExt cx="1353533" cy="1354545"/>
              </a:xfrm>
            </p:grpSpPr>
            <p:sp>
              <p:nvSpPr>
                <p:cNvPr id="513" name="Google Shape;513;p19"/>
                <p:cNvSpPr txBox="1"/>
                <p:nvPr/>
              </p:nvSpPr>
              <p:spPr>
                <a:xfrm>
                  <a:off x="6638679" y="3003518"/>
                  <a:ext cx="12314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Account 1</a:t>
                  </a:r>
                  <a:endParaRPr/>
                </a:p>
              </p:txBody>
            </p:sp>
            <p:sp>
              <p:nvSpPr>
                <p:cNvPr id="514" name="Google Shape;514;p19"/>
                <p:cNvSpPr/>
                <p:nvPr/>
              </p:nvSpPr>
              <p:spPr>
                <a:xfrm>
                  <a:off x="6553200" y="2171554"/>
                  <a:ext cx="1353533" cy="1354545"/>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515" name="Google Shape;515;p19"/>
              <p:cNvGrpSpPr/>
              <p:nvPr/>
            </p:nvGrpSpPr>
            <p:grpSpPr>
              <a:xfrm>
                <a:off x="8103087" y="1738924"/>
                <a:ext cx="1353533" cy="1354545"/>
                <a:chOff x="6553200" y="2171554"/>
                <a:chExt cx="1353533" cy="1354545"/>
              </a:xfrm>
            </p:grpSpPr>
            <p:sp>
              <p:nvSpPr>
                <p:cNvPr id="516" name="Google Shape;516;p19"/>
                <p:cNvSpPr txBox="1"/>
                <p:nvPr/>
              </p:nvSpPr>
              <p:spPr>
                <a:xfrm>
                  <a:off x="6645914" y="3003516"/>
                  <a:ext cx="12314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Account 2</a:t>
                  </a:r>
                  <a:endParaRPr/>
                </a:p>
              </p:txBody>
            </p:sp>
            <p:sp>
              <p:nvSpPr>
                <p:cNvPr id="517" name="Google Shape;517;p19"/>
                <p:cNvSpPr/>
                <p:nvPr/>
              </p:nvSpPr>
              <p:spPr>
                <a:xfrm>
                  <a:off x="6553200" y="2171554"/>
                  <a:ext cx="1353533" cy="1354545"/>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518" name="Google Shape;518;p19"/>
              <p:cNvGrpSpPr/>
              <p:nvPr/>
            </p:nvGrpSpPr>
            <p:grpSpPr>
              <a:xfrm>
                <a:off x="9934708" y="1738923"/>
                <a:ext cx="1353533" cy="1354545"/>
                <a:chOff x="6553200" y="2171554"/>
                <a:chExt cx="1353533" cy="1354545"/>
              </a:xfrm>
            </p:grpSpPr>
            <p:sp>
              <p:nvSpPr>
                <p:cNvPr id="519" name="Google Shape;519;p19"/>
                <p:cNvSpPr txBox="1"/>
                <p:nvPr/>
              </p:nvSpPr>
              <p:spPr>
                <a:xfrm>
                  <a:off x="6625473" y="3003517"/>
                  <a:ext cx="12314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Account 3</a:t>
                  </a:r>
                  <a:endParaRPr/>
                </a:p>
              </p:txBody>
            </p:sp>
            <p:sp>
              <p:nvSpPr>
                <p:cNvPr id="520" name="Google Shape;520;p19"/>
                <p:cNvSpPr/>
                <p:nvPr/>
              </p:nvSpPr>
              <p:spPr>
                <a:xfrm>
                  <a:off x="6553200" y="2171554"/>
                  <a:ext cx="1353533" cy="1354545"/>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pic>
          <p:nvPicPr>
            <p:cNvPr id="521" name="Google Shape;521;p19"/>
            <p:cNvPicPr preferRelativeResize="0"/>
            <p:nvPr/>
          </p:nvPicPr>
          <p:blipFill rotWithShape="1">
            <a:blip r:embed="rId3">
              <a:alphaModFix/>
            </a:blip>
            <a:srcRect b="0" l="0" r="0" t="0"/>
            <a:stretch/>
          </p:blipFill>
          <p:spPr>
            <a:xfrm>
              <a:off x="6842615" y="4840551"/>
              <a:ext cx="678405" cy="678405"/>
            </a:xfrm>
            <a:prstGeom prst="rect">
              <a:avLst/>
            </a:prstGeom>
            <a:noFill/>
            <a:ln>
              <a:noFill/>
            </a:ln>
          </p:spPr>
        </p:pic>
        <p:pic>
          <p:nvPicPr>
            <p:cNvPr id="522" name="Google Shape;522;p19"/>
            <p:cNvPicPr preferRelativeResize="0"/>
            <p:nvPr/>
          </p:nvPicPr>
          <p:blipFill rotWithShape="1">
            <a:blip r:embed="rId3">
              <a:alphaModFix/>
            </a:blip>
            <a:srcRect b="0" l="0" r="0" t="0"/>
            <a:stretch/>
          </p:blipFill>
          <p:spPr>
            <a:xfrm>
              <a:off x="8678766" y="4840551"/>
              <a:ext cx="678405" cy="678405"/>
            </a:xfrm>
            <a:prstGeom prst="rect">
              <a:avLst/>
            </a:prstGeom>
            <a:noFill/>
            <a:ln>
              <a:noFill/>
            </a:ln>
          </p:spPr>
        </p:pic>
        <p:pic>
          <p:nvPicPr>
            <p:cNvPr id="523" name="Google Shape;523;p19"/>
            <p:cNvPicPr preferRelativeResize="0"/>
            <p:nvPr/>
          </p:nvPicPr>
          <p:blipFill rotWithShape="1">
            <a:blip r:embed="rId3">
              <a:alphaModFix/>
            </a:blip>
            <a:srcRect b="0" l="0" r="0" t="0"/>
            <a:stretch/>
          </p:blipFill>
          <p:spPr>
            <a:xfrm>
              <a:off x="10505857" y="4840551"/>
              <a:ext cx="678405" cy="678405"/>
            </a:xfrm>
            <a:prstGeom prst="rect">
              <a:avLst/>
            </a:prstGeom>
            <a:noFill/>
            <a:ln>
              <a:noFill/>
            </a:ln>
          </p:spPr>
        </p:pic>
      </p:grpSp>
      <p:sp>
        <p:nvSpPr>
          <p:cNvPr id="524" name="Google Shape;524;p1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cxnSp>
        <p:nvCxnSpPr>
          <p:cNvPr id="529" name="Google Shape;529;p20"/>
          <p:cNvCxnSpPr>
            <a:stCxn id="530" idx="0"/>
            <a:endCxn id="531" idx="2"/>
          </p:cNvCxnSpPr>
          <p:nvPr/>
        </p:nvCxnSpPr>
        <p:spPr>
          <a:xfrm rot="10800000">
            <a:off x="8656648" y="3819944"/>
            <a:ext cx="1290300" cy="576300"/>
          </a:xfrm>
          <a:prstGeom prst="straightConnector1">
            <a:avLst/>
          </a:prstGeom>
          <a:noFill/>
          <a:ln cap="flat" cmpd="sng" w="31750">
            <a:solidFill>
              <a:schemeClr val="accent1"/>
            </a:solidFill>
            <a:prstDash val="solid"/>
            <a:miter lim="800000"/>
            <a:headEnd len="sm" w="sm" type="none"/>
            <a:tailEnd len="sm" w="sm" type="none"/>
          </a:ln>
        </p:spPr>
      </p:cxnSp>
      <p:cxnSp>
        <p:nvCxnSpPr>
          <p:cNvPr id="532" name="Google Shape;532;p20"/>
          <p:cNvCxnSpPr>
            <a:stCxn id="533" idx="0"/>
            <a:endCxn id="531" idx="2"/>
          </p:cNvCxnSpPr>
          <p:nvPr/>
        </p:nvCxnSpPr>
        <p:spPr>
          <a:xfrm flipH="1" rot="10800000">
            <a:off x="7267480" y="3819944"/>
            <a:ext cx="1389300" cy="576300"/>
          </a:xfrm>
          <a:prstGeom prst="straightConnector1">
            <a:avLst/>
          </a:prstGeom>
          <a:noFill/>
          <a:ln cap="flat" cmpd="sng" w="31750">
            <a:solidFill>
              <a:schemeClr val="accent1"/>
            </a:solidFill>
            <a:prstDash val="solid"/>
            <a:miter lim="800000"/>
            <a:headEnd len="sm" w="sm" type="none"/>
            <a:tailEnd len="sm" w="sm" type="none"/>
          </a:ln>
        </p:spPr>
      </p:cxnSp>
      <p:sp>
        <p:nvSpPr>
          <p:cNvPr id="534" name="Google Shape;534;p20"/>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Example: Organizational units</a:t>
            </a:r>
            <a:endParaRPr/>
          </a:p>
        </p:txBody>
      </p:sp>
      <p:grpSp>
        <p:nvGrpSpPr>
          <p:cNvPr id="535" name="Google Shape;535;p20"/>
          <p:cNvGrpSpPr/>
          <p:nvPr/>
        </p:nvGrpSpPr>
        <p:grpSpPr>
          <a:xfrm>
            <a:off x="896628" y="4396152"/>
            <a:ext cx="2012447" cy="1656001"/>
            <a:chOff x="3587612" y="3251675"/>
            <a:chExt cx="2012447" cy="1656001"/>
          </a:xfrm>
        </p:grpSpPr>
        <p:sp>
          <p:nvSpPr>
            <p:cNvPr id="536" name="Google Shape;536;p20"/>
            <p:cNvSpPr txBox="1"/>
            <p:nvPr/>
          </p:nvSpPr>
          <p:spPr>
            <a:xfrm>
              <a:off x="3684771" y="4124536"/>
              <a:ext cx="181812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AWS account 1:</a:t>
              </a:r>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Finance</a:t>
              </a:r>
              <a:endParaRPr/>
            </a:p>
          </p:txBody>
        </p:sp>
        <p:sp>
          <p:nvSpPr>
            <p:cNvPr id="537" name="Google Shape;537;p20"/>
            <p:cNvSpPr/>
            <p:nvPr/>
          </p:nvSpPr>
          <p:spPr>
            <a:xfrm>
              <a:off x="3587612" y="3251675"/>
              <a:ext cx="2012447" cy="1656001"/>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38" name="Google Shape;538;p20"/>
            <p:cNvPicPr preferRelativeResize="0"/>
            <p:nvPr/>
          </p:nvPicPr>
          <p:blipFill rotWithShape="1">
            <a:blip r:embed="rId3">
              <a:alphaModFix/>
            </a:blip>
            <a:srcRect b="0" l="0" r="0" t="0"/>
            <a:stretch/>
          </p:blipFill>
          <p:spPr>
            <a:xfrm>
              <a:off x="4254632" y="3401179"/>
              <a:ext cx="678405" cy="678405"/>
            </a:xfrm>
            <a:prstGeom prst="rect">
              <a:avLst/>
            </a:prstGeom>
            <a:noFill/>
            <a:ln>
              <a:noFill/>
            </a:ln>
          </p:spPr>
        </p:pic>
      </p:grpSp>
      <p:cxnSp>
        <p:nvCxnSpPr>
          <p:cNvPr id="539" name="Google Shape;539;p20"/>
          <p:cNvCxnSpPr>
            <a:stCxn id="540" idx="0"/>
            <a:endCxn id="541" idx="2"/>
          </p:cNvCxnSpPr>
          <p:nvPr/>
        </p:nvCxnSpPr>
        <p:spPr>
          <a:xfrm flipH="1" rot="10800000">
            <a:off x="4582321" y="2444144"/>
            <a:ext cx="1521600" cy="1952100"/>
          </a:xfrm>
          <a:prstGeom prst="straightConnector1">
            <a:avLst/>
          </a:prstGeom>
          <a:noFill/>
          <a:ln cap="flat" cmpd="sng" w="31750">
            <a:solidFill>
              <a:schemeClr val="accent1"/>
            </a:solidFill>
            <a:prstDash val="solid"/>
            <a:miter lim="800000"/>
            <a:headEnd len="sm" w="sm" type="none"/>
            <a:tailEnd len="sm" w="sm" type="none"/>
          </a:ln>
        </p:spPr>
      </p:cxnSp>
      <p:cxnSp>
        <p:nvCxnSpPr>
          <p:cNvPr id="542" name="Google Shape;542;p20"/>
          <p:cNvCxnSpPr>
            <a:stCxn id="531" idx="0"/>
            <a:endCxn id="541" idx="2"/>
          </p:cNvCxnSpPr>
          <p:nvPr/>
        </p:nvCxnSpPr>
        <p:spPr>
          <a:xfrm rot="10800000">
            <a:off x="6103990" y="2444187"/>
            <a:ext cx="2552700" cy="575400"/>
          </a:xfrm>
          <a:prstGeom prst="straightConnector1">
            <a:avLst/>
          </a:prstGeom>
          <a:noFill/>
          <a:ln cap="flat" cmpd="sng" w="31750">
            <a:solidFill>
              <a:schemeClr val="accent1"/>
            </a:solidFill>
            <a:prstDash val="solid"/>
            <a:miter lim="800000"/>
            <a:headEnd len="sm" w="sm" type="none"/>
            <a:tailEnd len="sm" w="sm" type="none"/>
          </a:ln>
        </p:spPr>
      </p:cxnSp>
      <p:cxnSp>
        <p:nvCxnSpPr>
          <p:cNvPr id="543" name="Google Shape;543;p20"/>
          <p:cNvCxnSpPr>
            <a:stCxn id="537" idx="0"/>
            <a:endCxn id="541" idx="2"/>
          </p:cNvCxnSpPr>
          <p:nvPr/>
        </p:nvCxnSpPr>
        <p:spPr>
          <a:xfrm flipH="1" rot="10800000">
            <a:off x="1902852" y="2444352"/>
            <a:ext cx="4201200" cy="1951800"/>
          </a:xfrm>
          <a:prstGeom prst="straightConnector1">
            <a:avLst/>
          </a:prstGeom>
          <a:noFill/>
          <a:ln cap="flat" cmpd="sng" w="31750">
            <a:solidFill>
              <a:schemeClr val="accent1"/>
            </a:solidFill>
            <a:prstDash val="solid"/>
            <a:miter lim="800000"/>
            <a:headEnd len="sm" w="sm" type="none"/>
            <a:tailEnd len="sm" w="sm" type="none"/>
          </a:ln>
        </p:spPr>
      </p:cxnSp>
      <p:sp>
        <p:nvSpPr>
          <p:cNvPr id="541" name="Google Shape;541;p20"/>
          <p:cNvSpPr/>
          <p:nvPr/>
        </p:nvSpPr>
        <p:spPr>
          <a:xfrm>
            <a:off x="4884935" y="1643837"/>
            <a:ext cx="2438192" cy="800409"/>
          </a:xfrm>
          <a:prstGeom prst="roundRect">
            <a:avLst>
              <a:gd fmla="val 16667" name="adj"/>
            </a:avLst>
          </a:prstGeom>
          <a:solidFill>
            <a:schemeClr val="accent5"/>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Arial"/>
                <a:ea typeface="Arial"/>
                <a:cs typeface="Arial"/>
                <a:sym typeface="Arial"/>
              </a:rPr>
              <a:t>Root</a:t>
            </a:r>
            <a:endParaRPr/>
          </a:p>
        </p:txBody>
      </p:sp>
      <p:grpSp>
        <p:nvGrpSpPr>
          <p:cNvPr id="544" name="Google Shape;544;p20"/>
          <p:cNvGrpSpPr/>
          <p:nvPr/>
        </p:nvGrpSpPr>
        <p:grpSpPr>
          <a:xfrm>
            <a:off x="3576097" y="4396244"/>
            <a:ext cx="2012447" cy="1656001"/>
            <a:chOff x="3587612" y="3251675"/>
            <a:chExt cx="2012447" cy="1656001"/>
          </a:xfrm>
        </p:grpSpPr>
        <p:sp>
          <p:nvSpPr>
            <p:cNvPr id="545" name="Google Shape;545;p20"/>
            <p:cNvSpPr txBox="1"/>
            <p:nvPr/>
          </p:nvSpPr>
          <p:spPr>
            <a:xfrm>
              <a:off x="3684771" y="4124536"/>
              <a:ext cx="181812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AWS account 2:</a:t>
              </a:r>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IT</a:t>
              </a:r>
              <a:endParaRPr/>
            </a:p>
          </p:txBody>
        </p:sp>
        <p:sp>
          <p:nvSpPr>
            <p:cNvPr id="540" name="Google Shape;540;p20"/>
            <p:cNvSpPr/>
            <p:nvPr/>
          </p:nvSpPr>
          <p:spPr>
            <a:xfrm>
              <a:off x="3587612" y="3251675"/>
              <a:ext cx="2012447" cy="1656001"/>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46" name="Google Shape;546;p20"/>
            <p:cNvPicPr preferRelativeResize="0"/>
            <p:nvPr/>
          </p:nvPicPr>
          <p:blipFill rotWithShape="1">
            <a:blip r:embed="rId3">
              <a:alphaModFix/>
            </a:blip>
            <a:srcRect b="0" l="0" r="0" t="0"/>
            <a:stretch/>
          </p:blipFill>
          <p:spPr>
            <a:xfrm>
              <a:off x="4254632" y="3401179"/>
              <a:ext cx="678405" cy="678405"/>
            </a:xfrm>
            <a:prstGeom prst="rect">
              <a:avLst/>
            </a:prstGeom>
            <a:noFill/>
            <a:ln>
              <a:noFill/>
            </a:ln>
          </p:spPr>
        </p:pic>
      </p:grpSp>
      <p:grpSp>
        <p:nvGrpSpPr>
          <p:cNvPr id="547" name="Google Shape;547;p20"/>
          <p:cNvGrpSpPr/>
          <p:nvPr/>
        </p:nvGrpSpPr>
        <p:grpSpPr>
          <a:xfrm>
            <a:off x="6261257" y="4396244"/>
            <a:ext cx="2012447" cy="1656001"/>
            <a:chOff x="3587612" y="3251675"/>
            <a:chExt cx="2012447" cy="1656001"/>
          </a:xfrm>
        </p:grpSpPr>
        <p:sp>
          <p:nvSpPr>
            <p:cNvPr id="548" name="Google Shape;548;p20"/>
            <p:cNvSpPr txBox="1"/>
            <p:nvPr/>
          </p:nvSpPr>
          <p:spPr>
            <a:xfrm>
              <a:off x="3684771" y="4124536"/>
              <a:ext cx="181812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AWS account 3:</a:t>
              </a:r>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HR</a:t>
              </a:r>
              <a:endParaRPr/>
            </a:p>
          </p:txBody>
        </p:sp>
        <p:sp>
          <p:nvSpPr>
            <p:cNvPr id="533" name="Google Shape;533;p20"/>
            <p:cNvSpPr/>
            <p:nvPr/>
          </p:nvSpPr>
          <p:spPr>
            <a:xfrm>
              <a:off x="3587612" y="3251675"/>
              <a:ext cx="2012447" cy="1656001"/>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49" name="Google Shape;549;p20"/>
            <p:cNvPicPr preferRelativeResize="0"/>
            <p:nvPr/>
          </p:nvPicPr>
          <p:blipFill rotWithShape="1">
            <a:blip r:embed="rId3">
              <a:alphaModFix/>
            </a:blip>
            <a:srcRect b="0" l="0" r="0" t="0"/>
            <a:stretch/>
          </p:blipFill>
          <p:spPr>
            <a:xfrm>
              <a:off x="4254632" y="3401179"/>
              <a:ext cx="678405" cy="678405"/>
            </a:xfrm>
            <a:prstGeom prst="rect">
              <a:avLst/>
            </a:prstGeom>
            <a:noFill/>
            <a:ln>
              <a:noFill/>
            </a:ln>
          </p:spPr>
        </p:pic>
      </p:grpSp>
      <p:grpSp>
        <p:nvGrpSpPr>
          <p:cNvPr id="550" name="Google Shape;550;p20"/>
          <p:cNvGrpSpPr/>
          <p:nvPr/>
        </p:nvGrpSpPr>
        <p:grpSpPr>
          <a:xfrm>
            <a:off x="8940724" y="4396244"/>
            <a:ext cx="2012447" cy="1656001"/>
            <a:chOff x="3587612" y="3251675"/>
            <a:chExt cx="2012447" cy="1656001"/>
          </a:xfrm>
        </p:grpSpPr>
        <p:sp>
          <p:nvSpPr>
            <p:cNvPr id="551" name="Google Shape;551;p20"/>
            <p:cNvSpPr txBox="1"/>
            <p:nvPr/>
          </p:nvSpPr>
          <p:spPr>
            <a:xfrm>
              <a:off x="3684771" y="4124536"/>
              <a:ext cx="181812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AWS account 4:</a:t>
              </a:r>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Legal</a:t>
              </a:r>
              <a:endParaRPr/>
            </a:p>
          </p:txBody>
        </p:sp>
        <p:sp>
          <p:nvSpPr>
            <p:cNvPr id="530" name="Google Shape;530;p20"/>
            <p:cNvSpPr/>
            <p:nvPr/>
          </p:nvSpPr>
          <p:spPr>
            <a:xfrm>
              <a:off x="3587612" y="3251675"/>
              <a:ext cx="2012447" cy="1656001"/>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52" name="Google Shape;552;p20"/>
            <p:cNvPicPr preferRelativeResize="0"/>
            <p:nvPr/>
          </p:nvPicPr>
          <p:blipFill rotWithShape="1">
            <a:blip r:embed="rId3">
              <a:alphaModFix/>
            </a:blip>
            <a:srcRect b="0" l="0" r="0" t="0"/>
            <a:stretch/>
          </p:blipFill>
          <p:spPr>
            <a:xfrm>
              <a:off x="4254632" y="3401179"/>
              <a:ext cx="678405" cy="678405"/>
            </a:xfrm>
            <a:prstGeom prst="rect">
              <a:avLst/>
            </a:prstGeom>
            <a:noFill/>
            <a:ln>
              <a:noFill/>
            </a:ln>
          </p:spPr>
        </p:pic>
      </p:grpSp>
      <p:sp>
        <p:nvSpPr>
          <p:cNvPr id="531" name="Google Shape;531;p20"/>
          <p:cNvSpPr/>
          <p:nvPr/>
        </p:nvSpPr>
        <p:spPr>
          <a:xfrm>
            <a:off x="8030271" y="3019587"/>
            <a:ext cx="1252837" cy="800409"/>
          </a:xfrm>
          <a:prstGeom prst="roundRect">
            <a:avLst>
              <a:gd fmla="val 16667" name="adj"/>
            </a:avLst>
          </a:prstGeom>
          <a:solidFill>
            <a:schemeClr val="accent5"/>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Arial"/>
                <a:ea typeface="Arial"/>
                <a:cs typeface="Arial"/>
                <a:sym typeface="Arial"/>
              </a:rPr>
              <a:t>OU</a:t>
            </a:r>
            <a:endParaRPr/>
          </a:p>
        </p:txBody>
      </p:sp>
      <p:sp>
        <p:nvSpPr>
          <p:cNvPr id="553" name="Google Shape;553;p2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21"/>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559" name="Google Shape;559;p21"/>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a:t>
            </a:r>
            <a:endParaRPr/>
          </a:p>
        </p:txBody>
      </p:sp>
      <p:sp>
        <p:nvSpPr>
          <p:cNvPr id="560" name="Google Shape;560;p21"/>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A customer is configuring service control policies (SCPs) in AWS Organizations. Which identities and resources can SCPs be applied to? </a:t>
            </a:r>
            <a:br>
              <a:rPr lang="en-US"/>
            </a:br>
            <a:r>
              <a:rPr lang="en-US"/>
              <a:t>(Select TWO.)</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IAM users</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IAM groups</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An individual member account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IAM roles</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An organizational unit (OU)</a:t>
            </a:r>
            <a:endParaRPr/>
          </a:p>
        </p:txBody>
      </p:sp>
      <p:pic>
        <p:nvPicPr>
          <p:cNvPr id="561" name="Google Shape;561;p21"/>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2"/>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567" name="Google Shape;567;p22"/>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a:t>
            </a:r>
            <a:endParaRPr/>
          </a:p>
        </p:txBody>
      </p:sp>
      <p:sp>
        <p:nvSpPr>
          <p:cNvPr id="568" name="Google Shape;568;p22"/>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A customer is configuring service control policies (SCPs) in AWS Organizations. Which identities and resources can SCPs be applied to? </a:t>
            </a:r>
            <a:br>
              <a:rPr lang="en-US"/>
            </a:br>
            <a:r>
              <a:rPr lang="en-US"/>
              <a:t>(Select TWO.)</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IAM users</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IAM groups</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An individual member account (correct)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IAM roles</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An organizational unit (OU) (correct)</a:t>
            </a:r>
            <a:endParaRPr/>
          </a:p>
          <a:p>
            <a:pPr indent="0" lvl="0" marL="0" rtl="0" algn="l">
              <a:lnSpc>
                <a:spcPct val="90000"/>
              </a:lnSpc>
              <a:spcBef>
                <a:spcPts val="1000"/>
              </a:spcBef>
              <a:spcAft>
                <a:spcPts val="0"/>
              </a:spcAft>
              <a:buClr>
                <a:schemeClr val="dk1"/>
              </a:buClr>
              <a:buSzPts val="2800"/>
              <a:buNone/>
            </a:pPr>
            <a:r>
              <a:t/>
            </a:r>
            <a:endParaRPr/>
          </a:p>
        </p:txBody>
      </p:sp>
      <p:pic>
        <p:nvPicPr>
          <p:cNvPr id="569" name="Google Shape;569;p22"/>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3"/>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Compliance</a:t>
            </a:r>
            <a:endParaRPr/>
          </a:p>
        </p:txBody>
      </p:sp>
      <p:sp>
        <p:nvSpPr>
          <p:cNvPr id="575" name="Google Shape;575;p2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Artifact</a:t>
            </a:r>
            <a:endParaRPr/>
          </a:p>
        </p:txBody>
      </p:sp>
      <p:sp>
        <p:nvSpPr>
          <p:cNvPr id="581" name="Google Shape;581;p24"/>
          <p:cNvSpPr txBox="1"/>
          <p:nvPr/>
        </p:nvSpPr>
        <p:spPr>
          <a:xfrm>
            <a:off x="639776" y="4750161"/>
            <a:ext cx="317608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Access AWS compliance reports on demand</a:t>
            </a:r>
            <a:endParaRPr/>
          </a:p>
        </p:txBody>
      </p:sp>
      <p:sp>
        <p:nvSpPr>
          <p:cNvPr id="582" name="Google Shape;582;p24"/>
          <p:cNvSpPr txBox="1"/>
          <p:nvPr/>
        </p:nvSpPr>
        <p:spPr>
          <a:xfrm>
            <a:off x="4375261" y="4750161"/>
            <a:ext cx="344147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Review, accept, and manage agreements with AWS</a:t>
            </a:r>
            <a:endParaRPr/>
          </a:p>
        </p:txBody>
      </p:sp>
      <p:sp>
        <p:nvSpPr>
          <p:cNvPr id="583" name="Google Shape;583;p24"/>
          <p:cNvSpPr txBox="1"/>
          <p:nvPr/>
        </p:nvSpPr>
        <p:spPr>
          <a:xfrm>
            <a:off x="8432376" y="4754074"/>
            <a:ext cx="317608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Access compliance reports from third-party auditors</a:t>
            </a:r>
            <a:endParaRPr/>
          </a:p>
        </p:txBody>
      </p:sp>
      <p:pic>
        <p:nvPicPr>
          <p:cNvPr id="584" name="Google Shape;584;p24"/>
          <p:cNvPicPr preferRelativeResize="0"/>
          <p:nvPr/>
        </p:nvPicPr>
        <p:blipFill rotWithShape="1">
          <a:blip r:embed="rId3">
            <a:alphaModFix/>
          </a:blip>
          <a:srcRect b="0" l="0" r="0" t="0"/>
          <a:stretch/>
        </p:blipFill>
        <p:spPr>
          <a:xfrm>
            <a:off x="1140807" y="2878501"/>
            <a:ext cx="1870527" cy="1770031"/>
          </a:xfrm>
          <a:prstGeom prst="rect">
            <a:avLst/>
          </a:prstGeom>
          <a:noFill/>
          <a:ln>
            <a:noFill/>
          </a:ln>
        </p:spPr>
      </p:pic>
      <p:pic>
        <p:nvPicPr>
          <p:cNvPr id="585" name="Google Shape;585;p24"/>
          <p:cNvPicPr preferRelativeResize="0"/>
          <p:nvPr/>
        </p:nvPicPr>
        <p:blipFill rotWithShape="1">
          <a:blip r:embed="rId4">
            <a:alphaModFix/>
          </a:blip>
          <a:srcRect b="0" l="0" r="0" t="0"/>
          <a:stretch/>
        </p:blipFill>
        <p:spPr>
          <a:xfrm>
            <a:off x="9180665" y="2604208"/>
            <a:ext cx="1686567" cy="2044324"/>
          </a:xfrm>
          <a:prstGeom prst="rect">
            <a:avLst/>
          </a:prstGeom>
          <a:noFill/>
          <a:ln>
            <a:noFill/>
          </a:ln>
        </p:spPr>
      </p:pic>
      <p:pic>
        <p:nvPicPr>
          <p:cNvPr id="586" name="Google Shape;586;p24"/>
          <p:cNvPicPr preferRelativeResize="0"/>
          <p:nvPr/>
        </p:nvPicPr>
        <p:blipFill rotWithShape="1">
          <a:blip r:embed="rId5">
            <a:alphaModFix/>
          </a:blip>
          <a:srcRect b="0" l="0" r="0" t="0"/>
          <a:stretch/>
        </p:blipFill>
        <p:spPr>
          <a:xfrm>
            <a:off x="4824631" y="2682498"/>
            <a:ext cx="2542737" cy="1966034"/>
          </a:xfrm>
          <a:prstGeom prst="rect">
            <a:avLst/>
          </a:prstGeom>
          <a:noFill/>
          <a:ln>
            <a:noFill/>
          </a:ln>
        </p:spPr>
      </p:pic>
      <p:sp>
        <p:nvSpPr>
          <p:cNvPr id="587" name="Google Shape;587;p24"/>
          <p:cNvSpPr txBox="1"/>
          <p:nvPr/>
        </p:nvSpPr>
        <p:spPr>
          <a:xfrm>
            <a:off x="419100" y="1378472"/>
            <a:ext cx="1172475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AWS Artifact provides on-demand access to security and compliance reports and select online agreements.</a:t>
            </a:r>
            <a:endParaRPr/>
          </a:p>
        </p:txBody>
      </p:sp>
      <p:sp>
        <p:nvSpPr>
          <p:cNvPr id="588" name="Google Shape;588;p2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Assurance programs</a:t>
            </a:r>
            <a:endParaRPr/>
          </a:p>
        </p:txBody>
      </p:sp>
      <p:grpSp>
        <p:nvGrpSpPr>
          <p:cNvPr id="594" name="Google Shape;594;p25"/>
          <p:cNvGrpSpPr/>
          <p:nvPr/>
        </p:nvGrpSpPr>
        <p:grpSpPr>
          <a:xfrm>
            <a:off x="472408" y="1459663"/>
            <a:ext cx="11247184" cy="4572568"/>
            <a:chOff x="411416" y="1474654"/>
            <a:chExt cx="11247184" cy="4572568"/>
          </a:xfrm>
        </p:grpSpPr>
        <p:sp>
          <p:nvSpPr>
            <p:cNvPr id="595" name="Google Shape;595;p25"/>
            <p:cNvSpPr/>
            <p:nvPr/>
          </p:nvSpPr>
          <p:spPr>
            <a:xfrm>
              <a:off x="476250" y="1555833"/>
              <a:ext cx="11182350" cy="4491389"/>
            </a:xfrm>
            <a:prstGeom prst="roundRect">
              <a:avLst>
                <a:gd fmla="val 3777" name="adj"/>
              </a:avLst>
            </a:prstGeom>
            <a:solidFill>
              <a:schemeClr val="lt1"/>
            </a:solidFill>
            <a:ln cap="flat" cmpd="sng" w="38100">
              <a:solidFill>
                <a:schemeClr val="dk1"/>
              </a:solidFill>
              <a:prstDash val="solid"/>
              <a:miter lim="800000"/>
              <a:headEnd len="sm" w="sm" type="none"/>
              <a:tailEnd len="sm" w="sm" type="none"/>
            </a:ln>
          </p:spPr>
          <p:txBody>
            <a:bodyPr anchorCtr="0" anchor="t" bIns="146300" lIns="182875" spcFirstLastPara="1" rIns="182875" wrap="square" tIns="1463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pic>
          <p:nvPicPr>
            <p:cNvPr id="596" name="Google Shape;596;p25"/>
            <p:cNvPicPr preferRelativeResize="0"/>
            <p:nvPr/>
          </p:nvPicPr>
          <p:blipFill rotWithShape="1">
            <a:blip r:embed="rId3">
              <a:alphaModFix/>
            </a:blip>
            <a:srcRect b="0" l="0" r="0" t="0"/>
            <a:stretch/>
          </p:blipFill>
          <p:spPr>
            <a:xfrm>
              <a:off x="600553" y="1627998"/>
              <a:ext cx="10993213" cy="4228643"/>
            </a:xfrm>
            <a:prstGeom prst="rect">
              <a:avLst/>
            </a:prstGeom>
            <a:noFill/>
            <a:ln>
              <a:noFill/>
            </a:ln>
          </p:spPr>
        </p:pic>
        <p:cxnSp>
          <p:nvCxnSpPr>
            <p:cNvPr id="597" name="Google Shape;597;p25"/>
            <p:cNvCxnSpPr/>
            <p:nvPr/>
          </p:nvCxnSpPr>
          <p:spPr>
            <a:xfrm>
              <a:off x="476250" y="2497126"/>
              <a:ext cx="11182350" cy="0"/>
            </a:xfrm>
            <a:prstGeom prst="straightConnector1">
              <a:avLst/>
            </a:prstGeom>
            <a:noFill/>
            <a:ln cap="flat" cmpd="sng" w="38100">
              <a:solidFill>
                <a:schemeClr val="dk1"/>
              </a:solidFill>
              <a:prstDash val="dot"/>
              <a:miter lim="800000"/>
              <a:headEnd len="sm" w="sm" type="none"/>
              <a:tailEnd len="sm" w="sm" type="none"/>
            </a:ln>
          </p:spPr>
        </p:cxnSp>
        <p:sp>
          <p:nvSpPr>
            <p:cNvPr id="598" name="Google Shape;598;p25"/>
            <p:cNvSpPr txBox="1"/>
            <p:nvPr/>
          </p:nvSpPr>
          <p:spPr>
            <a:xfrm>
              <a:off x="419100" y="1474654"/>
              <a:ext cx="975267" cy="517065"/>
            </a:xfrm>
            <a:prstGeom prst="rect">
              <a:avLst/>
            </a:prstGeom>
            <a:noFill/>
            <a:ln>
              <a:noFill/>
            </a:ln>
          </p:spPr>
          <p:txBody>
            <a:bodyPr anchorCtr="0" anchor="t" bIns="146300" lIns="182875" spcFirstLastPara="1" rIns="182875" wrap="square" tIns="146300">
              <a:spAutoFit/>
            </a:bodyPr>
            <a:lstStyle/>
            <a:p>
              <a:pPr indent="0" lvl="0" marL="0" marR="0" rtl="0" algn="l">
                <a:lnSpc>
                  <a:spcPct val="90000"/>
                </a:lnSpc>
                <a:spcBef>
                  <a:spcPts val="0"/>
                </a:spcBef>
                <a:spcAft>
                  <a:spcPts val="0"/>
                </a:spcAft>
                <a:buNone/>
              </a:pPr>
              <a:r>
                <a:rPr b="0" lang="en-US" sz="1600">
                  <a:solidFill>
                    <a:schemeClr val="dk1"/>
                  </a:solidFill>
                  <a:latin typeface="Arial"/>
                  <a:ea typeface="Arial"/>
                  <a:cs typeface="Arial"/>
                  <a:sym typeface="Arial"/>
                </a:rPr>
                <a:t>Global</a:t>
              </a:r>
              <a:endParaRPr/>
            </a:p>
          </p:txBody>
        </p:sp>
        <p:sp>
          <p:nvSpPr>
            <p:cNvPr id="599" name="Google Shape;599;p25"/>
            <p:cNvSpPr txBox="1"/>
            <p:nvPr/>
          </p:nvSpPr>
          <p:spPr>
            <a:xfrm>
              <a:off x="419100" y="2427606"/>
              <a:ext cx="762068" cy="517065"/>
            </a:xfrm>
            <a:prstGeom prst="rect">
              <a:avLst/>
            </a:prstGeom>
            <a:noFill/>
            <a:ln>
              <a:noFill/>
            </a:ln>
          </p:spPr>
          <p:txBody>
            <a:bodyPr anchorCtr="0" anchor="t" bIns="146300" lIns="182875" spcFirstLastPara="1" rIns="182875" wrap="square" tIns="146300">
              <a:spAutoFit/>
            </a:bodyPr>
            <a:lstStyle/>
            <a:p>
              <a:pPr indent="0" lvl="0" marL="0" marR="0" rtl="0" algn="l">
                <a:lnSpc>
                  <a:spcPct val="90000"/>
                </a:lnSpc>
                <a:spcBef>
                  <a:spcPts val="0"/>
                </a:spcBef>
                <a:spcAft>
                  <a:spcPts val="0"/>
                </a:spcAft>
                <a:buNone/>
              </a:pPr>
              <a:r>
                <a:rPr b="0" lang="en-US" sz="1600">
                  <a:solidFill>
                    <a:schemeClr val="dk1"/>
                  </a:solidFill>
                  <a:latin typeface="Arial"/>
                  <a:ea typeface="Arial"/>
                  <a:cs typeface="Arial"/>
                  <a:sym typeface="Arial"/>
                </a:rPr>
                <a:t>USA</a:t>
              </a:r>
              <a:endParaRPr/>
            </a:p>
          </p:txBody>
        </p:sp>
        <p:sp>
          <p:nvSpPr>
            <p:cNvPr id="600" name="Google Shape;600;p25"/>
            <p:cNvSpPr txBox="1"/>
            <p:nvPr/>
          </p:nvSpPr>
          <p:spPr>
            <a:xfrm>
              <a:off x="411416" y="4850211"/>
              <a:ext cx="1406475" cy="517065"/>
            </a:xfrm>
            <a:prstGeom prst="rect">
              <a:avLst/>
            </a:prstGeom>
            <a:noFill/>
            <a:ln>
              <a:noFill/>
            </a:ln>
          </p:spPr>
          <p:txBody>
            <a:bodyPr anchorCtr="0" anchor="t" bIns="146300" lIns="182875" spcFirstLastPara="1" rIns="182875" wrap="square" tIns="146300">
              <a:spAutoFit/>
            </a:bodyPr>
            <a:lstStyle/>
            <a:p>
              <a:pPr indent="0" lvl="0" marL="0" marR="0" rtl="0" algn="l">
                <a:lnSpc>
                  <a:spcPct val="90000"/>
                </a:lnSpc>
                <a:spcBef>
                  <a:spcPts val="0"/>
                </a:spcBef>
                <a:spcAft>
                  <a:spcPts val="0"/>
                </a:spcAft>
                <a:buNone/>
              </a:pPr>
              <a:r>
                <a:rPr b="0" lang="en-US" sz="1600">
                  <a:solidFill>
                    <a:schemeClr val="dk1"/>
                  </a:solidFill>
                  <a:latin typeface="Arial"/>
                  <a:ea typeface="Arial"/>
                  <a:cs typeface="Arial"/>
                  <a:sym typeface="Arial"/>
                </a:rPr>
                <a:t>Asia Pacific</a:t>
              </a:r>
              <a:endParaRPr/>
            </a:p>
          </p:txBody>
        </p:sp>
        <p:sp>
          <p:nvSpPr>
            <p:cNvPr id="601" name="Google Shape;601;p25"/>
            <p:cNvSpPr txBox="1"/>
            <p:nvPr/>
          </p:nvSpPr>
          <p:spPr>
            <a:xfrm>
              <a:off x="7787036" y="3584448"/>
              <a:ext cx="1029769" cy="517065"/>
            </a:xfrm>
            <a:prstGeom prst="rect">
              <a:avLst/>
            </a:prstGeom>
            <a:noFill/>
            <a:ln>
              <a:noFill/>
            </a:ln>
          </p:spPr>
          <p:txBody>
            <a:bodyPr anchorCtr="0" anchor="t" bIns="146300" lIns="182875" spcFirstLastPara="1" rIns="182875" wrap="square" tIns="146300">
              <a:spAutoFit/>
            </a:bodyPr>
            <a:lstStyle/>
            <a:p>
              <a:pPr indent="0" lvl="0" marL="0" marR="0" rtl="0" algn="l">
                <a:lnSpc>
                  <a:spcPct val="90000"/>
                </a:lnSpc>
                <a:spcBef>
                  <a:spcPts val="0"/>
                </a:spcBef>
                <a:spcAft>
                  <a:spcPts val="0"/>
                </a:spcAft>
                <a:buNone/>
              </a:pPr>
              <a:r>
                <a:rPr b="0" lang="en-US" sz="1600">
                  <a:solidFill>
                    <a:schemeClr val="dk1"/>
                  </a:solidFill>
                  <a:latin typeface="Arial"/>
                  <a:ea typeface="Arial"/>
                  <a:cs typeface="Arial"/>
                  <a:sym typeface="Arial"/>
                </a:rPr>
                <a:t>Europe</a:t>
              </a:r>
              <a:endParaRPr/>
            </a:p>
          </p:txBody>
        </p:sp>
        <p:sp>
          <p:nvSpPr>
            <p:cNvPr id="602" name="Google Shape;602;p25"/>
            <p:cNvSpPr/>
            <p:nvPr/>
          </p:nvSpPr>
          <p:spPr>
            <a:xfrm>
              <a:off x="7787036" y="3653200"/>
              <a:ext cx="3871564" cy="2394022"/>
            </a:xfrm>
            <a:custGeom>
              <a:rect b="b" l="l" r="r" t="t"/>
              <a:pathLst>
                <a:path extrusionOk="0" h="941294" w="1595717">
                  <a:moveTo>
                    <a:pt x="1595717" y="0"/>
                  </a:moveTo>
                  <a:lnTo>
                    <a:pt x="0" y="0"/>
                  </a:lnTo>
                  <a:lnTo>
                    <a:pt x="0" y="941294"/>
                  </a:lnTo>
                </a:path>
              </a:pathLst>
            </a:custGeom>
            <a:noFill/>
            <a:ln cap="flat" cmpd="sng" w="381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603" name="Google Shape;603;p25"/>
            <p:cNvCxnSpPr/>
            <p:nvPr/>
          </p:nvCxnSpPr>
          <p:spPr>
            <a:xfrm>
              <a:off x="476250" y="4899154"/>
              <a:ext cx="7331869" cy="0"/>
            </a:xfrm>
            <a:prstGeom prst="straightConnector1">
              <a:avLst/>
            </a:prstGeom>
            <a:noFill/>
            <a:ln cap="flat" cmpd="sng" w="38100">
              <a:solidFill>
                <a:schemeClr val="dk1"/>
              </a:solidFill>
              <a:prstDash val="dot"/>
              <a:miter lim="800000"/>
              <a:headEnd len="sm" w="sm" type="none"/>
              <a:tailEnd len="sm" w="sm" type="none"/>
            </a:ln>
          </p:spPr>
        </p:cxnSp>
        <p:cxnSp>
          <p:nvCxnSpPr>
            <p:cNvPr id="604" name="Google Shape;604;p25"/>
            <p:cNvCxnSpPr/>
            <p:nvPr/>
          </p:nvCxnSpPr>
          <p:spPr>
            <a:xfrm>
              <a:off x="1147482" y="6047222"/>
              <a:ext cx="9753600" cy="0"/>
            </a:xfrm>
            <a:prstGeom prst="straightConnector1">
              <a:avLst/>
            </a:prstGeom>
            <a:noFill/>
            <a:ln cap="flat" cmpd="sng" w="38100">
              <a:solidFill>
                <a:schemeClr val="dk1"/>
              </a:solidFill>
              <a:prstDash val="solid"/>
              <a:miter lim="800000"/>
              <a:headEnd len="sm" w="sm" type="none"/>
              <a:tailEnd len="sm" w="sm" type="none"/>
            </a:ln>
          </p:spPr>
        </p:cxnSp>
      </p:grpSp>
      <p:sp>
        <p:nvSpPr>
          <p:cNvPr id="605" name="Google Shape;605;p2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2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Customer Compliance Center</a:t>
            </a:r>
            <a:endParaRPr/>
          </a:p>
        </p:txBody>
      </p:sp>
      <p:sp>
        <p:nvSpPr>
          <p:cNvPr id="611" name="Google Shape;611;p26"/>
          <p:cNvSpPr txBox="1"/>
          <p:nvPr/>
        </p:nvSpPr>
        <p:spPr>
          <a:xfrm>
            <a:off x="521979" y="4630100"/>
            <a:ext cx="3176088"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Discover compliance stories from companies in regulated industries</a:t>
            </a:r>
            <a:endParaRPr/>
          </a:p>
        </p:txBody>
      </p:sp>
      <p:sp>
        <p:nvSpPr>
          <p:cNvPr id="612" name="Google Shape;612;p26"/>
          <p:cNvSpPr txBox="1"/>
          <p:nvPr/>
        </p:nvSpPr>
        <p:spPr>
          <a:xfrm>
            <a:off x="4375261" y="4630100"/>
            <a:ext cx="344147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Access compliance technical papers and documentation</a:t>
            </a:r>
            <a:endParaRPr/>
          </a:p>
        </p:txBody>
      </p:sp>
      <p:sp>
        <p:nvSpPr>
          <p:cNvPr id="613" name="Google Shape;613;p26"/>
          <p:cNvSpPr txBox="1"/>
          <p:nvPr/>
        </p:nvSpPr>
        <p:spPr>
          <a:xfrm>
            <a:off x="8376136" y="4630100"/>
            <a:ext cx="317608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Complete the auditor learning path</a:t>
            </a:r>
            <a:endParaRPr/>
          </a:p>
        </p:txBody>
      </p:sp>
      <p:pic>
        <p:nvPicPr>
          <p:cNvPr id="614" name="Google Shape;614;p26"/>
          <p:cNvPicPr preferRelativeResize="0"/>
          <p:nvPr/>
        </p:nvPicPr>
        <p:blipFill rotWithShape="1">
          <a:blip r:embed="rId3">
            <a:alphaModFix/>
          </a:blip>
          <a:srcRect b="0" l="0" r="0" t="0"/>
          <a:stretch/>
        </p:blipFill>
        <p:spPr>
          <a:xfrm>
            <a:off x="1191148" y="2637362"/>
            <a:ext cx="1837750" cy="1899813"/>
          </a:xfrm>
          <a:prstGeom prst="rect">
            <a:avLst/>
          </a:prstGeom>
          <a:noFill/>
          <a:ln>
            <a:noFill/>
          </a:ln>
        </p:spPr>
      </p:pic>
      <p:pic>
        <p:nvPicPr>
          <p:cNvPr id="615" name="Google Shape;615;p26"/>
          <p:cNvPicPr preferRelativeResize="0"/>
          <p:nvPr/>
        </p:nvPicPr>
        <p:blipFill rotWithShape="1">
          <a:blip r:embed="rId4">
            <a:alphaModFix/>
          </a:blip>
          <a:srcRect b="0" l="0" r="0" t="0"/>
          <a:stretch/>
        </p:blipFill>
        <p:spPr>
          <a:xfrm>
            <a:off x="5252716" y="2601014"/>
            <a:ext cx="1686568" cy="1899812"/>
          </a:xfrm>
          <a:prstGeom prst="rect">
            <a:avLst/>
          </a:prstGeom>
          <a:noFill/>
          <a:ln>
            <a:noFill/>
          </a:ln>
        </p:spPr>
      </p:pic>
      <p:pic>
        <p:nvPicPr>
          <p:cNvPr id="616" name="Google Shape;616;p26"/>
          <p:cNvPicPr preferRelativeResize="0"/>
          <p:nvPr/>
        </p:nvPicPr>
        <p:blipFill rotWithShape="1">
          <a:blip r:embed="rId5">
            <a:alphaModFix/>
          </a:blip>
          <a:srcRect b="0" l="0" r="0" t="0"/>
          <a:stretch/>
        </p:blipFill>
        <p:spPr>
          <a:xfrm>
            <a:off x="9163102" y="2887506"/>
            <a:ext cx="1602155" cy="1742594"/>
          </a:xfrm>
          <a:prstGeom prst="rect">
            <a:avLst/>
          </a:prstGeom>
          <a:noFill/>
          <a:ln>
            <a:noFill/>
          </a:ln>
        </p:spPr>
      </p:pic>
      <p:sp>
        <p:nvSpPr>
          <p:cNvPr id="617" name="Google Shape;617;p26"/>
          <p:cNvSpPr txBox="1"/>
          <p:nvPr/>
        </p:nvSpPr>
        <p:spPr>
          <a:xfrm>
            <a:off x="419100" y="1378472"/>
            <a:ext cx="1172475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The Customer Compliance Center contains resources to help you learn more about AWS compliance.</a:t>
            </a:r>
            <a:endParaRPr/>
          </a:p>
        </p:txBody>
      </p:sp>
      <p:sp>
        <p:nvSpPr>
          <p:cNvPr id="618" name="Google Shape;618;p2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27"/>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624" name="Google Shape;624;p27"/>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a:t>
            </a:r>
            <a:endParaRPr/>
          </a:p>
        </p:txBody>
      </p:sp>
      <p:sp>
        <p:nvSpPr>
          <p:cNvPr id="625" name="Google Shape;625;p27"/>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tasks can you complete in AWS Artifact? (Select TWO.)</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Access AWS compliance reports on-demand</a:t>
            </a:r>
            <a:endParaRPr/>
          </a:p>
          <a:p>
            <a:pPr indent="-457200" lvl="0" marL="457200" rtl="0" algn="l">
              <a:lnSpc>
                <a:spcPct val="90000"/>
              </a:lnSpc>
              <a:spcBef>
                <a:spcPts val="600"/>
              </a:spcBef>
              <a:spcAft>
                <a:spcPts val="0"/>
              </a:spcAft>
              <a:buClr>
                <a:schemeClr val="dk1"/>
              </a:buClr>
              <a:buSzPts val="2400"/>
              <a:buFont typeface="Arial"/>
              <a:buAutoNum type="alphaUcPeriod"/>
            </a:pPr>
            <a:r>
              <a:rPr lang="en-US" sz="2400"/>
              <a:t>Consolidate and manage multiple AWS accounts in a central location</a:t>
            </a:r>
            <a:endParaRPr/>
          </a:p>
          <a:p>
            <a:pPr indent="-457200" lvl="0" marL="457200" rtl="0" algn="l">
              <a:lnSpc>
                <a:spcPct val="90000"/>
              </a:lnSpc>
              <a:spcBef>
                <a:spcPts val="600"/>
              </a:spcBef>
              <a:spcAft>
                <a:spcPts val="0"/>
              </a:spcAft>
              <a:buClr>
                <a:schemeClr val="dk1"/>
              </a:buClr>
              <a:buSzPts val="2400"/>
              <a:buFont typeface="Arial"/>
              <a:buAutoNum type="alphaUcPeriod"/>
            </a:pPr>
            <a:r>
              <a:rPr lang="en-US" sz="2400"/>
              <a:t>Create users to allow people and applications to interact with AWS services and resources</a:t>
            </a:r>
            <a:endParaRPr/>
          </a:p>
          <a:p>
            <a:pPr indent="-457200" lvl="0" marL="457200" rtl="0" algn="l">
              <a:lnSpc>
                <a:spcPct val="90000"/>
              </a:lnSpc>
              <a:spcBef>
                <a:spcPts val="600"/>
              </a:spcBef>
              <a:spcAft>
                <a:spcPts val="0"/>
              </a:spcAft>
              <a:buClr>
                <a:schemeClr val="dk1"/>
              </a:buClr>
              <a:buSzPts val="2400"/>
              <a:buFont typeface="Arial"/>
              <a:buAutoNum type="alphaUcPeriod"/>
            </a:pPr>
            <a:r>
              <a:rPr lang="en-US" sz="2400"/>
              <a:t>Set permissions for accounts by configuring service control policies</a:t>
            </a:r>
            <a:endParaRPr/>
          </a:p>
          <a:p>
            <a:pPr indent="-457200" lvl="0" marL="457200" rtl="0" algn="l">
              <a:lnSpc>
                <a:spcPct val="90000"/>
              </a:lnSpc>
              <a:spcBef>
                <a:spcPts val="600"/>
              </a:spcBef>
              <a:spcAft>
                <a:spcPts val="0"/>
              </a:spcAft>
              <a:buClr>
                <a:schemeClr val="dk1"/>
              </a:buClr>
              <a:buSzPts val="2400"/>
              <a:buFont typeface="Arial"/>
              <a:buAutoNum type="alphaUcPeriod"/>
            </a:pPr>
            <a:r>
              <a:rPr lang="en-US" sz="2400"/>
              <a:t>Review, accept, and manage agreements with AWS</a:t>
            </a:r>
            <a:endParaRPr/>
          </a:p>
        </p:txBody>
      </p:sp>
      <p:pic>
        <p:nvPicPr>
          <p:cNvPr id="626" name="Google Shape;626;p27"/>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28"/>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632" name="Google Shape;632;p28"/>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a:t>
            </a:r>
            <a:endParaRPr/>
          </a:p>
        </p:txBody>
      </p:sp>
      <p:sp>
        <p:nvSpPr>
          <p:cNvPr id="633" name="Google Shape;633;p28"/>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tasks can you complete in AWS Artifact? (Select TWO.)</a:t>
            </a:r>
            <a:endParaRPr/>
          </a:p>
          <a:p>
            <a:pPr indent="-457200" lvl="0" marL="45720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Access AWS compliance reports on-demand (correct)</a:t>
            </a:r>
            <a:endParaRPr/>
          </a:p>
          <a:p>
            <a:pPr indent="-457200" lvl="0" marL="457200" rtl="0" algn="l">
              <a:lnSpc>
                <a:spcPct val="90000"/>
              </a:lnSpc>
              <a:spcBef>
                <a:spcPts val="600"/>
              </a:spcBef>
              <a:spcAft>
                <a:spcPts val="0"/>
              </a:spcAft>
              <a:buClr>
                <a:schemeClr val="dk1"/>
              </a:buClr>
              <a:buSzPts val="2400"/>
              <a:buFont typeface="Arial"/>
              <a:buAutoNum type="alphaUcPeriod"/>
            </a:pPr>
            <a:r>
              <a:rPr lang="en-US" sz="2400"/>
              <a:t>Consolidate and manage multiple AWS accounts in a central location</a:t>
            </a:r>
            <a:endParaRPr/>
          </a:p>
          <a:p>
            <a:pPr indent="-457200" lvl="0" marL="457200" rtl="0" algn="l">
              <a:lnSpc>
                <a:spcPct val="90000"/>
              </a:lnSpc>
              <a:spcBef>
                <a:spcPts val="600"/>
              </a:spcBef>
              <a:spcAft>
                <a:spcPts val="0"/>
              </a:spcAft>
              <a:buClr>
                <a:schemeClr val="dk1"/>
              </a:buClr>
              <a:buSzPts val="2400"/>
              <a:buFont typeface="Arial"/>
              <a:buAutoNum type="alphaUcPeriod"/>
            </a:pPr>
            <a:r>
              <a:rPr lang="en-US" sz="2400"/>
              <a:t>Create users to allow people and applications to interact with AWS services and resources</a:t>
            </a:r>
            <a:endParaRPr/>
          </a:p>
          <a:p>
            <a:pPr indent="-457200" lvl="0" marL="457200" rtl="0" algn="l">
              <a:lnSpc>
                <a:spcPct val="90000"/>
              </a:lnSpc>
              <a:spcBef>
                <a:spcPts val="600"/>
              </a:spcBef>
              <a:spcAft>
                <a:spcPts val="0"/>
              </a:spcAft>
              <a:buClr>
                <a:schemeClr val="dk1"/>
              </a:buClr>
              <a:buSzPts val="2400"/>
              <a:buFont typeface="Arial"/>
              <a:buAutoNum type="alphaUcPeriod"/>
            </a:pPr>
            <a:r>
              <a:rPr lang="en-US" sz="2400"/>
              <a:t>Set permissions for accounts by configuring service control policies</a:t>
            </a:r>
            <a:endParaRPr/>
          </a:p>
          <a:p>
            <a:pPr indent="-457200" lvl="0" marL="457200" rtl="0" algn="l">
              <a:lnSpc>
                <a:spcPct val="90000"/>
              </a:lnSpc>
              <a:spcBef>
                <a:spcPts val="6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Review, accept, and manage agreements with AWS (correct)</a:t>
            </a:r>
            <a:endParaRPr/>
          </a:p>
        </p:txBody>
      </p:sp>
      <p:pic>
        <p:nvPicPr>
          <p:cNvPr id="634" name="Google Shape;634;p28"/>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29"/>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Application security</a:t>
            </a:r>
            <a:endParaRPr/>
          </a:p>
        </p:txBody>
      </p:sp>
      <p:sp>
        <p:nvSpPr>
          <p:cNvPr id="640" name="Google Shape;640;p2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0"/>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WAF</a:t>
            </a:r>
            <a:endParaRPr/>
          </a:p>
        </p:txBody>
      </p:sp>
      <p:sp>
        <p:nvSpPr>
          <p:cNvPr id="646" name="Google Shape;646;p3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
        <p:nvSpPr>
          <p:cNvPr id="647" name="Google Shape;647;p30"/>
          <p:cNvSpPr txBox="1"/>
          <p:nvPr/>
        </p:nvSpPr>
        <p:spPr>
          <a:xfrm>
            <a:off x="1430410" y="2923583"/>
            <a:ext cx="1742106" cy="37559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AWS WAF</a:t>
            </a:r>
            <a:endParaRPr sz="4000">
              <a:solidFill>
                <a:schemeClr val="dk1"/>
              </a:solidFill>
              <a:latin typeface="Arial"/>
              <a:ea typeface="Arial"/>
              <a:cs typeface="Arial"/>
              <a:sym typeface="Arial"/>
            </a:endParaRPr>
          </a:p>
        </p:txBody>
      </p:sp>
      <p:sp>
        <p:nvSpPr>
          <p:cNvPr id="648" name="Google Shape;648;p30"/>
          <p:cNvSpPr txBox="1"/>
          <p:nvPr/>
        </p:nvSpPr>
        <p:spPr>
          <a:xfrm>
            <a:off x="4093535" y="1626961"/>
            <a:ext cx="7679364" cy="1934255"/>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2800"/>
              <a:buFont typeface="Arial"/>
              <a:buNone/>
            </a:pPr>
            <a:r>
              <a:rPr b="0" i="0" lang="en-US" sz="2800">
                <a:solidFill>
                  <a:schemeClr val="dk1"/>
                </a:solidFill>
                <a:latin typeface="Arial"/>
                <a:ea typeface="Arial"/>
                <a:cs typeface="Arial"/>
                <a:sym typeface="Arial"/>
              </a:rPr>
              <a:t>Helps protect your web applications and APIs against common web exploits </a:t>
            </a:r>
            <a:endParaRPr/>
          </a:p>
          <a:p>
            <a:pPr indent="0" lvl="0" marL="0" marR="0" rtl="0" algn="ctr">
              <a:lnSpc>
                <a:spcPct val="100000"/>
              </a:lnSpc>
              <a:spcBef>
                <a:spcPts val="600"/>
              </a:spcBef>
              <a:spcAft>
                <a:spcPts val="0"/>
              </a:spcAft>
              <a:buClr>
                <a:schemeClr val="dk1"/>
              </a:buClr>
              <a:buSzPts val="2800"/>
              <a:buFont typeface="Arial"/>
              <a:buNone/>
            </a:pPr>
            <a:r>
              <a:t/>
            </a:r>
            <a:endParaRPr b="0" i="0" sz="2800">
              <a:solidFill>
                <a:schemeClr val="dk1"/>
              </a:solidFill>
              <a:latin typeface="Arial"/>
              <a:ea typeface="Arial"/>
              <a:cs typeface="Arial"/>
              <a:sym typeface="Arial"/>
            </a:endParaRPr>
          </a:p>
        </p:txBody>
      </p:sp>
      <p:pic>
        <p:nvPicPr>
          <p:cNvPr id="649" name="Google Shape;649;p30"/>
          <p:cNvPicPr preferRelativeResize="0"/>
          <p:nvPr/>
        </p:nvPicPr>
        <p:blipFill rotWithShape="1">
          <a:blip r:embed="rId3">
            <a:alphaModFix/>
          </a:blip>
          <a:srcRect b="0" l="0" r="0" t="0"/>
          <a:stretch/>
        </p:blipFill>
        <p:spPr>
          <a:xfrm>
            <a:off x="1615663" y="1452535"/>
            <a:ext cx="1371600" cy="1371600"/>
          </a:xfrm>
          <a:prstGeom prst="rect">
            <a:avLst/>
          </a:prstGeom>
          <a:noFill/>
          <a:ln>
            <a:noFill/>
          </a:ln>
        </p:spPr>
      </p:pic>
      <p:grpSp>
        <p:nvGrpSpPr>
          <p:cNvPr id="650" name="Google Shape;650;p30"/>
          <p:cNvGrpSpPr/>
          <p:nvPr/>
        </p:nvGrpSpPr>
        <p:grpSpPr>
          <a:xfrm>
            <a:off x="1918838" y="3598768"/>
            <a:ext cx="8354325" cy="2806541"/>
            <a:chOff x="888901" y="3598768"/>
            <a:chExt cx="8354325" cy="2806541"/>
          </a:xfrm>
        </p:grpSpPr>
        <p:pic>
          <p:nvPicPr>
            <p:cNvPr id="651" name="Google Shape;651;p30"/>
            <p:cNvPicPr preferRelativeResize="0"/>
            <p:nvPr/>
          </p:nvPicPr>
          <p:blipFill rotWithShape="1">
            <a:blip r:embed="rId4">
              <a:alphaModFix/>
            </a:blip>
            <a:srcRect b="0" l="0" r="0" t="0"/>
            <a:stretch/>
          </p:blipFill>
          <p:spPr>
            <a:xfrm>
              <a:off x="4399900" y="4560706"/>
              <a:ext cx="711200" cy="711200"/>
            </a:xfrm>
            <a:prstGeom prst="rect">
              <a:avLst/>
            </a:prstGeom>
            <a:noFill/>
            <a:ln>
              <a:noFill/>
            </a:ln>
          </p:spPr>
        </p:pic>
        <p:sp>
          <p:nvSpPr>
            <p:cNvPr id="652" name="Google Shape;652;p30"/>
            <p:cNvSpPr txBox="1"/>
            <p:nvPr/>
          </p:nvSpPr>
          <p:spPr>
            <a:xfrm>
              <a:off x="6797989" y="4220076"/>
              <a:ext cx="230190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Amazon CloudFront</a:t>
              </a:r>
              <a:endParaRPr/>
            </a:p>
          </p:txBody>
        </p:sp>
        <p:pic>
          <p:nvPicPr>
            <p:cNvPr id="653" name="Google Shape;653;p30"/>
            <p:cNvPicPr preferRelativeResize="0"/>
            <p:nvPr/>
          </p:nvPicPr>
          <p:blipFill rotWithShape="1">
            <a:blip r:embed="rId5">
              <a:alphaModFix/>
            </a:blip>
            <a:srcRect b="0" l="0" r="0" t="0"/>
            <a:stretch/>
          </p:blipFill>
          <p:spPr>
            <a:xfrm>
              <a:off x="7720341" y="3758263"/>
              <a:ext cx="457200" cy="457200"/>
            </a:xfrm>
            <a:prstGeom prst="rect">
              <a:avLst/>
            </a:prstGeom>
            <a:noFill/>
            <a:ln>
              <a:noFill/>
            </a:ln>
          </p:spPr>
        </p:pic>
        <p:sp>
          <p:nvSpPr>
            <p:cNvPr id="654" name="Google Shape;654;p30"/>
            <p:cNvSpPr txBox="1"/>
            <p:nvPr/>
          </p:nvSpPr>
          <p:spPr>
            <a:xfrm>
              <a:off x="6654657" y="5145336"/>
              <a:ext cx="2588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Application Load Balancer</a:t>
              </a:r>
              <a:endParaRPr/>
            </a:p>
          </p:txBody>
        </p:sp>
        <p:pic>
          <p:nvPicPr>
            <p:cNvPr id="655" name="Google Shape;655;p30"/>
            <p:cNvPicPr preferRelativeResize="0"/>
            <p:nvPr/>
          </p:nvPicPr>
          <p:blipFill rotWithShape="1">
            <a:blip r:embed="rId6">
              <a:alphaModFix/>
            </a:blip>
            <a:srcRect b="0" l="0" r="0" t="0"/>
            <a:stretch/>
          </p:blipFill>
          <p:spPr>
            <a:xfrm>
              <a:off x="7720341" y="4682343"/>
              <a:ext cx="457200" cy="457200"/>
            </a:xfrm>
            <a:prstGeom prst="rect">
              <a:avLst/>
            </a:prstGeom>
            <a:noFill/>
            <a:ln>
              <a:noFill/>
            </a:ln>
          </p:spPr>
        </p:pic>
        <p:sp>
          <p:nvSpPr>
            <p:cNvPr id="656" name="Google Shape;656;p30"/>
            <p:cNvSpPr txBox="1"/>
            <p:nvPr/>
          </p:nvSpPr>
          <p:spPr>
            <a:xfrm>
              <a:off x="6797989" y="6066755"/>
              <a:ext cx="230190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Amazon API Gateway</a:t>
              </a:r>
              <a:endParaRPr/>
            </a:p>
          </p:txBody>
        </p:sp>
        <p:pic>
          <p:nvPicPr>
            <p:cNvPr id="657" name="Google Shape;657;p30"/>
            <p:cNvPicPr preferRelativeResize="0"/>
            <p:nvPr/>
          </p:nvPicPr>
          <p:blipFill rotWithShape="1">
            <a:blip r:embed="rId7">
              <a:alphaModFix/>
            </a:blip>
            <a:srcRect b="0" l="0" r="0" t="0"/>
            <a:stretch/>
          </p:blipFill>
          <p:spPr>
            <a:xfrm>
              <a:off x="7720341" y="5606422"/>
              <a:ext cx="457200" cy="457200"/>
            </a:xfrm>
            <a:prstGeom prst="rect">
              <a:avLst/>
            </a:prstGeom>
            <a:noFill/>
            <a:ln>
              <a:noFill/>
            </a:ln>
          </p:spPr>
        </p:pic>
        <p:sp>
          <p:nvSpPr>
            <p:cNvPr id="658" name="Google Shape;658;p30"/>
            <p:cNvSpPr txBox="1"/>
            <p:nvPr/>
          </p:nvSpPr>
          <p:spPr>
            <a:xfrm>
              <a:off x="3604548" y="5269118"/>
              <a:ext cx="230190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AWS WAF</a:t>
              </a:r>
              <a:endParaRPr/>
            </a:p>
          </p:txBody>
        </p:sp>
        <p:sp>
          <p:nvSpPr>
            <p:cNvPr id="659" name="Google Shape;659;p30"/>
            <p:cNvSpPr/>
            <p:nvPr/>
          </p:nvSpPr>
          <p:spPr>
            <a:xfrm>
              <a:off x="4141413" y="3598768"/>
              <a:ext cx="1228174" cy="2647046"/>
            </a:xfrm>
            <a:prstGeom prst="roundRect">
              <a:avLst>
                <a:gd fmla="val 16667" name="adj"/>
              </a:avLst>
            </a:prstGeom>
            <a:noFill/>
            <a:ln cap="flat" cmpd="sng" w="12700">
              <a:solidFill>
                <a:srgbClr val="19222D"/>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60" name="Google Shape;660;p30"/>
            <p:cNvCxnSpPr/>
            <p:nvPr/>
          </p:nvCxnSpPr>
          <p:spPr>
            <a:xfrm>
              <a:off x="978195" y="4093520"/>
              <a:ext cx="3115340" cy="0"/>
            </a:xfrm>
            <a:prstGeom prst="straightConnector1">
              <a:avLst/>
            </a:prstGeom>
            <a:noFill/>
            <a:ln cap="flat" cmpd="sng" w="50800">
              <a:solidFill>
                <a:srgbClr val="00B050"/>
              </a:solidFill>
              <a:prstDash val="solid"/>
              <a:miter lim="800000"/>
              <a:headEnd len="sm" w="sm" type="none"/>
              <a:tailEnd len="med" w="med" type="triangle"/>
            </a:ln>
          </p:spPr>
        </p:cxnSp>
        <p:cxnSp>
          <p:nvCxnSpPr>
            <p:cNvPr id="661" name="Google Shape;661;p30"/>
            <p:cNvCxnSpPr/>
            <p:nvPr/>
          </p:nvCxnSpPr>
          <p:spPr>
            <a:xfrm>
              <a:off x="978195" y="5766382"/>
              <a:ext cx="3115340" cy="0"/>
            </a:xfrm>
            <a:prstGeom prst="straightConnector1">
              <a:avLst/>
            </a:prstGeom>
            <a:noFill/>
            <a:ln cap="flat" cmpd="sng" w="50800">
              <a:solidFill>
                <a:srgbClr val="FF0000"/>
              </a:solidFill>
              <a:prstDash val="solid"/>
              <a:miter lim="800000"/>
              <a:headEnd len="sm" w="sm" type="none"/>
              <a:tailEnd len="med" w="med" type="triangle"/>
            </a:ln>
          </p:spPr>
        </p:cxnSp>
        <p:sp>
          <p:nvSpPr>
            <p:cNvPr id="662" name="Google Shape;662;p30"/>
            <p:cNvSpPr txBox="1"/>
            <p:nvPr/>
          </p:nvSpPr>
          <p:spPr>
            <a:xfrm>
              <a:off x="3909644" y="5446927"/>
              <a:ext cx="463538"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FF0000"/>
                  </a:solidFill>
                  <a:latin typeface="Arial"/>
                  <a:ea typeface="Arial"/>
                  <a:cs typeface="Arial"/>
                  <a:sym typeface="Arial"/>
                </a:rPr>
                <a:t>X</a:t>
              </a:r>
              <a:endParaRPr/>
            </a:p>
          </p:txBody>
        </p:sp>
        <p:sp>
          <p:nvSpPr>
            <p:cNvPr id="663" name="Google Shape;663;p30"/>
            <p:cNvSpPr txBox="1"/>
            <p:nvPr/>
          </p:nvSpPr>
          <p:spPr>
            <a:xfrm>
              <a:off x="1084521" y="3774203"/>
              <a:ext cx="282512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Legitimate traffic</a:t>
              </a:r>
              <a:endParaRPr/>
            </a:p>
          </p:txBody>
        </p:sp>
        <p:sp>
          <p:nvSpPr>
            <p:cNvPr id="664" name="Google Shape;664;p30"/>
            <p:cNvSpPr txBox="1"/>
            <p:nvPr/>
          </p:nvSpPr>
          <p:spPr>
            <a:xfrm>
              <a:off x="888901" y="5197722"/>
              <a:ext cx="309274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Malicious traffic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(SQL injection, XSS, HTTP flood)</a:t>
              </a:r>
              <a:endParaRPr/>
            </a:p>
          </p:txBody>
        </p:sp>
        <p:cxnSp>
          <p:nvCxnSpPr>
            <p:cNvPr id="665" name="Google Shape;665;p30"/>
            <p:cNvCxnSpPr>
              <a:stCxn id="651" idx="3"/>
              <a:endCxn id="653" idx="1"/>
            </p:cNvCxnSpPr>
            <p:nvPr/>
          </p:nvCxnSpPr>
          <p:spPr>
            <a:xfrm flipH="1" rot="10800000">
              <a:off x="5111100" y="3986906"/>
              <a:ext cx="2609100" cy="929400"/>
            </a:xfrm>
            <a:prstGeom prst="bentConnector3">
              <a:avLst>
                <a:gd fmla="val 50000" name="adj1"/>
              </a:avLst>
            </a:prstGeom>
            <a:noFill/>
            <a:ln cap="flat" cmpd="sng" w="25400">
              <a:solidFill>
                <a:srgbClr val="00B050"/>
              </a:solidFill>
              <a:prstDash val="solid"/>
              <a:miter lim="800000"/>
              <a:headEnd len="sm" w="sm" type="none"/>
              <a:tailEnd len="med" w="med" type="triangle"/>
            </a:ln>
          </p:spPr>
        </p:cxnSp>
        <p:cxnSp>
          <p:nvCxnSpPr>
            <p:cNvPr id="666" name="Google Shape;666;p30"/>
            <p:cNvCxnSpPr>
              <a:stCxn id="651" idx="3"/>
              <a:endCxn id="657" idx="1"/>
            </p:cNvCxnSpPr>
            <p:nvPr/>
          </p:nvCxnSpPr>
          <p:spPr>
            <a:xfrm>
              <a:off x="5111100" y="4916306"/>
              <a:ext cx="2609100" cy="918600"/>
            </a:xfrm>
            <a:prstGeom prst="bentConnector3">
              <a:avLst>
                <a:gd fmla="val 50000" name="adj1"/>
              </a:avLst>
            </a:prstGeom>
            <a:noFill/>
            <a:ln cap="flat" cmpd="sng" w="25400">
              <a:solidFill>
                <a:srgbClr val="00B050"/>
              </a:solidFill>
              <a:prstDash val="solid"/>
              <a:miter lim="800000"/>
              <a:headEnd len="sm" w="sm" type="none"/>
              <a:tailEnd len="med" w="med" type="triangle"/>
            </a:ln>
          </p:spPr>
        </p:cxnSp>
        <p:cxnSp>
          <p:nvCxnSpPr>
            <p:cNvPr id="667" name="Google Shape;667;p30"/>
            <p:cNvCxnSpPr>
              <a:stCxn id="651" idx="3"/>
              <a:endCxn id="655" idx="1"/>
            </p:cNvCxnSpPr>
            <p:nvPr/>
          </p:nvCxnSpPr>
          <p:spPr>
            <a:xfrm flipH="1" rot="10800000">
              <a:off x="5111100" y="4910906"/>
              <a:ext cx="2609100" cy="5400"/>
            </a:xfrm>
            <a:prstGeom prst="straightConnector1">
              <a:avLst/>
            </a:prstGeom>
            <a:noFill/>
            <a:ln cap="flat" cmpd="sng" w="25400">
              <a:solidFill>
                <a:srgbClr val="00B050"/>
              </a:solidFill>
              <a:prstDash val="solid"/>
              <a:miter lim="800000"/>
              <a:headEnd len="sm" w="sm" type="none"/>
              <a:tailEnd len="med" w="med" type="triangle"/>
            </a:ln>
          </p:spPr>
        </p:cxn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31"/>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WAF Rules</a:t>
            </a:r>
            <a:endParaRPr/>
          </a:p>
        </p:txBody>
      </p:sp>
      <p:sp>
        <p:nvSpPr>
          <p:cNvPr id="673" name="Google Shape;673;p3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674" name="Google Shape;674;p31"/>
          <p:cNvPicPr preferRelativeResize="0"/>
          <p:nvPr/>
        </p:nvPicPr>
        <p:blipFill rotWithShape="1">
          <a:blip r:embed="rId3">
            <a:alphaModFix/>
          </a:blip>
          <a:srcRect b="0" l="0" r="0" t="0"/>
          <a:stretch/>
        </p:blipFill>
        <p:spPr>
          <a:xfrm>
            <a:off x="1112088" y="1389453"/>
            <a:ext cx="9967824" cy="501134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3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Arial"/>
              <a:buNone/>
            </a:pPr>
            <a:r>
              <a:rPr lang="en-US" sz="3600"/>
              <a:t>DoS and DDoS attacks</a:t>
            </a:r>
            <a:endParaRPr/>
          </a:p>
        </p:txBody>
      </p:sp>
      <p:sp>
        <p:nvSpPr>
          <p:cNvPr id="680" name="Google Shape;680;p32"/>
          <p:cNvSpPr/>
          <p:nvPr/>
        </p:nvSpPr>
        <p:spPr>
          <a:xfrm>
            <a:off x="419100" y="1469229"/>
            <a:ext cx="4342086" cy="4725854"/>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81" name="Google Shape;681;p32"/>
          <p:cNvSpPr txBox="1"/>
          <p:nvPr/>
        </p:nvSpPr>
        <p:spPr>
          <a:xfrm>
            <a:off x="765198" y="1801247"/>
            <a:ext cx="364989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Denial of service attack</a:t>
            </a:r>
            <a:endParaRPr/>
          </a:p>
        </p:txBody>
      </p:sp>
      <p:pic>
        <p:nvPicPr>
          <p:cNvPr id="682" name="Google Shape;682;p32"/>
          <p:cNvPicPr preferRelativeResize="0"/>
          <p:nvPr/>
        </p:nvPicPr>
        <p:blipFill rotWithShape="1">
          <a:blip r:embed="rId3">
            <a:alphaModFix/>
          </a:blip>
          <a:srcRect b="0" l="0" r="0" t="0"/>
          <a:stretch/>
        </p:blipFill>
        <p:spPr>
          <a:xfrm>
            <a:off x="3378657" y="3116314"/>
            <a:ext cx="1121701" cy="1121701"/>
          </a:xfrm>
          <a:prstGeom prst="rect">
            <a:avLst/>
          </a:prstGeom>
          <a:noFill/>
          <a:ln>
            <a:noFill/>
          </a:ln>
        </p:spPr>
      </p:pic>
      <p:pic>
        <p:nvPicPr>
          <p:cNvPr id="683" name="Google Shape;683;p32"/>
          <p:cNvPicPr preferRelativeResize="0"/>
          <p:nvPr/>
        </p:nvPicPr>
        <p:blipFill rotWithShape="1">
          <a:blip r:embed="rId4">
            <a:alphaModFix/>
          </a:blip>
          <a:srcRect b="0" l="0" r="0" t="0"/>
          <a:stretch/>
        </p:blipFill>
        <p:spPr>
          <a:xfrm>
            <a:off x="948810" y="3249979"/>
            <a:ext cx="854372" cy="854372"/>
          </a:xfrm>
          <a:prstGeom prst="rect">
            <a:avLst/>
          </a:prstGeom>
          <a:noFill/>
          <a:ln>
            <a:noFill/>
          </a:ln>
        </p:spPr>
      </p:pic>
      <p:sp>
        <p:nvSpPr>
          <p:cNvPr id="684" name="Google Shape;684;p32"/>
          <p:cNvSpPr txBox="1"/>
          <p:nvPr/>
        </p:nvSpPr>
        <p:spPr>
          <a:xfrm>
            <a:off x="924415" y="4189050"/>
            <a:ext cx="8787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Hacker</a:t>
            </a:r>
            <a:endParaRPr/>
          </a:p>
        </p:txBody>
      </p:sp>
      <p:cxnSp>
        <p:nvCxnSpPr>
          <p:cNvPr id="685" name="Google Shape;685;p32"/>
          <p:cNvCxnSpPr/>
          <p:nvPr/>
        </p:nvCxnSpPr>
        <p:spPr>
          <a:xfrm rot="10800000">
            <a:off x="1899367" y="3740227"/>
            <a:ext cx="1479290" cy="0"/>
          </a:xfrm>
          <a:prstGeom prst="straightConnector1">
            <a:avLst/>
          </a:prstGeom>
          <a:noFill/>
          <a:ln cap="flat" cmpd="sng" w="38100">
            <a:solidFill>
              <a:schemeClr val="dk1"/>
            </a:solidFill>
            <a:prstDash val="solid"/>
            <a:miter lim="800000"/>
            <a:headEnd len="med" w="med" type="stealth"/>
            <a:tailEnd len="sm" w="sm" type="none"/>
          </a:ln>
        </p:spPr>
      </p:cxnSp>
      <p:sp>
        <p:nvSpPr>
          <p:cNvPr id="686" name="Google Shape;686;p32"/>
          <p:cNvSpPr txBox="1"/>
          <p:nvPr/>
        </p:nvSpPr>
        <p:spPr>
          <a:xfrm>
            <a:off x="3501298" y="4238015"/>
            <a:ext cx="8451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Target</a:t>
            </a:r>
            <a:endParaRPr/>
          </a:p>
        </p:txBody>
      </p:sp>
      <p:sp>
        <p:nvSpPr>
          <p:cNvPr id="687" name="Google Shape;687;p32"/>
          <p:cNvSpPr txBox="1"/>
          <p:nvPr/>
        </p:nvSpPr>
        <p:spPr>
          <a:xfrm>
            <a:off x="880727" y="5225412"/>
            <a:ext cx="351657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The attack originates from a single source.</a:t>
            </a:r>
            <a:endParaRPr/>
          </a:p>
        </p:txBody>
      </p:sp>
      <p:grpSp>
        <p:nvGrpSpPr>
          <p:cNvPr id="688" name="Google Shape;688;p32"/>
          <p:cNvGrpSpPr/>
          <p:nvPr/>
        </p:nvGrpSpPr>
        <p:grpSpPr>
          <a:xfrm>
            <a:off x="5263256" y="1469229"/>
            <a:ext cx="6509646" cy="4725854"/>
            <a:chOff x="5263256" y="1469229"/>
            <a:chExt cx="6509646" cy="4725854"/>
          </a:xfrm>
        </p:grpSpPr>
        <p:sp>
          <p:nvSpPr>
            <p:cNvPr id="689" name="Google Shape;689;p32"/>
            <p:cNvSpPr/>
            <p:nvPr/>
          </p:nvSpPr>
          <p:spPr>
            <a:xfrm>
              <a:off x="5263256" y="1469229"/>
              <a:ext cx="6509646" cy="4725854"/>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90" name="Google Shape;690;p32"/>
            <p:cNvSpPr txBox="1"/>
            <p:nvPr/>
          </p:nvSpPr>
          <p:spPr>
            <a:xfrm>
              <a:off x="5649373" y="1797128"/>
              <a:ext cx="573741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Distributed denial of service attack</a:t>
              </a:r>
              <a:endParaRPr/>
            </a:p>
          </p:txBody>
        </p:sp>
        <p:pic>
          <p:nvPicPr>
            <p:cNvPr descr="Server" id="691" name="Google Shape;691;p32"/>
            <p:cNvPicPr preferRelativeResize="0"/>
            <p:nvPr/>
          </p:nvPicPr>
          <p:blipFill rotWithShape="1">
            <a:blip r:embed="rId5">
              <a:alphaModFix/>
            </a:blip>
            <a:srcRect b="0" l="0" r="0" t="0"/>
            <a:stretch/>
          </p:blipFill>
          <p:spPr>
            <a:xfrm>
              <a:off x="8068334" y="2368267"/>
              <a:ext cx="789349" cy="789349"/>
            </a:xfrm>
            <a:prstGeom prst="rect">
              <a:avLst/>
            </a:prstGeom>
            <a:noFill/>
            <a:ln>
              <a:noFill/>
            </a:ln>
          </p:spPr>
        </p:pic>
        <p:pic>
          <p:nvPicPr>
            <p:cNvPr id="692" name="Google Shape;692;p32"/>
            <p:cNvPicPr preferRelativeResize="0"/>
            <p:nvPr/>
          </p:nvPicPr>
          <p:blipFill rotWithShape="1">
            <a:blip r:embed="rId4">
              <a:alphaModFix/>
            </a:blip>
            <a:srcRect b="0" l="0" r="0" t="0"/>
            <a:stretch/>
          </p:blipFill>
          <p:spPr>
            <a:xfrm>
              <a:off x="5599651" y="3249979"/>
              <a:ext cx="854372" cy="854372"/>
            </a:xfrm>
            <a:prstGeom prst="rect">
              <a:avLst/>
            </a:prstGeom>
            <a:noFill/>
            <a:ln>
              <a:noFill/>
            </a:ln>
          </p:spPr>
        </p:pic>
        <p:sp>
          <p:nvSpPr>
            <p:cNvPr id="693" name="Google Shape;693;p32"/>
            <p:cNvSpPr txBox="1"/>
            <p:nvPr/>
          </p:nvSpPr>
          <p:spPr>
            <a:xfrm>
              <a:off x="5575256" y="4187958"/>
              <a:ext cx="8787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Hacker</a:t>
              </a:r>
              <a:endParaRPr/>
            </a:p>
          </p:txBody>
        </p:sp>
        <p:grpSp>
          <p:nvGrpSpPr>
            <p:cNvPr id="694" name="Google Shape;694;p32"/>
            <p:cNvGrpSpPr/>
            <p:nvPr/>
          </p:nvGrpSpPr>
          <p:grpSpPr>
            <a:xfrm>
              <a:off x="6454023" y="2838933"/>
              <a:ext cx="1506915" cy="1760275"/>
              <a:chOff x="2655913" y="1613825"/>
              <a:chExt cx="1506915" cy="323093"/>
            </a:xfrm>
          </p:grpSpPr>
          <p:sp>
            <p:nvSpPr>
              <p:cNvPr id="695" name="Google Shape;695;p32"/>
              <p:cNvSpPr/>
              <p:nvPr/>
            </p:nvSpPr>
            <p:spPr>
              <a:xfrm rot="10800000">
                <a:off x="3247465" y="1613825"/>
                <a:ext cx="915363" cy="323093"/>
              </a:xfrm>
              <a:custGeom>
                <a:rect b="b" l="l" r="r" t="t"/>
                <a:pathLst>
                  <a:path extrusionOk="0" h="1574800" w="622300">
                    <a:moveTo>
                      <a:pt x="0" y="0"/>
                    </a:moveTo>
                    <a:lnTo>
                      <a:pt x="622300" y="0"/>
                    </a:lnTo>
                    <a:lnTo>
                      <a:pt x="622300" y="1574800"/>
                    </a:lnTo>
                    <a:lnTo>
                      <a:pt x="482600" y="1574800"/>
                    </a:lnTo>
                    <a:lnTo>
                      <a:pt x="0" y="1574800"/>
                    </a:lnTo>
                  </a:path>
                </a:pathLst>
              </a:custGeom>
              <a:noFill/>
              <a:ln cap="flat" cmpd="sng" w="38100">
                <a:solidFill>
                  <a:schemeClr val="dk1"/>
                </a:solidFill>
                <a:prstDash val="solid"/>
                <a:miter lim="800000"/>
                <a:headEnd len="med" w="med" type="stealth"/>
                <a:tailEnd len="med" w="med" type="stealth"/>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96" name="Google Shape;696;p32"/>
              <p:cNvCxnSpPr/>
              <p:nvPr/>
            </p:nvCxnSpPr>
            <p:spPr>
              <a:xfrm>
                <a:off x="2655913" y="1778568"/>
                <a:ext cx="573077" cy="0"/>
              </a:xfrm>
              <a:prstGeom prst="straightConnector1">
                <a:avLst/>
              </a:prstGeom>
              <a:noFill/>
              <a:ln cap="flat" cmpd="sng" w="38100">
                <a:solidFill>
                  <a:schemeClr val="dk1"/>
                </a:solidFill>
                <a:prstDash val="solid"/>
                <a:miter lim="800000"/>
                <a:headEnd len="sm" w="sm" type="none"/>
                <a:tailEnd len="sm" w="sm" type="none"/>
              </a:ln>
            </p:spPr>
          </p:cxnSp>
        </p:grpSp>
        <p:pic>
          <p:nvPicPr>
            <p:cNvPr descr="Server" id="697" name="Google Shape;697;p32"/>
            <p:cNvPicPr preferRelativeResize="0"/>
            <p:nvPr/>
          </p:nvPicPr>
          <p:blipFill rotWithShape="1">
            <a:blip r:embed="rId5">
              <a:alphaModFix/>
            </a:blip>
            <a:srcRect b="0" l="0" r="0" t="0"/>
            <a:stretch/>
          </p:blipFill>
          <p:spPr>
            <a:xfrm>
              <a:off x="8068334" y="3339192"/>
              <a:ext cx="789349" cy="789349"/>
            </a:xfrm>
            <a:prstGeom prst="rect">
              <a:avLst/>
            </a:prstGeom>
            <a:noFill/>
            <a:ln>
              <a:noFill/>
            </a:ln>
          </p:spPr>
        </p:pic>
        <p:pic>
          <p:nvPicPr>
            <p:cNvPr descr="Server" id="698" name="Google Shape;698;p32"/>
            <p:cNvPicPr preferRelativeResize="0"/>
            <p:nvPr/>
          </p:nvPicPr>
          <p:blipFill rotWithShape="1">
            <a:blip r:embed="rId5">
              <a:alphaModFix/>
            </a:blip>
            <a:srcRect b="0" l="0" r="0" t="0"/>
            <a:stretch/>
          </p:blipFill>
          <p:spPr>
            <a:xfrm>
              <a:off x="8068334" y="4238015"/>
              <a:ext cx="789349" cy="789349"/>
            </a:xfrm>
            <a:prstGeom prst="rect">
              <a:avLst/>
            </a:prstGeom>
            <a:noFill/>
            <a:ln>
              <a:noFill/>
            </a:ln>
          </p:spPr>
        </p:pic>
        <p:sp>
          <p:nvSpPr>
            <p:cNvPr id="699" name="Google Shape;699;p32"/>
            <p:cNvSpPr txBox="1"/>
            <p:nvPr/>
          </p:nvSpPr>
          <p:spPr>
            <a:xfrm>
              <a:off x="5885455" y="5528993"/>
              <a:ext cx="526524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The attack originates from multiple sources.</a:t>
              </a:r>
              <a:endParaRPr/>
            </a:p>
          </p:txBody>
        </p:sp>
        <p:cxnSp>
          <p:nvCxnSpPr>
            <p:cNvPr id="700" name="Google Shape;700;p32"/>
            <p:cNvCxnSpPr/>
            <p:nvPr/>
          </p:nvCxnSpPr>
          <p:spPr>
            <a:xfrm rot="10800000">
              <a:off x="6481648" y="3736486"/>
              <a:ext cx="1479290" cy="0"/>
            </a:xfrm>
            <a:prstGeom prst="straightConnector1">
              <a:avLst/>
            </a:prstGeom>
            <a:noFill/>
            <a:ln cap="flat" cmpd="sng" w="38100">
              <a:solidFill>
                <a:schemeClr val="dk1"/>
              </a:solidFill>
              <a:prstDash val="solid"/>
              <a:miter lim="800000"/>
              <a:headEnd len="med" w="med" type="stealth"/>
              <a:tailEnd len="sm" w="sm" type="none"/>
            </a:ln>
          </p:spPr>
        </p:cxnSp>
        <p:sp>
          <p:nvSpPr>
            <p:cNvPr id="701" name="Google Shape;701;p32"/>
            <p:cNvSpPr txBox="1"/>
            <p:nvPr/>
          </p:nvSpPr>
          <p:spPr>
            <a:xfrm>
              <a:off x="8145453" y="5050709"/>
              <a:ext cx="6351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Bots</a:t>
              </a:r>
              <a:endParaRPr/>
            </a:p>
          </p:txBody>
        </p:sp>
        <p:grpSp>
          <p:nvGrpSpPr>
            <p:cNvPr id="702" name="Google Shape;702;p32"/>
            <p:cNvGrpSpPr/>
            <p:nvPr/>
          </p:nvGrpSpPr>
          <p:grpSpPr>
            <a:xfrm>
              <a:off x="8965079" y="2856020"/>
              <a:ext cx="1483636" cy="1768413"/>
              <a:chOff x="2684662" y="1051134"/>
              <a:chExt cx="1483636" cy="331243"/>
            </a:xfrm>
          </p:grpSpPr>
          <p:sp>
            <p:nvSpPr>
              <p:cNvPr id="703" name="Google Shape;703;p32"/>
              <p:cNvSpPr/>
              <p:nvPr/>
            </p:nvSpPr>
            <p:spPr>
              <a:xfrm>
                <a:off x="2684662" y="1051134"/>
                <a:ext cx="915363" cy="331243"/>
              </a:xfrm>
              <a:custGeom>
                <a:rect b="b" l="l" r="r" t="t"/>
                <a:pathLst>
                  <a:path extrusionOk="0" h="1574800" w="622300">
                    <a:moveTo>
                      <a:pt x="0" y="0"/>
                    </a:moveTo>
                    <a:lnTo>
                      <a:pt x="622300" y="0"/>
                    </a:lnTo>
                    <a:lnTo>
                      <a:pt x="622300" y="1574800"/>
                    </a:lnTo>
                    <a:lnTo>
                      <a:pt x="482600" y="1574800"/>
                    </a:lnTo>
                    <a:lnTo>
                      <a:pt x="0" y="1574800"/>
                    </a:lnTo>
                  </a:path>
                </a:pathLst>
              </a:cu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04" name="Google Shape;704;p32"/>
              <p:cNvCxnSpPr/>
              <p:nvPr/>
            </p:nvCxnSpPr>
            <p:spPr>
              <a:xfrm>
                <a:off x="3595221" y="1216272"/>
                <a:ext cx="573077" cy="0"/>
              </a:xfrm>
              <a:prstGeom prst="straightConnector1">
                <a:avLst/>
              </a:prstGeom>
              <a:noFill/>
              <a:ln cap="flat" cmpd="sng" w="38100">
                <a:solidFill>
                  <a:schemeClr val="dk1"/>
                </a:solidFill>
                <a:prstDash val="solid"/>
                <a:miter lim="800000"/>
                <a:headEnd len="sm" w="sm" type="none"/>
                <a:tailEnd len="med" w="med" type="stealth"/>
              </a:ln>
            </p:spPr>
          </p:cxnSp>
        </p:grpSp>
        <p:cxnSp>
          <p:nvCxnSpPr>
            <p:cNvPr id="705" name="Google Shape;705;p32"/>
            <p:cNvCxnSpPr/>
            <p:nvPr/>
          </p:nvCxnSpPr>
          <p:spPr>
            <a:xfrm rot="10800000">
              <a:off x="8965079" y="3736797"/>
              <a:ext cx="914400" cy="0"/>
            </a:xfrm>
            <a:prstGeom prst="straightConnector1">
              <a:avLst/>
            </a:prstGeom>
            <a:noFill/>
            <a:ln cap="flat" cmpd="sng" w="38100">
              <a:solidFill>
                <a:schemeClr val="accent1"/>
              </a:solidFill>
              <a:prstDash val="solid"/>
              <a:miter lim="800000"/>
              <a:headEnd len="sm" w="sm" type="none"/>
              <a:tailEnd len="sm" w="sm" type="none"/>
            </a:ln>
          </p:spPr>
        </p:cxnSp>
        <p:pic>
          <p:nvPicPr>
            <p:cNvPr id="706" name="Google Shape;706;p32"/>
            <p:cNvPicPr preferRelativeResize="0"/>
            <p:nvPr/>
          </p:nvPicPr>
          <p:blipFill rotWithShape="1">
            <a:blip r:embed="rId3">
              <a:alphaModFix/>
            </a:blip>
            <a:srcRect b="0" l="0" r="0" t="0"/>
            <a:stretch/>
          </p:blipFill>
          <p:spPr>
            <a:xfrm>
              <a:off x="10449011" y="3116314"/>
              <a:ext cx="1121701" cy="1121701"/>
            </a:xfrm>
            <a:prstGeom prst="rect">
              <a:avLst/>
            </a:prstGeom>
            <a:noFill/>
            <a:ln>
              <a:noFill/>
            </a:ln>
          </p:spPr>
        </p:pic>
        <p:sp>
          <p:nvSpPr>
            <p:cNvPr id="707" name="Google Shape;707;p32"/>
            <p:cNvSpPr txBox="1"/>
            <p:nvPr/>
          </p:nvSpPr>
          <p:spPr>
            <a:xfrm>
              <a:off x="10571652" y="4238015"/>
              <a:ext cx="8451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Target</a:t>
              </a:r>
              <a:endParaRPr/>
            </a:p>
          </p:txBody>
        </p:sp>
      </p:grpSp>
      <p:sp>
        <p:nvSpPr>
          <p:cNvPr id="708" name="Google Shape;708;p3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3"/>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Shield</a:t>
            </a:r>
            <a:endParaRPr/>
          </a:p>
        </p:txBody>
      </p:sp>
      <p:sp>
        <p:nvSpPr>
          <p:cNvPr id="714" name="Google Shape;714;p33"/>
          <p:cNvSpPr txBox="1"/>
          <p:nvPr/>
        </p:nvSpPr>
        <p:spPr>
          <a:xfrm>
            <a:off x="754621" y="4508180"/>
            <a:ext cx="29464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Protect applications against DDoS attacks</a:t>
            </a:r>
            <a:endParaRPr/>
          </a:p>
        </p:txBody>
      </p:sp>
      <p:sp>
        <p:nvSpPr>
          <p:cNvPr id="715" name="Google Shape;715;p33"/>
          <p:cNvSpPr txBox="1"/>
          <p:nvPr/>
        </p:nvSpPr>
        <p:spPr>
          <a:xfrm>
            <a:off x="4517189" y="4508180"/>
            <a:ext cx="3157621"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Integrate AWS Shield Advanced with other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AWS services</a:t>
            </a:r>
            <a:endParaRPr/>
          </a:p>
        </p:txBody>
      </p:sp>
      <p:sp>
        <p:nvSpPr>
          <p:cNvPr id="716" name="Google Shape;716;p33"/>
          <p:cNvSpPr txBox="1"/>
          <p:nvPr/>
        </p:nvSpPr>
        <p:spPr>
          <a:xfrm>
            <a:off x="8490979" y="4524571"/>
            <a:ext cx="2946400"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Write custom web ACL rules with AWS WAF to mitigate complex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DDoS attacks</a:t>
            </a:r>
            <a:endParaRPr/>
          </a:p>
        </p:txBody>
      </p:sp>
      <p:pic>
        <p:nvPicPr>
          <p:cNvPr id="717" name="Google Shape;717;p33"/>
          <p:cNvPicPr preferRelativeResize="0"/>
          <p:nvPr/>
        </p:nvPicPr>
        <p:blipFill rotWithShape="1">
          <a:blip r:embed="rId3">
            <a:alphaModFix/>
          </a:blip>
          <a:srcRect b="0" l="0" r="0" t="0"/>
          <a:stretch/>
        </p:blipFill>
        <p:spPr>
          <a:xfrm>
            <a:off x="1337651" y="2550608"/>
            <a:ext cx="1780339" cy="1756781"/>
          </a:xfrm>
          <a:prstGeom prst="rect">
            <a:avLst/>
          </a:prstGeom>
          <a:noFill/>
          <a:ln>
            <a:noFill/>
          </a:ln>
        </p:spPr>
      </p:pic>
      <p:pic>
        <p:nvPicPr>
          <p:cNvPr id="718" name="Google Shape;718;p33"/>
          <p:cNvPicPr preferRelativeResize="0"/>
          <p:nvPr/>
        </p:nvPicPr>
        <p:blipFill rotWithShape="1">
          <a:blip r:embed="rId4">
            <a:alphaModFix/>
          </a:blip>
          <a:srcRect b="0" l="0" r="0" t="0"/>
          <a:stretch/>
        </p:blipFill>
        <p:spPr>
          <a:xfrm>
            <a:off x="8845815" y="2488365"/>
            <a:ext cx="2236728" cy="1881266"/>
          </a:xfrm>
          <a:prstGeom prst="rect">
            <a:avLst/>
          </a:prstGeom>
          <a:noFill/>
          <a:ln>
            <a:noFill/>
          </a:ln>
        </p:spPr>
      </p:pic>
      <p:pic>
        <p:nvPicPr>
          <p:cNvPr id="719" name="Google Shape;719;p33"/>
          <p:cNvPicPr preferRelativeResize="0"/>
          <p:nvPr/>
        </p:nvPicPr>
        <p:blipFill rotWithShape="1">
          <a:blip r:embed="rId5">
            <a:alphaModFix/>
          </a:blip>
          <a:srcRect b="0" l="0" r="0" t="0"/>
          <a:stretch/>
        </p:blipFill>
        <p:spPr>
          <a:xfrm>
            <a:off x="5031637" y="2488365"/>
            <a:ext cx="2128723" cy="1881266"/>
          </a:xfrm>
          <a:prstGeom prst="rect">
            <a:avLst/>
          </a:prstGeom>
          <a:noFill/>
          <a:ln>
            <a:noFill/>
          </a:ln>
        </p:spPr>
      </p:pic>
      <p:sp>
        <p:nvSpPr>
          <p:cNvPr id="720" name="Google Shape;720;p33"/>
          <p:cNvSpPr txBox="1"/>
          <p:nvPr/>
        </p:nvSpPr>
        <p:spPr>
          <a:xfrm>
            <a:off x="419100" y="1385344"/>
            <a:ext cx="1172475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AWS Shield provides protection against distributed denial of service (DDoS) attacks.</a:t>
            </a:r>
            <a:endParaRPr/>
          </a:p>
        </p:txBody>
      </p:sp>
      <p:sp>
        <p:nvSpPr>
          <p:cNvPr id="721" name="Google Shape;721;p3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3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Amazon Inspector</a:t>
            </a:r>
            <a:endParaRPr/>
          </a:p>
        </p:txBody>
      </p:sp>
      <p:sp>
        <p:nvSpPr>
          <p:cNvPr id="727" name="Google Shape;727;p34"/>
          <p:cNvSpPr txBox="1"/>
          <p:nvPr/>
        </p:nvSpPr>
        <p:spPr>
          <a:xfrm>
            <a:off x="754621" y="4508180"/>
            <a:ext cx="294640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Automatically conduct application security assessments</a:t>
            </a:r>
            <a:endParaRPr/>
          </a:p>
        </p:txBody>
      </p:sp>
      <p:sp>
        <p:nvSpPr>
          <p:cNvPr id="728" name="Google Shape;728;p34"/>
          <p:cNvSpPr txBox="1"/>
          <p:nvPr/>
        </p:nvSpPr>
        <p:spPr>
          <a:xfrm>
            <a:off x="4375261" y="4508180"/>
            <a:ext cx="3441478"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Identify security vulnerabilities and deviations from best practices</a:t>
            </a:r>
            <a:endParaRPr/>
          </a:p>
        </p:txBody>
      </p:sp>
      <p:sp>
        <p:nvSpPr>
          <p:cNvPr id="729" name="Google Shape;729;p34"/>
          <p:cNvSpPr txBox="1"/>
          <p:nvPr/>
        </p:nvSpPr>
        <p:spPr>
          <a:xfrm>
            <a:off x="8432376" y="4508180"/>
            <a:ext cx="3176088"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Receive recommendations for how to fix security issues</a:t>
            </a:r>
            <a:endParaRPr/>
          </a:p>
        </p:txBody>
      </p:sp>
      <p:pic>
        <p:nvPicPr>
          <p:cNvPr id="730" name="Google Shape;730;p34"/>
          <p:cNvPicPr preferRelativeResize="0"/>
          <p:nvPr/>
        </p:nvPicPr>
        <p:blipFill rotWithShape="1">
          <a:blip r:embed="rId3">
            <a:alphaModFix/>
          </a:blip>
          <a:srcRect b="0" l="0" r="0" t="0"/>
          <a:stretch/>
        </p:blipFill>
        <p:spPr>
          <a:xfrm>
            <a:off x="4799899" y="2289899"/>
            <a:ext cx="2592202" cy="2184400"/>
          </a:xfrm>
          <a:prstGeom prst="rect">
            <a:avLst/>
          </a:prstGeom>
          <a:noFill/>
          <a:ln>
            <a:noFill/>
          </a:ln>
        </p:spPr>
      </p:pic>
      <p:pic>
        <p:nvPicPr>
          <p:cNvPr id="731" name="Google Shape;731;p34"/>
          <p:cNvPicPr preferRelativeResize="0"/>
          <p:nvPr/>
        </p:nvPicPr>
        <p:blipFill rotWithShape="1">
          <a:blip r:embed="rId4">
            <a:alphaModFix/>
          </a:blip>
          <a:srcRect b="0" l="0" r="0" t="0"/>
          <a:stretch/>
        </p:blipFill>
        <p:spPr>
          <a:xfrm>
            <a:off x="9074010" y="2469292"/>
            <a:ext cx="1892821" cy="1838097"/>
          </a:xfrm>
          <a:prstGeom prst="rect">
            <a:avLst/>
          </a:prstGeom>
          <a:noFill/>
          <a:ln>
            <a:noFill/>
          </a:ln>
        </p:spPr>
      </p:pic>
      <p:pic>
        <p:nvPicPr>
          <p:cNvPr id="732" name="Google Shape;732;p34"/>
          <p:cNvPicPr preferRelativeResize="0"/>
          <p:nvPr/>
        </p:nvPicPr>
        <p:blipFill rotWithShape="1">
          <a:blip r:embed="rId5">
            <a:alphaModFix/>
          </a:blip>
          <a:srcRect b="0" l="0" r="0" t="0"/>
          <a:stretch/>
        </p:blipFill>
        <p:spPr>
          <a:xfrm>
            <a:off x="1225711" y="2510679"/>
            <a:ext cx="2004219" cy="1836642"/>
          </a:xfrm>
          <a:prstGeom prst="rect">
            <a:avLst/>
          </a:prstGeom>
          <a:noFill/>
          <a:ln>
            <a:noFill/>
          </a:ln>
        </p:spPr>
      </p:pic>
      <p:sp>
        <p:nvSpPr>
          <p:cNvPr id="733" name="Google Shape;733;p34"/>
          <p:cNvSpPr txBox="1"/>
          <p:nvPr/>
        </p:nvSpPr>
        <p:spPr>
          <a:xfrm>
            <a:off x="419100" y="1378472"/>
            <a:ext cx="1172475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Amazon Inspector allows you to perform automated security assessments on your applications.</a:t>
            </a:r>
            <a:endParaRPr/>
          </a:p>
        </p:txBody>
      </p:sp>
      <p:sp>
        <p:nvSpPr>
          <p:cNvPr id="734" name="Google Shape;734;p3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35"/>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Additional security services</a:t>
            </a:r>
            <a:endParaRPr/>
          </a:p>
        </p:txBody>
      </p:sp>
      <p:sp>
        <p:nvSpPr>
          <p:cNvPr id="740" name="Google Shape;740;p3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3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Key Management Service</a:t>
            </a:r>
            <a:endParaRPr/>
          </a:p>
        </p:txBody>
      </p:sp>
      <p:sp>
        <p:nvSpPr>
          <p:cNvPr id="746" name="Google Shape;746;p36"/>
          <p:cNvSpPr txBox="1"/>
          <p:nvPr/>
        </p:nvSpPr>
        <p:spPr>
          <a:xfrm>
            <a:off x="8100059" y="4567751"/>
            <a:ext cx="298399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AWS KMS</a:t>
            </a:r>
            <a:endParaRPr/>
          </a:p>
        </p:txBody>
      </p:sp>
      <p:sp>
        <p:nvSpPr>
          <p:cNvPr id="747" name="Google Shape;747;p36"/>
          <p:cNvSpPr txBox="1"/>
          <p:nvPr/>
        </p:nvSpPr>
        <p:spPr>
          <a:xfrm>
            <a:off x="419100" y="1657403"/>
            <a:ext cx="6684264" cy="3880788"/>
          </a:xfrm>
          <a:prstGeom prst="rect">
            <a:avLst/>
          </a:prstGeom>
          <a:noFill/>
          <a:ln>
            <a:noFill/>
          </a:ln>
        </p:spPr>
        <p:txBody>
          <a:bodyPr anchorCtr="0" anchor="ctr" bIns="45700" lIns="91425" spcFirstLastPara="1" rIns="91425" wrap="square" tIns="45700">
            <a:normAutofit/>
          </a:bodyPr>
          <a:lstStyle/>
          <a:p>
            <a:pPr indent="-228600" lvl="0" marL="228600" marR="0" rtl="0" algn="l">
              <a:lnSpc>
                <a:spcPct val="100000"/>
              </a:lnSpc>
              <a:spcBef>
                <a:spcPts val="0"/>
              </a:spcBef>
              <a:spcAft>
                <a:spcPts val="0"/>
              </a:spcAft>
              <a:buClr>
                <a:schemeClr val="dk1"/>
              </a:buClr>
              <a:buSzPts val="2800"/>
              <a:buFont typeface="Arial"/>
              <a:buChar char="•"/>
            </a:pPr>
            <a:r>
              <a:rPr b="0" i="0" lang="en-US" sz="2800">
                <a:solidFill>
                  <a:schemeClr val="dk1"/>
                </a:solidFill>
                <a:latin typeface="Arial"/>
                <a:ea typeface="Arial"/>
                <a:cs typeface="Arial"/>
                <a:sym typeface="Arial"/>
              </a:rPr>
              <a:t>AWS Key Management Service (AWS KMS) helps customers perform encryption operations through the use of cryptographic keys.</a:t>
            </a:r>
            <a:endParaRPr/>
          </a:p>
          <a:p>
            <a:pPr indent="-228600" lvl="0" marL="228600" marR="0" rtl="0" algn="l">
              <a:lnSpc>
                <a:spcPct val="100000"/>
              </a:lnSpc>
              <a:spcBef>
                <a:spcPts val="2000"/>
              </a:spcBef>
              <a:spcAft>
                <a:spcPts val="0"/>
              </a:spcAft>
              <a:buClr>
                <a:schemeClr val="dk1"/>
              </a:buClr>
              <a:buSzPts val="2800"/>
              <a:buFont typeface="Arial"/>
              <a:buChar char="•"/>
            </a:pPr>
            <a:r>
              <a:rPr b="0" i="0" lang="en-US" sz="2800">
                <a:solidFill>
                  <a:schemeClr val="dk1"/>
                </a:solidFill>
                <a:latin typeface="Arial"/>
                <a:ea typeface="Arial"/>
                <a:cs typeface="Arial"/>
                <a:sym typeface="Arial"/>
              </a:rPr>
              <a:t>You can choose the specific levels of access control that you need for your keys.</a:t>
            </a:r>
            <a:endParaRPr/>
          </a:p>
        </p:txBody>
      </p:sp>
      <p:pic>
        <p:nvPicPr>
          <p:cNvPr id="748" name="Google Shape;748;p36"/>
          <p:cNvPicPr preferRelativeResize="0"/>
          <p:nvPr/>
        </p:nvPicPr>
        <p:blipFill rotWithShape="1">
          <a:blip r:embed="rId3">
            <a:alphaModFix/>
          </a:blip>
          <a:srcRect b="0" l="0" r="0" t="0"/>
          <a:stretch/>
        </p:blipFill>
        <p:spPr>
          <a:xfrm>
            <a:off x="8558784" y="2395728"/>
            <a:ext cx="2066543" cy="2066543"/>
          </a:xfrm>
          <a:prstGeom prst="rect">
            <a:avLst/>
          </a:prstGeom>
          <a:noFill/>
          <a:ln>
            <a:noFill/>
          </a:ln>
        </p:spPr>
      </p:pic>
      <p:sp>
        <p:nvSpPr>
          <p:cNvPr id="749" name="Google Shape;749;p3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cxnSp>
        <p:nvCxnSpPr>
          <p:cNvPr id="754" name="Google Shape;754;p37"/>
          <p:cNvCxnSpPr/>
          <p:nvPr/>
        </p:nvCxnSpPr>
        <p:spPr>
          <a:xfrm rot="10800000">
            <a:off x="8947381" y="4348414"/>
            <a:ext cx="438912" cy="0"/>
          </a:xfrm>
          <a:prstGeom prst="straightConnector1">
            <a:avLst/>
          </a:prstGeom>
          <a:noFill/>
          <a:ln cap="flat" cmpd="sng" w="38100">
            <a:solidFill>
              <a:schemeClr val="dk1"/>
            </a:solidFill>
            <a:prstDash val="solid"/>
            <a:miter lim="800000"/>
            <a:headEnd len="med" w="med" type="stealth"/>
            <a:tailEnd len="sm" w="sm" type="none"/>
          </a:ln>
        </p:spPr>
      </p:cxnSp>
      <p:cxnSp>
        <p:nvCxnSpPr>
          <p:cNvPr id="755" name="Google Shape;755;p37"/>
          <p:cNvCxnSpPr/>
          <p:nvPr/>
        </p:nvCxnSpPr>
        <p:spPr>
          <a:xfrm rot="10800000">
            <a:off x="5924739" y="4348414"/>
            <a:ext cx="438912" cy="0"/>
          </a:xfrm>
          <a:prstGeom prst="straightConnector1">
            <a:avLst/>
          </a:prstGeom>
          <a:noFill/>
          <a:ln cap="flat" cmpd="sng" w="38100">
            <a:solidFill>
              <a:schemeClr val="dk1"/>
            </a:solidFill>
            <a:prstDash val="solid"/>
            <a:miter lim="800000"/>
            <a:headEnd len="med" w="med" type="stealth"/>
            <a:tailEnd len="sm" w="sm" type="none"/>
          </a:ln>
        </p:spPr>
      </p:cxnSp>
      <p:cxnSp>
        <p:nvCxnSpPr>
          <p:cNvPr id="756" name="Google Shape;756;p37"/>
          <p:cNvCxnSpPr/>
          <p:nvPr/>
        </p:nvCxnSpPr>
        <p:spPr>
          <a:xfrm rot="10800000">
            <a:off x="2725360" y="4348414"/>
            <a:ext cx="438912" cy="0"/>
          </a:xfrm>
          <a:prstGeom prst="straightConnector1">
            <a:avLst/>
          </a:prstGeom>
          <a:noFill/>
          <a:ln cap="flat" cmpd="sng" w="38100">
            <a:solidFill>
              <a:schemeClr val="dk1"/>
            </a:solidFill>
            <a:prstDash val="solid"/>
            <a:miter lim="800000"/>
            <a:headEnd len="med" w="med" type="stealth"/>
            <a:tailEnd len="sm" w="sm" type="none"/>
          </a:ln>
        </p:spPr>
      </p:cxnSp>
      <p:sp>
        <p:nvSpPr>
          <p:cNvPr id="757" name="Google Shape;757;p3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Amazon GuardDuty</a:t>
            </a:r>
            <a:endParaRPr/>
          </a:p>
        </p:txBody>
      </p:sp>
      <p:pic>
        <p:nvPicPr>
          <p:cNvPr id="758" name="Google Shape;758;p37"/>
          <p:cNvPicPr preferRelativeResize="0"/>
          <p:nvPr/>
        </p:nvPicPr>
        <p:blipFill rotWithShape="1">
          <a:blip r:embed="rId3">
            <a:alphaModFix/>
          </a:blip>
          <a:srcRect b="0" l="0" r="0" t="0"/>
          <a:stretch/>
        </p:blipFill>
        <p:spPr>
          <a:xfrm>
            <a:off x="748303" y="2983163"/>
            <a:ext cx="1465382" cy="1487132"/>
          </a:xfrm>
          <a:prstGeom prst="rect">
            <a:avLst/>
          </a:prstGeom>
          <a:noFill/>
          <a:ln>
            <a:noFill/>
          </a:ln>
        </p:spPr>
      </p:pic>
      <p:sp>
        <p:nvSpPr>
          <p:cNvPr id="759" name="Google Shape;759;p37"/>
          <p:cNvSpPr txBox="1"/>
          <p:nvPr/>
        </p:nvSpPr>
        <p:spPr>
          <a:xfrm>
            <a:off x="222234" y="4823287"/>
            <a:ext cx="248873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Enable</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Amazon GuardDuty.</a:t>
            </a:r>
            <a:endParaRPr/>
          </a:p>
        </p:txBody>
      </p:sp>
      <p:pic>
        <p:nvPicPr>
          <p:cNvPr id="760" name="Google Shape;760;p37"/>
          <p:cNvPicPr preferRelativeResize="0"/>
          <p:nvPr/>
        </p:nvPicPr>
        <p:blipFill rotWithShape="1">
          <a:blip r:embed="rId4">
            <a:alphaModFix/>
          </a:blip>
          <a:srcRect b="0" l="0" r="0" t="0"/>
          <a:stretch/>
        </p:blipFill>
        <p:spPr>
          <a:xfrm>
            <a:off x="3581756" y="2936794"/>
            <a:ext cx="1966626" cy="1417128"/>
          </a:xfrm>
          <a:prstGeom prst="rect">
            <a:avLst/>
          </a:prstGeom>
          <a:noFill/>
          <a:ln>
            <a:noFill/>
          </a:ln>
        </p:spPr>
      </p:pic>
      <p:sp>
        <p:nvSpPr>
          <p:cNvPr id="761" name="Google Shape;761;p37"/>
          <p:cNvSpPr txBox="1"/>
          <p:nvPr/>
        </p:nvSpPr>
        <p:spPr>
          <a:xfrm>
            <a:off x="3192987" y="4762943"/>
            <a:ext cx="273175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GuardDuty continuously analyzes network and account activity.</a:t>
            </a:r>
            <a:endParaRPr/>
          </a:p>
        </p:txBody>
      </p:sp>
      <p:pic>
        <p:nvPicPr>
          <p:cNvPr id="762" name="Google Shape;762;p37"/>
          <p:cNvPicPr preferRelativeResize="0"/>
          <p:nvPr/>
        </p:nvPicPr>
        <p:blipFill rotWithShape="1">
          <a:blip r:embed="rId5">
            <a:alphaModFix/>
          </a:blip>
          <a:srcRect b="0" l="0" r="0" t="0"/>
          <a:stretch/>
        </p:blipFill>
        <p:spPr>
          <a:xfrm>
            <a:off x="6795474" y="2772181"/>
            <a:ext cx="1777388" cy="1746354"/>
          </a:xfrm>
          <a:prstGeom prst="rect">
            <a:avLst/>
          </a:prstGeom>
          <a:noFill/>
          <a:ln>
            <a:noFill/>
          </a:ln>
        </p:spPr>
      </p:pic>
      <p:sp>
        <p:nvSpPr>
          <p:cNvPr id="763" name="Google Shape;763;p37"/>
          <p:cNvSpPr txBox="1"/>
          <p:nvPr/>
        </p:nvSpPr>
        <p:spPr>
          <a:xfrm>
            <a:off x="6436414" y="4901442"/>
            <a:ext cx="251096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GuardDuty intelligently detects threats.</a:t>
            </a:r>
            <a:endParaRPr/>
          </a:p>
        </p:txBody>
      </p:sp>
      <p:pic>
        <p:nvPicPr>
          <p:cNvPr id="764" name="Google Shape;764;p37"/>
          <p:cNvPicPr preferRelativeResize="0"/>
          <p:nvPr/>
        </p:nvPicPr>
        <p:blipFill rotWithShape="1">
          <a:blip r:embed="rId6">
            <a:alphaModFix/>
          </a:blip>
          <a:srcRect b="0" l="0" r="0" t="0"/>
          <a:stretch/>
        </p:blipFill>
        <p:spPr>
          <a:xfrm>
            <a:off x="9984261" y="3213395"/>
            <a:ext cx="1768796" cy="1221898"/>
          </a:xfrm>
          <a:prstGeom prst="rect">
            <a:avLst/>
          </a:prstGeom>
          <a:noFill/>
          <a:ln>
            <a:noFill/>
          </a:ln>
        </p:spPr>
      </p:pic>
      <p:sp>
        <p:nvSpPr>
          <p:cNvPr id="765" name="Google Shape;765;p37"/>
          <p:cNvSpPr txBox="1"/>
          <p:nvPr/>
        </p:nvSpPr>
        <p:spPr>
          <a:xfrm>
            <a:off x="9459056" y="4762943"/>
            <a:ext cx="251752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Review detailed </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findings and take </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action.</a:t>
            </a:r>
            <a:endParaRPr/>
          </a:p>
        </p:txBody>
      </p:sp>
      <p:sp>
        <p:nvSpPr>
          <p:cNvPr id="766" name="Google Shape;766;p37"/>
          <p:cNvSpPr/>
          <p:nvPr/>
        </p:nvSpPr>
        <p:spPr>
          <a:xfrm>
            <a:off x="207840" y="2375092"/>
            <a:ext cx="2517520" cy="3687429"/>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7" name="Google Shape;767;p37"/>
          <p:cNvSpPr/>
          <p:nvPr/>
        </p:nvSpPr>
        <p:spPr>
          <a:xfrm>
            <a:off x="3208448" y="2375242"/>
            <a:ext cx="2700831" cy="3687429"/>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8" name="Google Shape;768;p37"/>
          <p:cNvSpPr/>
          <p:nvPr/>
        </p:nvSpPr>
        <p:spPr>
          <a:xfrm>
            <a:off x="6429861" y="2375242"/>
            <a:ext cx="2517520" cy="3687429"/>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9" name="Google Shape;769;p37"/>
          <p:cNvSpPr/>
          <p:nvPr/>
        </p:nvSpPr>
        <p:spPr>
          <a:xfrm>
            <a:off x="9459056" y="2375092"/>
            <a:ext cx="2517520" cy="3687429"/>
          </a:xfrm>
          <a:prstGeom prst="roundRect">
            <a:avLst>
              <a:gd fmla="val 16667" name="adj"/>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70" name="Google Shape;770;p37"/>
          <p:cNvSpPr txBox="1"/>
          <p:nvPr/>
        </p:nvSpPr>
        <p:spPr>
          <a:xfrm>
            <a:off x="419100" y="1253772"/>
            <a:ext cx="1172475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Amazon GuardDuty provides intelligent threat detection for AWS products and services.</a:t>
            </a:r>
            <a:endParaRPr/>
          </a:p>
        </p:txBody>
      </p:sp>
      <p:sp>
        <p:nvSpPr>
          <p:cNvPr id="771" name="Google Shape;771;p3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38"/>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Knowledge check</a:t>
            </a:r>
            <a:endParaRPr/>
          </a:p>
        </p:txBody>
      </p:sp>
      <p:sp>
        <p:nvSpPr>
          <p:cNvPr id="777" name="Google Shape;777;p38"/>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36C2B4"/>
              </a:buClr>
              <a:buSzPts val="2000"/>
              <a:buNone/>
            </a:pPr>
            <a:r>
              <a:rPr lang="en-US"/>
              <a:t>Module 6</a:t>
            </a:r>
            <a:endParaRPr/>
          </a:p>
        </p:txBody>
      </p:sp>
      <p:sp>
        <p:nvSpPr>
          <p:cNvPr id="778" name="Google Shape;778;p3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39"/>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784" name="Google Shape;784;p39"/>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1</a:t>
            </a:r>
            <a:endParaRPr/>
          </a:p>
        </p:txBody>
      </p:sp>
      <p:sp>
        <p:nvSpPr>
          <p:cNvPr id="785" name="Google Shape;785;p39"/>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statement describes an IAM policy?</a:t>
            </a:r>
            <a:endParaRPr/>
          </a:p>
          <a:p>
            <a:pPr indent="-457200" lvl="0" marL="457200" rtl="0" algn="l">
              <a:lnSpc>
                <a:spcPct val="90000"/>
              </a:lnSpc>
              <a:spcBef>
                <a:spcPts val="2000"/>
              </a:spcBef>
              <a:spcAft>
                <a:spcPts val="0"/>
              </a:spcAft>
              <a:buClr>
                <a:schemeClr val="dk1"/>
              </a:buClr>
              <a:buSzPts val="2400"/>
              <a:buFont typeface="Arial"/>
              <a:buAutoNum type="alphaUcPeriod"/>
            </a:pPr>
            <a:r>
              <a:rPr lang="en-US" sz="2400"/>
              <a:t>An authentication process that provides an extra layer of protection for your AWS account</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A document that grants or denies permissions to AWS services and resources</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An identity that you can assume to gain temporary access to permissions</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The identity that is established when you first create an AWS account</a:t>
            </a:r>
            <a:endParaRPr/>
          </a:p>
        </p:txBody>
      </p:sp>
      <p:pic>
        <p:nvPicPr>
          <p:cNvPr id="786" name="Google Shape;786;p39"/>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40"/>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792" name="Google Shape;792;p40"/>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1</a:t>
            </a:r>
            <a:endParaRPr/>
          </a:p>
        </p:txBody>
      </p:sp>
      <p:sp>
        <p:nvSpPr>
          <p:cNvPr id="793" name="Google Shape;793;p40"/>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statement describes an IAM policy?</a:t>
            </a:r>
            <a:endParaRPr/>
          </a:p>
          <a:p>
            <a:pPr indent="-457200" lvl="0" marL="457200" rtl="0" algn="l">
              <a:lnSpc>
                <a:spcPct val="90000"/>
              </a:lnSpc>
              <a:spcBef>
                <a:spcPts val="2000"/>
              </a:spcBef>
              <a:spcAft>
                <a:spcPts val="0"/>
              </a:spcAft>
              <a:buClr>
                <a:schemeClr val="dk1"/>
              </a:buClr>
              <a:buSzPts val="2400"/>
              <a:buFont typeface="Arial"/>
              <a:buAutoNum type="alphaUcPeriod"/>
            </a:pPr>
            <a:r>
              <a:rPr lang="en-US" sz="2400"/>
              <a:t>An authentication process that provides an extra layer of protection for your AWS account</a:t>
            </a:r>
            <a:endParaRPr/>
          </a:p>
          <a:p>
            <a:pPr indent="-457200" lvl="0" marL="45720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A document that grants or denies permissions to AWS services and resources (correct)</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An identity that you can assume to gain temporary access to permissions</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The identity that is established when you first create an AWS account</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794" name="Google Shape;794;p40"/>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41"/>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00" name="Google Shape;800;p41"/>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2</a:t>
            </a:r>
            <a:endParaRPr/>
          </a:p>
        </p:txBody>
      </p:sp>
      <p:sp>
        <p:nvSpPr>
          <p:cNvPr id="801" name="Google Shape;801;p41"/>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An employee requires temporary access to create several Amazon S3 buckets. Which option should be used for this task?</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AWS account root user</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IAM group</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IAM role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Service control policy</a:t>
            </a:r>
            <a:endParaRPr/>
          </a:p>
        </p:txBody>
      </p:sp>
      <p:pic>
        <p:nvPicPr>
          <p:cNvPr id="802" name="Google Shape;802;p41"/>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42"/>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08" name="Google Shape;808;p42"/>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2</a:t>
            </a:r>
            <a:endParaRPr/>
          </a:p>
        </p:txBody>
      </p:sp>
      <p:sp>
        <p:nvSpPr>
          <p:cNvPr id="809" name="Google Shape;809;p42"/>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An employee requires temporary access to create several Amazon S3 buckets. Which option should be used for this task?</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AWS account root user</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IAM group</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IAM role (correct)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Service control policy</a:t>
            </a:r>
            <a:endParaRPr/>
          </a:p>
        </p:txBody>
      </p:sp>
      <p:pic>
        <p:nvPicPr>
          <p:cNvPr id="810" name="Google Shape;810;p42"/>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43"/>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16" name="Google Shape;816;p43"/>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3</a:t>
            </a:r>
            <a:endParaRPr/>
          </a:p>
        </p:txBody>
      </p:sp>
      <p:sp>
        <p:nvSpPr>
          <p:cNvPr id="817" name="Google Shape;817;p43"/>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option describes the concept of least privilege?</a:t>
            </a:r>
            <a:endParaRPr/>
          </a:p>
          <a:p>
            <a:pPr indent="-457200" lvl="0" marL="457200" rtl="0" algn="l">
              <a:lnSpc>
                <a:spcPct val="90000"/>
              </a:lnSpc>
              <a:spcBef>
                <a:spcPts val="2000"/>
              </a:spcBef>
              <a:spcAft>
                <a:spcPts val="0"/>
              </a:spcAft>
              <a:buClr>
                <a:schemeClr val="dk1"/>
              </a:buClr>
              <a:buSzPts val="2400"/>
              <a:buFont typeface="Arial"/>
              <a:buAutoNum type="alphaUcPeriod"/>
            </a:pPr>
            <a:r>
              <a:rPr lang="en-US" sz="2400"/>
              <a:t>Adding an IAM user into at least one IAM group</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Granting only the permissions that are needed to perform specific tasks</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Checking a packet’s permissions against an access control list</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Performing a denial of service attack that originates from at least one device</a:t>
            </a:r>
            <a:endParaRPr/>
          </a:p>
        </p:txBody>
      </p:sp>
      <p:pic>
        <p:nvPicPr>
          <p:cNvPr id="818" name="Google Shape;818;p43"/>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44"/>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24" name="Google Shape;824;p44"/>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3</a:t>
            </a:r>
            <a:endParaRPr/>
          </a:p>
        </p:txBody>
      </p:sp>
      <p:sp>
        <p:nvSpPr>
          <p:cNvPr id="825" name="Google Shape;825;p44"/>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option describes the concept of least privilege?</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Adding an IAM user into at least one IAM group</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Granting only the permissions that are needed to perform specific tasks (correct)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Checking a packet’s permissions against an access control list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Performing a denial of service attack that originates from at least one device</a:t>
            </a:r>
            <a:endParaRPr/>
          </a:p>
        </p:txBody>
      </p:sp>
      <p:pic>
        <p:nvPicPr>
          <p:cNvPr id="826" name="Google Shape;826;p44"/>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45"/>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32" name="Google Shape;832;p45"/>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4</a:t>
            </a:r>
            <a:endParaRPr/>
          </a:p>
        </p:txBody>
      </p:sp>
      <p:sp>
        <p:nvSpPr>
          <p:cNvPr id="833" name="Google Shape;833;p45"/>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service helps protect your applications against distributed denial of service (DDoS) attacks?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Amazon GuardDuty</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Amazon Inspector</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AWS Artifact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AWS Shield</a:t>
            </a:r>
            <a:endParaRPr/>
          </a:p>
        </p:txBody>
      </p:sp>
      <p:pic>
        <p:nvPicPr>
          <p:cNvPr id="834" name="Google Shape;834;p45"/>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46"/>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40" name="Google Shape;840;p46"/>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4</a:t>
            </a:r>
            <a:endParaRPr/>
          </a:p>
        </p:txBody>
      </p:sp>
      <p:sp>
        <p:nvSpPr>
          <p:cNvPr id="841" name="Google Shape;841;p46"/>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service helps protect your applications against distributed denial of service (DDoS) attacks?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Amazon GuardDuty</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Amazon Inspector</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AWS Artifact</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AWS Shield (correct)</a:t>
            </a:r>
            <a:endParaRPr/>
          </a:p>
        </p:txBody>
      </p:sp>
      <p:pic>
        <p:nvPicPr>
          <p:cNvPr id="842" name="Google Shape;842;p46"/>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47"/>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48" name="Google Shape;848;p47"/>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5</a:t>
            </a:r>
            <a:endParaRPr/>
          </a:p>
        </p:txBody>
      </p:sp>
      <p:sp>
        <p:nvSpPr>
          <p:cNvPr id="849" name="Google Shape;849;p47"/>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task can AWS Key Management Service (AWS KMS) perform?</a:t>
            </a:r>
            <a:endParaRPr/>
          </a:p>
          <a:p>
            <a:pPr indent="-457200" lvl="0" marL="457200" rtl="0" algn="l">
              <a:lnSpc>
                <a:spcPct val="90000"/>
              </a:lnSpc>
              <a:spcBef>
                <a:spcPts val="2000"/>
              </a:spcBef>
              <a:spcAft>
                <a:spcPts val="0"/>
              </a:spcAft>
              <a:buClr>
                <a:schemeClr val="dk1"/>
              </a:buClr>
              <a:buSzPts val="2400"/>
              <a:buFont typeface="Arial"/>
              <a:buAutoNum type="alphaUcPeriod"/>
            </a:pPr>
            <a:r>
              <a:rPr lang="en-US" sz="2400"/>
              <a:t>Configure multi-factor authentication (MFA)</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Update the AWS account root user password</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Create cryptographic keys</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Assign permissions to users and groups</a:t>
            </a:r>
            <a:endParaRPr/>
          </a:p>
        </p:txBody>
      </p:sp>
      <p:pic>
        <p:nvPicPr>
          <p:cNvPr id="850" name="Google Shape;850;p47"/>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48"/>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856" name="Google Shape;856;p48"/>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5</a:t>
            </a:r>
            <a:endParaRPr/>
          </a:p>
        </p:txBody>
      </p:sp>
      <p:sp>
        <p:nvSpPr>
          <p:cNvPr id="857" name="Google Shape;857;p48"/>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task can AWS Key Management Service (AWS KMS) perform?</a:t>
            </a:r>
            <a:endParaRPr/>
          </a:p>
          <a:p>
            <a:pPr indent="-457200" lvl="0" marL="457200" rtl="0" algn="l">
              <a:lnSpc>
                <a:spcPct val="90000"/>
              </a:lnSpc>
              <a:spcBef>
                <a:spcPts val="2000"/>
              </a:spcBef>
              <a:spcAft>
                <a:spcPts val="0"/>
              </a:spcAft>
              <a:buClr>
                <a:schemeClr val="dk1"/>
              </a:buClr>
              <a:buSzPts val="2400"/>
              <a:buFont typeface="Arial"/>
              <a:buAutoNum type="alphaUcPeriod"/>
            </a:pPr>
            <a:r>
              <a:rPr lang="en-US" sz="2400"/>
              <a:t>Configure multi-factor authentication (MFA)</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Update the AWS account root user password</a:t>
            </a:r>
            <a:endParaRPr/>
          </a:p>
          <a:p>
            <a:pPr indent="-457200" lvl="0" marL="45720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Create cryptographic keys (correct)</a:t>
            </a:r>
            <a:endParaRPr/>
          </a:p>
          <a:p>
            <a:pPr indent="-457200" lvl="0" marL="457200" rtl="0" algn="l">
              <a:lnSpc>
                <a:spcPct val="90000"/>
              </a:lnSpc>
              <a:spcBef>
                <a:spcPts val="1000"/>
              </a:spcBef>
              <a:spcAft>
                <a:spcPts val="0"/>
              </a:spcAft>
              <a:buClr>
                <a:schemeClr val="dk1"/>
              </a:buClr>
              <a:buSzPts val="2400"/>
              <a:buFont typeface="Arial"/>
              <a:buAutoNum type="alphaUcPeriod"/>
            </a:pPr>
            <a:r>
              <a:rPr lang="en-US" sz="2400"/>
              <a:t>Assign permissions to users and groups</a:t>
            </a:r>
            <a:endParaRPr/>
          </a:p>
        </p:txBody>
      </p:sp>
      <p:pic>
        <p:nvPicPr>
          <p:cNvPr id="858" name="Google Shape;858;p48"/>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4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Module 6 summary</a:t>
            </a:r>
            <a:endParaRPr/>
          </a:p>
        </p:txBody>
      </p:sp>
      <p:sp>
        <p:nvSpPr>
          <p:cNvPr id="864" name="Google Shape;864;p49"/>
          <p:cNvSpPr txBox="1"/>
          <p:nvPr>
            <p:ph idx="1" type="body"/>
          </p:nvPr>
        </p:nvSpPr>
        <p:spPr>
          <a:xfrm>
            <a:off x="419100" y="1528175"/>
            <a:ext cx="6799847" cy="464878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In this module, you learned about:</a:t>
            </a:r>
            <a:endParaRPr/>
          </a:p>
          <a:p>
            <a:pPr indent="-228600" lvl="0" marL="228600" rtl="0" algn="l">
              <a:lnSpc>
                <a:spcPct val="90000"/>
              </a:lnSpc>
              <a:spcBef>
                <a:spcPts val="2000"/>
              </a:spcBef>
              <a:spcAft>
                <a:spcPts val="0"/>
              </a:spcAft>
              <a:buClr>
                <a:schemeClr val="dk1"/>
              </a:buClr>
              <a:buSzPts val="2400"/>
              <a:buChar char="•"/>
            </a:pPr>
            <a:r>
              <a:rPr lang="en-US" sz="2400"/>
              <a:t>Shared responsibility model</a:t>
            </a:r>
            <a:endParaRPr/>
          </a:p>
          <a:p>
            <a:pPr indent="-228600" lvl="0" marL="228600" rtl="0" algn="l">
              <a:lnSpc>
                <a:spcPct val="90000"/>
              </a:lnSpc>
              <a:spcBef>
                <a:spcPts val="1000"/>
              </a:spcBef>
              <a:spcAft>
                <a:spcPts val="0"/>
              </a:spcAft>
              <a:buClr>
                <a:schemeClr val="dk1"/>
              </a:buClr>
              <a:buSzPts val="2400"/>
              <a:buChar char="•"/>
            </a:pPr>
            <a:r>
              <a:rPr lang="en-US" sz="2400"/>
              <a:t>AWS Identity and Access Management features</a:t>
            </a:r>
            <a:endParaRPr/>
          </a:p>
          <a:p>
            <a:pPr indent="-228600" lvl="0" marL="228600" rtl="0" algn="l">
              <a:lnSpc>
                <a:spcPct val="90000"/>
              </a:lnSpc>
              <a:spcBef>
                <a:spcPts val="1000"/>
              </a:spcBef>
              <a:spcAft>
                <a:spcPts val="0"/>
              </a:spcAft>
              <a:buClr>
                <a:schemeClr val="dk1"/>
              </a:buClr>
              <a:buSzPts val="2400"/>
              <a:buChar char="•"/>
            </a:pPr>
            <a:r>
              <a:rPr lang="en-US" sz="2400"/>
              <a:t>Methods of managing multiple accounts in AWS Organizations</a:t>
            </a:r>
            <a:endParaRPr/>
          </a:p>
          <a:p>
            <a:pPr indent="-228600" lvl="0" marL="228600" rtl="0" algn="l">
              <a:lnSpc>
                <a:spcPct val="90000"/>
              </a:lnSpc>
              <a:spcBef>
                <a:spcPts val="1000"/>
              </a:spcBef>
              <a:spcAft>
                <a:spcPts val="0"/>
              </a:spcAft>
              <a:buClr>
                <a:schemeClr val="dk1"/>
              </a:buClr>
              <a:buSzPts val="2400"/>
              <a:buChar char="•"/>
            </a:pPr>
            <a:r>
              <a:rPr lang="en-US" sz="2400"/>
              <a:t>AWS services for application security and encryption</a:t>
            </a:r>
            <a:endParaRPr/>
          </a:p>
          <a:p>
            <a:pPr indent="-228600" lvl="0" marL="228600" rtl="0" algn="l">
              <a:lnSpc>
                <a:spcPct val="90000"/>
              </a:lnSpc>
              <a:spcBef>
                <a:spcPts val="1000"/>
              </a:spcBef>
              <a:spcAft>
                <a:spcPts val="0"/>
              </a:spcAft>
              <a:buClr>
                <a:schemeClr val="dk1"/>
              </a:buClr>
              <a:buSzPts val="2400"/>
              <a:buChar char="•"/>
            </a:pPr>
            <a:r>
              <a:rPr lang="en-US" sz="2400"/>
              <a:t>AWS compliance resources</a:t>
            </a:r>
            <a:endParaRPr/>
          </a:p>
        </p:txBody>
      </p:sp>
      <p:sp>
        <p:nvSpPr>
          <p:cNvPr id="865" name="Google Shape;865;p4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866" name="Google Shape;866;p49"/>
          <p:cNvPicPr preferRelativeResize="0"/>
          <p:nvPr/>
        </p:nvPicPr>
        <p:blipFill rotWithShape="1">
          <a:blip r:embed="rId3">
            <a:alphaModFix/>
          </a:blip>
          <a:srcRect b="0" l="0" r="0" t="0"/>
          <a:stretch/>
        </p:blipFill>
        <p:spPr>
          <a:xfrm>
            <a:off x="7647709" y="2509255"/>
            <a:ext cx="4045500" cy="268662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2020-06-17T13:19:07Z</dcterms:created>
  <dc:creator>Olivia Liddell;John G. Moore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1C450FF8-CF58-43C8-AEE3-0B589C896ADB</vt:lpwstr>
  </property>
  <property fmtid="{D5CDD505-2E9C-101B-9397-08002B2CF9AE}" pid="3" name="ArticulatePath">
    <vt:lpwstr>CPE ILT - Module 06 - Security</vt:lpwstr>
  </property>
</Properties>
</file>
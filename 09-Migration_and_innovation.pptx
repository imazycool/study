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7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8" roundtripDataSignature="AMtx7mgL7fsGX9wVdGdBhwlmflC8fQCR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slide" Target="slides/slide41.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48" Type="http://customschemas.google.com/relationships/presentationmetadata" Target="metadata"/><Relationship Id="rId25" Type="http://schemas.openxmlformats.org/officeDocument/2006/relationships/slide" Target="slides/slide20.xml"/><Relationship Id="rId47" Type="http://schemas.openxmlformats.org/officeDocument/2006/relationships/slide" Target="slides/slide42.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ws.amazon.com/professional-services/CAF/"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this module, you will learn about migration and innovation on AWS. This includes migration services, cloud migration strategies, and the AWS Cloud Adoption Framework.</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In this module, you will learn how to:</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Describe migration and innovation in the AWS Cloud</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Summarize the AWS Cloud Adoption Framework (AWS CAF)</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Summarize the seven key factors of a cloud migration strategy</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Describe the benefits of AWS data migration solutions</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Summarize the broad scope of innovative solutions that AWS offers</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Summarize the six pillars of the AWS Well-Architected Framework</a:t>
            </a:r>
            <a:endParaRPr/>
          </a:p>
          <a:p>
            <a:pPr indent="-95250" lvl="0" marL="171450" rtl="0" algn="l">
              <a:spcBef>
                <a:spcPts val="0"/>
              </a:spcBef>
              <a:spcAft>
                <a:spcPts val="0"/>
              </a:spcAft>
              <a:buClr>
                <a:schemeClr val="dk1"/>
              </a:buClr>
              <a:buSzPts val="1200"/>
              <a:buFont typeface="Arial"/>
              <a:buNone/>
            </a:pPr>
            <a:r>
              <a:t/>
            </a:r>
            <a:endParaRPr b="0" i="0"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In this section, you will explore the AWS Cloud Adoption Framework, which provides guidance to support organizational change throughout the cloud adoption process.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p4:notes"/>
          <p:cNvSpPr txBox="1"/>
          <p:nvPr>
            <p:ph idx="1" type="body"/>
          </p:nvPr>
        </p:nvSpPr>
        <p:spPr>
          <a:xfrm>
            <a:off x="685800" y="4400549"/>
            <a:ext cx="5486400" cy="418174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Migrating to the cloud is a process. You don't snap your fingers and have everything magically hosted in AWS. Migrating applications takes effort, and a successful cloud migration requires expertise.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Fortunately, many people have successfully migrated to AWS, and a lot of knowledge about the process has been captured and shared. </a:t>
            </a:r>
            <a:br>
              <a:rPr lang="en-US"/>
            </a:br>
            <a:endParaRPr/>
          </a:p>
          <a:p>
            <a:pPr indent="0" lvl="0" marL="0" rtl="0" algn="l">
              <a:spcBef>
                <a:spcPts val="0"/>
              </a:spcBef>
              <a:spcAft>
                <a:spcPts val="0"/>
              </a:spcAft>
              <a:buNone/>
            </a:pPr>
            <a:r>
              <a:rPr lang="en-US"/>
              <a:t>That being said, the position you hold in your organization will impact what you need to know and how you can help with a migration. If you are a developer, your role and viewpoint will be much different than a cloud architect, business analyst, or financial analyst. Different types of people bring different perspectives to the table for a migration. You want to harness those different perspectives and make sure that everyone has the same focus. </a:t>
            </a:r>
            <a:br>
              <a:rPr lang="en-US"/>
            </a:br>
            <a:endParaRPr/>
          </a:p>
          <a:p>
            <a:pPr indent="0" lvl="0" marL="0" rtl="0" algn="l">
              <a:spcBef>
                <a:spcPts val="0"/>
              </a:spcBef>
              <a:spcAft>
                <a:spcPts val="0"/>
              </a:spcAft>
              <a:buNone/>
            </a:pPr>
            <a:r>
              <a:rPr lang="en-US"/>
              <a:t>You also want to ensure that you have the right talent to help support your migration. HR will need to hire at the correct rate to enable your migration. This can be a lot to track, and someone new to the cloud might not think of all the different people who need to be involved.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AWS Professional Services team created the </a:t>
            </a:r>
            <a:r>
              <a:rPr b="1" lang="en-US"/>
              <a:t>AWS Cloud Adoption Framework (AWS CAF)</a:t>
            </a:r>
            <a:r>
              <a:rPr lang="en-US"/>
              <a:t> to help you manage this process. The Cloud Adoption Framework provides advice to your company to enable a smooth migration to AWS.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the highest level, the AWS CAF organizes guidance into six areas of focus, called </a:t>
            </a:r>
            <a:r>
              <a:rPr b="1" lang="en-US"/>
              <a:t>perspectives</a:t>
            </a:r>
            <a:r>
              <a:rPr lang="en-US"/>
              <a:t>. Each perspective addresses distinct responsibilities. The planning process helps the right people across the organization prepare for the changes ahead.</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To learn more, see “AWS Cloud Adoption Framework (AWS CAF)” (</a:t>
            </a:r>
            <a:r>
              <a:rPr lang="en-US" sz="1200" u="sng">
                <a:solidFill>
                  <a:schemeClr val="dk1"/>
                </a:solidFill>
                <a:latin typeface="Calibri"/>
                <a:ea typeface="Calibri"/>
                <a:cs typeface="Calibri"/>
                <a:sym typeface="Calibri"/>
                <a:hlinkClick r:id="rId2">
                  <a:extLst>
                    <a:ext uri="{A12FA001-AC4F-418D-AE19-62706E023703}">
                      <ahyp:hlinkClr val="tx"/>
                    </a:ext>
                  </a:extLst>
                </a:hlinkClick>
              </a:rPr>
              <a:t>https://aws.amazon.com/professional-services/CAF/</a:t>
            </a: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5:notes"/>
          <p:cNvSpPr txBox="1"/>
          <p:nvPr>
            <p:ph idx="1" type="body"/>
          </p:nvPr>
        </p:nvSpPr>
        <p:spPr>
          <a:xfrm>
            <a:off x="685800" y="4400550"/>
            <a:ext cx="5486400" cy="34134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Each perspective of the AWS CAF addresses distinct responsibilities. The planning process helps the right people across the organization prepare for the changes ahead. In general, the </a:t>
            </a:r>
            <a:r>
              <a:rPr b="1" i="0" lang="en-US" sz="1200">
                <a:solidFill>
                  <a:schemeClr val="dk1"/>
                </a:solidFill>
                <a:latin typeface="Calibri"/>
                <a:ea typeface="Calibri"/>
                <a:cs typeface="Calibri"/>
                <a:sym typeface="Calibri"/>
              </a:rPr>
              <a:t>Business</a:t>
            </a:r>
            <a:r>
              <a:rPr b="0" i="0" lang="en-US" sz="1200">
                <a:solidFill>
                  <a:schemeClr val="dk1"/>
                </a:solidFill>
                <a:latin typeface="Calibri"/>
                <a:ea typeface="Calibri"/>
                <a:cs typeface="Calibri"/>
                <a:sym typeface="Calibri"/>
              </a:rPr>
              <a:t>, </a:t>
            </a:r>
            <a:r>
              <a:rPr b="1" i="0" lang="en-US" sz="1200">
                <a:solidFill>
                  <a:schemeClr val="dk1"/>
                </a:solidFill>
                <a:latin typeface="Calibri"/>
                <a:ea typeface="Calibri"/>
                <a:cs typeface="Calibri"/>
                <a:sym typeface="Calibri"/>
              </a:rPr>
              <a:t>People</a:t>
            </a:r>
            <a:r>
              <a:rPr b="0" i="0" lang="en-US" sz="1200">
                <a:solidFill>
                  <a:schemeClr val="dk1"/>
                </a:solidFill>
                <a:latin typeface="Calibri"/>
                <a:ea typeface="Calibri"/>
                <a:cs typeface="Calibri"/>
                <a:sym typeface="Calibri"/>
              </a:rPr>
              <a:t>, and </a:t>
            </a:r>
            <a:r>
              <a:rPr b="1" i="0" lang="en-US" sz="1200">
                <a:solidFill>
                  <a:schemeClr val="dk1"/>
                </a:solidFill>
                <a:latin typeface="Calibri"/>
                <a:ea typeface="Calibri"/>
                <a:cs typeface="Calibri"/>
                <a:sym typeface="Calibri"/>
              </a:rPr>
              <a:t>Governance</a:t>
            </a:r>
            <a:r>
              <a:rPr b="0" i="0" lang="en-US" sz="1200">
                <a:solidFill>
                  <a:schemeClr val="dk1"/>
                </a:solidFill>
                <a:latin typeface="Calibri"/>
                <a:ea typeface="Calibri"/>
                <a:cs typeface="Calibri"/>
                <a:sym typeface="Calibri"/>
              </a:rPr>
              <a:t> perspectives focus on business capabilities, whereas the </a:t>
            </a:r>
            <a:r>
              <a:rPr b="1" i="0" lang="en-US" sz="1200">
                <a:solidFill>
                  <a:schemeClr val="dk1"/>
                </a:solidFill>
                <a:latin typeface="Calibri"/>
                <a:ea typeface="Calibri"/>
                <a:cs typeface="Calibri"/>
                <a:sym typeface="Calibri"/>
              </a:rPr>
              <a:t>Platform</a:t>
            </a:r>
            <a:r>
              <a:rPr b="0" i="0" lang="en-US" sz="1200">
                <a:solidFill>
                  <a:schemeClr val="dk1"/>
                </a:solidFill>
                <a:latin typeface="Calibri"/>
                <a:ea typeface="Calibri"/>
                <a:cs typeface="Calibri"/>
                <a:sym typeface="Calibri"/>
              </a:rPr>
              <a:t>, </a:t>
            </a:r>
            <a:r>
              <a:rPr b="1" i="0" lang="en-US" sz="1200">
                <a:solidFill>
                  <a:schemeClr val="dk1"/>
                </a:solidFill>
                <a:latin typeface="Calibri"/>
                <a:ea typeface="Calibri"/>
                <a:cs typeface="Calibri"/>
                <a:sym typeface="Calibri"/>
              </a:rPr>
              <a:t>Security</a:t>
            </a:r>
            <a:r>
              <a:rPr b="0" i="0" lang="en-US" sz="1200">
                <a:solidFill>
                  <a:schemeClr val="dk1"/>
                </a:solidFill>
                <a:latin typeface="Calibri"/>
                <a:ea typeface="Calibri"/>
                <a:cs typeface="Calibri"/>
                <a:sym typeface="Calibri"/>
              </a:rPr>
              <a:t>, and </a:t>
            </a:r>
            <a:r>
              <a:rPr b="1" i="0" lang="en-US" sz="1200">
                <a:solidFill>
                  <a:schemeClr val="dk1"/>
                </a:solidFill>
                <a:latin typeface="Calibri"/>
                <a:ea typeface="Calibri"/>
                <a:cs typeface="Calibri"/>
                <a:sym typeface="Calibri"/>
              </a:rPr>
              <a:t>Operations</a:t>
            </a:r>
            <a:r>
              <a:rPr b="0" i="0" lang="en-US" sz="1200">
                <a:solidFill>
                  <a:schemeClr val="dk1"/>
                </a:solidFill>
                <a:latin typeface="Calibri"/>
                <a:ea typeface="Calibri"/>
                <a:cs typeface="Calibri"/>
                <a:sym typeface="Calibri"/>
              </a:rPr>
              <a:t> perspectives focus on technical capabilities. </a:t>
            </a:r>
            <a:r>
              <a:rPr lang="en-US"/>
              <a:t>For example, someone who is a business or finance analysts is part of the Business perspective, HR is part of the People perspective, and a cloud architect is part of the Platform perspective.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Each perspective uncovers gaps in your skills and processes, which are then recorded as inputs. The inputs are then used as the basis for creating an </a:t>
            </a:r>
            <a:r>
              <a:rPr b="1" lang="en-US"/>
              <a:t>AWS Cloud Adoption Framework Action Plan</a:t>
            </a:r>
            <a:r>
              <a:rPr b="0" lang="en-US"/>
              <a:t>.</a:t>
            </a:r>
            <a:r>
              <a:rPr lang="en-US"/>
              <a:t> You can use the action plan to guide your organization's change management as you journey to the cloud. Having an action plan that makes sense for your organization can help keep you on track towards achieving your desired outcomes.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6:notes"/>
          <p:cNvSpPr txBox="1"/>
          <p:nvPr>
            <p:ph idx="1" type="body"/>
          </p:nvPr>
        </p:nvSpPr>
        <p:spPr>
          <a:xfrm>
            <a:off x="685800" y="4400550"/>
            <a:ext cx="5486400" cy="34134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t>
            </a:r>
            <a:r>
              <a:rPr b="1" lang="en-US"/>
              <a:t>Business perspective</a:t>
            </a:r>
            <a:r>
              <a:rPr lang="en-US"/>
              <a:t> ensures that IT aligns with business needs and IT investments link to key business results.</a:t>
            </a:r>
            <a:br>
              <a:rPr lang="en-US"/>
            </a:br>
            <a:endParaRPr/>
          </a:p>
          <a:p>
            <a:pPr indent="0" lvl="0" marL="0" rtl="0" algn="l">
              <a:spcBef>
                <a:spcPts val="0"/>
              </a:spcBef>
              <a:spcAft>
                <a:spcPts val="0"/>
              </a:spcAft>
              <a:buNone/>
            </a:pPr>
            <a:r>
              <a:rPr lang="en-US"/>
              <a:t>Use the Business perspective to create a strong business case for cloud adoption and prioritize cloud adoption initiatives. Ensure that your business strategies and goals align with your IT strategies and goals.</a:t>
            </a:r>
            <a:br>
              <a:rPr lang="en-US"/>
            </a:br>
            <a:endParaRPr/>
          </a:p>
          <a:p>
            <a:pPr indent="0" lvl="0" marL="0" rtl="0" algn="l">
              <a:spcBef>
                <a:spcPts val="0"/>
              </a:spcBef>
              <a:spcAft>
                <a:spcPts val="0"/>
              </a:spcAft>
              <a:buNone/>
            </a:pPr>
            <a:r>
              <a:rPr lang="en-US"/>
              <a:t>Common roles in the Business perspective include: </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Business managers</a:t>
            </a:r>
            <a:endParaRPr/>
          </a:p>
          <a:p>
            <a:pPr indent="-171450" lvl="0" marL="171450" rtl="0" algn="l">
              <a:spcBef>
                <a:spcPts val="0"/>
              </a:spcBef>
              <a:spcAft>
                <a:spcPts val="0"/>
              </a:spcAft>
              <a:buClr>
                <a:schemeClr val="dk1"/>
              </a:buClr>
              <a:buSzPts val="1200"/>
              <a:buFont typeface="Arial"/>
              <a:buChar char="•"/>
            </a:pPr>
            <a:r>
              <a:rPr lang="en-US"/>
              <a:t>Finance managers</a:t>
            </a:r>
            <a:endParaRPr/>
          </a:p>
          <a:p>
            <a:pPr indent="-171450" lvl="0" marL="171450" rtl="0" algn="l">
              <a:spcBef>
                <a:spcPts val="0"/>
              </a:spcBef>
              <a:spcAft>
                <a:spcPts val="0"/>
              </a:spcAft>
              <a:buClr>
                <a:schemeClr val="dk1"/>
              </a:buClr>
              <a:buSzPts val="1200"/>
              <a:buFont typeface="Arial"/>
              <a:buChar char="•"/>
            </a:pPr>
            <a:r>
              <a:rPr lang="en-US"/>
              <a:t>Budget owners</a:t>
            </a:r>
            <a:endParaRPr/>
          </a:p>
          <a:p>
            <a:pPr indent="-171450" lvl="0" marL="171450" rtl="0" algn="l">
              <a:spcBef>
                <a:spcPts val="0"/>
              </a:spcBef>
              <a:spcAft>
                <a:spcPts val="0"/>
              </a:spcAft>
              <a:buClr>
                <a:schemeClr val="dk1"/>
              </a:buClr>
              <a:buSzPts val="1200"/>
              <a:buFont typeface="Arial"/>
              <a:buChar char="•"/>
            </a:pPr>
            <a:r>
              <a:rPr lang="en-US"/>
              <a:t>Strategy stakeholders</a:t>
            </a:r>
            <a:endParaRPr/>
          </a:p>
          <a:p>
            <a:pPr indent="-95250" lvl="0" marL="171450" rtl="0" algn="l">
              <a:spcBef>
                <a:spcPts val="0"/>
              </a:spcBef>
              <a:spcAft>
                <a:spcPts val="0"/>
              </a:spcAft>
              <a:buClr>
                <a:schemeClr val="dk1"/>
              </a:buClr>
              <a:buSzPts val="1200"/>
              <a:buFont typeface="Arial"/>
              <a:buNone/>
            </a:pPr>
            <a:r>
              <a:t/>
            </a:r>
            <a:endParaRPr/>
          </a:p>
          <a:p>
            <a:pPr indent="-95250" lvl="0" marL="171450" rtl="0" algn="l">
              <a:spcBef>
                <a:spcPts val="0"/>
              </a:spcBef>
              <a:spcAft>
                <a:spcPts val="0"/>
              </a:spcAft>
              <a:buClr>
                <a:schemeClr val="dk1"/>
              </a:buClr>
              <a:buSzPts val="1200"/>
              <a:buFont typeface="Arial"/>
              <a:buNone/>
            </a:pPr>
            <a:r>
              <a:t/>
            </a:r>
            <a:endParaRPr/>
          </a:p>
          <a:p>
            <a:pPr indent="-95250" lvl="0" marL="171450" rtl="0" algn="l">
              <a:spcBef>
                <a:spcPts val="0"/>
              </a:spcBef>
              <a:spcAft>
                <a:spcPts val="0"/>
              </a:spcAft>
              <a:buClr>
                <a:schemeClr val="dk1"/>
              </a:buClr>
              <a:buSzPts val="1200"/>
              <a:buFont typeface="Arial"/>
              <a:buNone/>
            </a:pPr>
            <a:r>
              <a:t/>
            </a:r>
            <a:endParaRPr/>
          </a:p>
          <a:p>
            <a:pPr indent="-95250" lvl="0" marL="17145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4" name="Google Shape;514;p7:notes"/>
          <p:cNvSpPr txBox="1"/>
          <p:nvPr>
            <p:ph idx="1" type="body"/>
          </p:nvPr>
        </p:nvSpPr>
        <p:spPr>
          <a:xfrm>
            <a:off x="685800" y="4400550"/>
            <a:ext cx="5486400" cy="34134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t>
            </a:r>
            <a:r>
              <a:rPr b="1" lang="en-US"/>
              <a:t>People perspective</a:t>
            </a:r>
            <a:r>
              <a:rPr lang="en-US"/>
              <a:t> supports development of an organization-wide change management strategy for successful cloud adoption.</a:t>
            </a:r>
            <a:br>
              <a:rPr lang="en-US"/>
            </a:br>
            <a:endParaRPr/>
          </a:p>
          <a:p>
            <a:pPr indent="0" lvl="0" marL="0" rtl="0" algn="l">
              <a:spcBef>
                <a:spcPts val="0"/>
              </a:spcBef>
              <a:spcAft>
                <a:spcPts val="0"/>
              </a:spcAft>
              <a:buNone/>
            </a:pPr>
            <a:r>
              <a:rPr lang="en-US"/>
              <a:t>Use the People perspective to evaluate organizational structures and roles, new skill and process requirements, and identify gaps. This helps prioritize training, staffing, and organizational changes.</a:t>
            </a:r>
            <a:br>
              <a:rPr lang="en-US"/>
            </a:br>
            <a:endParaRPr/>
          </a:p>
          <a:p>
            <a:pPr indent="0" lvl="0" marL="0" rtl="0" algn="l">
              <a:spcBef>
                <a:spcPts val="0"/>
              </a:spcBef>
              <a:spcAft>
                <a:spcPts val="0"/>
              </a:spcAft>
              <a:buNone/>
            </a:pPr>
            <a:r>
              <a:rPr lang="en-US"/>
              <a:t>Common roles in the People perspective include: </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Human resources</a:t>
            </a:r>
            <a:endParaRPr/>
          </a:p>
          <a:p>
            <a:pPr indent="-171450" lvl="0" marL="171450" rtl="0" algn="l">
              <a:spcBef>
                <a:spcPts val="0"/>
              </a:spcBef>
              <a:spcAft>
                <a:spcPts val="0"/>
              </a:spcAft>
              <a:buClr>
                <a:schemeClr val="dk1"/>
              </a:buClr>
              <a:buSzPts val="1200"/>
              <a:buFont typeface="Arial"/>
              <a:buChar char="•"/>
            </a:pPr>
            <a:r>
              <a:rPr lang="en-US"/>
              <a:t>Staffing</a:t>
            </a:r>
            <a:endParaRPr/>
          </a:p>
          <a:p>
            <a:pPr indent="-171450" lvl="0" marL="171450" rtl="0" algn="l">
              <a:spcBef>
                <a:spcPts val="0"/>
              </a:spcBef>
              <a:spcAft>
                <a:spcPts val="0"/>
              </a:spcAft>
              <a:buClr>
                <a:schemeClr val="dk1"/>
              </a:buClr>
              <a:buSzPts val="1200"/>
              <a:buFont typeface="Arial"/>
              <a:buChar char="•"/>
            </a:pPr>
            <a:r>
              <a:rPr lang="en-US"/>
              <a:t>People managers</a:t>
            </a:r>
            <a:endParaRPr/>
          </a:p>
          <a:p>
            <a:pPr indent="-95250" lvl="0" marL="171450" rtl="0" algn="l">
              <a:spcBef>
                <a:spcPts val="0"/>
              </a:spcBef>
              <a:spcAft>
                <a:spcPts val="0"/>
              </a:spcAft>
              <a:buClr>
                <a:schemeClr val="dk1"/>
              </a:buClr>
              <a:buSzPts val="12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3" name="Google Shape;553;p8:notes"/>
          <p:cNvSpPr txBox="1"/>
          <p:nvPr>
            <p:ph idx="1" type="body"/>
          </p:nvPr>
        </p:nvSpPr>
        <p:spPr>
          <a:xfrm>
            <a:off x="685800" y="4400550"/>
            <a:ext cx="5486400" cy="34134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t>
            </a:r>
            <a:r>
              <a:rPr b="1" lang="en-US"/>
              <a:t>Governance perspective</a:t>
            </a:r>
            <a:r>
              <a:rPr lang="en-US"/>
              <a:t> focuses on the skills and processes to align IT strategy with business strategy. This ensures that you maximize the business value and minimize risks.</a:t>
            </a:r>
            <a:br>
              <a:rPr lang="en-US"/>
            </a:br>
            <a:endParaRPr/>
          </a:p>
          <a:p>
            <a:pPr indent="0" lvl="0" marL="0" rtl="0" algn="l">
              <a:spcBef>
                <a:spcPts val="0"/>
              </a:spcBef>
              <a:spcAft>
                <a:spcPts val="0"/>
              </a:spcAft>
              <a:buNone/>
            </a:pPr>
            <a:r>
              <a:rPr lang="en-US"/>
              <a:t>Use the Governance perspective to understand how to update the staff skills and processes necessary to ensure business governance in the cloud. Manage and measure cloud investments to evaluate business outcomes.</a:t>
            </a:r>
            <a:br>
              <a:rPr lang="en-US"/>
            </a:br>
            <a:endParaRPr/>
          </a:p>
          <a:p>
            <a:pPr indent="0" lvl="0" marL="0" rtl="0" algn="l">
              <a:spcBef>
                <a:spcPts val="0"/>
              </a:spcBef>
              <a:spcAft>
                <a:spcPts val="0"/>
              </a:spcAft>
              <a:buNone/>
            </a:pPr>
            <a:r>
              <a:rPr lang="en-US"/>
              <a:t>Common roles in the Governance perspective include: </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Chief information officer (CIO)</a:t>
            </a:r>
            <a:endParaRPr/>
          </a:p>
          <a:p>
            <a:pPr indent="-171450" lvl="0" marL="171450" rtl="0" algn="l">
              <a:spcBef>
                <a:spcPts val="0"/>
              </a:spcBef>
              <a:spcAft>
                <a:spcPts val="0"/>
              </a:spcAft>
              <a:buClr>
                <a:schemeClr val="dk1"/>
              </a:buClr>
              <a:buSzPts val="1200"/>
              <a:buFont typeface="Arial"/>
              <a:buChar char="•"/>
            </a:pPr>
            <a:r>
              <a:rPr lang="en-US"/>
              <a:t>Program managers</a:t>
            </a:r>
            <a:endParaRPr/>
          </a:p>
          <a:p>
            <a:pPr indent="-171450" lvl="0" marL="171450" rtl="0" algn="l">
              <a:spcBef>
                <a:spcPts val="0"/>
              </a:spcBef>
              <a:spcAft>
                <a:spcPts val="0"/>
              </a:spcAft>
              <a:buClr>
                <a:schemeClr val="dk1"/>
              </a:buClr>
              <a:buSzPts val="1200"/>
              <a:buFont typeface="Arial"/>
              <a:buChar char="•"/>
            </a:pPr>
            <a:r>
              <a:rPr lang="en-US"/>
              <a:t>Enterprise architects</a:t>
            </a:r>
            <a:endParaRPr/>
          </a:p>
          <a:p>
            <a:pPr indent="-171450" lvl="0" marL="171450" rtl="0" algn="l">
              <a:spcBef>
                <a:spcPts val="0"/>
              </a:spcBef>
              <a:spcAft>
                <a:spcPts val="0"/>
              </a:spcAft>
              <a:buClr>
                <a:schemeClr val="dk1"/>
              </a:buClr>
              <a:buSzPts val="1200"/>
              <a:buFont typeface="Arial"/>
              <a:buChar char="•"/>
            </a:pPr>
            <a:r>
              <a:rPr lang="en-US"/>
              <a:t>Business analysts</a:t>
            </a:r>
            <a:endParaRPr/>
          </a:p>
          <a:p>
            <a:pPr indent="-171450" lvl="0" marL="171450" rtl="0" algn="l">
              <a:spcBef>
                <a:spcPts val="0"/>
              </a:spcBef>
              <a:spcAft>
                <a:spcPts val="0"/>
              </a:spcAft>
              <a:buClr>
                <a:schemeClr val="dk1"/>
              </a:buClr>
              <a:buSzPts val="1200"/>
              <a:buFont typeface="Arial"/>
              <a:buChar char="•"/>
            </a:pPr>
            <a:r>
              <a:rPr lang="en-US"/>
              <a:t>Portfolio managers</a:t>
            </a:r>
            <a:endParaRPr/>
          </a:p>
          <a:p>
            <a:pPr indent="-95250" lvl="0" marL="171450" rtl="0" algn="l">
              <a:spcBef>
                <a:spcPts val="0"/>
              </a:spcBef>
              <a:spcAft>
                <a:spcPts val="0"/>
              </a:spcAft>
              <a:buClr>
                <a:schemeClr val="dk1"/>
              </a:buClr>
              <a:buSzPts val="1200"/>
              <a:buFont typeface="Arial"/>
              <a:buNone/>
            </a:pPr>
            <a:r>
              <a:t/>
            </a:r>
            <a:endParaRPr/>
          </a:p>
          <a:p>
            <a:pPr indent="-95250" lvl="0" marL="171450" rtl="0" algn="l">
              <a:spcBef>
                <a:spcPts val="0"/>
              </a:spcBef>
              <a:spcAft>
                <a:spcPts val="0"/>
              </a:spcAft>
              <a:buClr>
                <a:schemeClr val="dk1"/>
              </a:buClr>
              <a:buSzPts val="1200"/>
              <a:buFont typeface="Arial"/>
              <a:buNone/>
            </a:pPr>
            <a:r>
              <a:t/>
            </a:r>
            <a:endParaRPr/>
          </a:p>
          <a:p>
            <a:pPr indent="-95250" lvl="0" marL="17145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9:notes"/>
          <p:cNvSpPr txBox="1"/>
          <p:nvPr>
            <p:ph idx="1" type="body"/>
          </p:nvPr>
        </p:nvSpPr>
        <p:spPr>
          <a:xfrm>
            <a:off x="685800" y="4400550"/>
            <a:ext cx="5486400" cy="34134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t>
            </a:r>
            <a:r>
              <a:rPr b="1" lang="en-US"/>
              <a:t>Platform perspective</a:t>
            </a:r>
            <a:r>
              <a:rPr lang="en-US"/>
              <a:t> includes principles and patterns for implementing new solutions in the cloud, and migrating on-premises workloads to the cloud.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Use a variety of architectural models to understand and communicate the structure of IT systems and their relationships. Describe the architecture of the target state environment in detail.</a:t>
            </a:r>
            <a:br>
              <a:rPr lang="en-US"/>
            </a:br>
            <a:endParaRPr/>
          </a:p>
          <a:p>
            <a:pPr indent="0" lvl="0" marL="0" rtl="0" algn="l">
              <a:spcBef>
                <a:spcPts val="0"/>
              </a:spcBef>
              <a:spcAft>
                <a:spcPts val="0"/>
              </a:spcAft>
              <a:buNone/>
            </a:pPr>
            <a:r>
              <a:rPr lang="en-US"/>
              <a:t>Common roles in the Platform perspective include: </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Chief technology officer (CTO)</a:t>
            </a:r>
            <a:endParaRPr/>
          </a:p>
          <a:p>
            <a:pPr indent="-171450" lvl="0" marL="171450" rtl="0" algn="l">
              <a:spcBef>
                <a:spcPts val="0"/>
              </a:spcBef>
              <a:spcAft>
                <a:spcPts val="0"/>
              </a:spcAft>
              <a:buClr>
                <a:schemeClr val="dk1"/>
              </a:buClr>
              <a:buSzPts val="1200"/>
              <a:buFont typeface="Arial"/>
              <a:buChar char="•"/>
            </a:pPr>
            <a:r>
              <a:rPr lang="en-US"/>
              <a:t>IT managers</a:t>
            </a:r>
            <a:endParaRPr/>
          </a:p>
          <a:p>
            <a:pPr indent="-171450" lvl="0" marL="171450" rtl="0" algn="l">
              <a:spcBef>
                <a:spcPts val="0"/>
              </a:spcBef>
              <a:spcAft>
                <a:spcPts val="0"/>
              </a:spcAft>
              <a:buClr>
                <a:schemeClr val="dk1"/>
              </a:buClr>
              <a:buSzPts val="1200"/>
              <a:buFont typeface="Arial"/>
              <a:buChar char="•"/>
            </a:pPr>
            <a:r>
              <a:rPr lang="en-US"/>
              <a:t>Solutions architects</a:t>
            </a:r>
            <a:endParaRPr/>
          </a:p>
          <a:p>
            <a:pPr indent="-95250" lvl="0" marL="171450" rtl="0" algn="l">
              <a:spcBef>
                <a:spcPts val="0"/>
              </a:spcBef>
              <a:spcAft>
                <a:spcPts val="0"/>
              </a:spcAft>
              <a:buClr>
                <a:schemeClr val="dk1"/>
              </a:buClr>
              <a:buSzPts val="1200"/>
              <a:buFont typeface="Arial"/>
              <a:buNone/>
            </a:pPr>
            <a:r>
              <a:t/>
            </a:r>
            <a:endParaRPr/>
          </a:p>
          <a:p>
            <a:pPr indent="-95250" lvl="0" marL="17145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p10:notes"/>
          <p:cNvSpPr txBox="1"/>
          <p:nvPr>
            <p:ph idx="1" type="body"/>
          </p:nvPr>
        </p:nvSpPr>
        <p:spPr>
          <a:xfrm>
            <a:off x="685800" y="4400550"/>
            <a:ext cx="5486400" cy="34134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t>
            </a:r>
            <a:r>
              <a:rPr b="1" lang="en-US"/>
              <a:t>Security perspective</a:t>
            </a:r>
            <a:r>
              <a:rPr lang="en-US"/>
              <a:t> ensures that an organization meets security objectives for visibility, auditability, control, and agility.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Use the AWS CAF to structure the selection and implementation of security controls that meet the organization’s needs.</a:t>
            </a:r>
            <a:br>
              <a:rPr lang="en-US"/>
            </a:br>
            <a:endParaRPr/>
          </a:p>
          <a:p>
            <a:pPr indent="0" lvl="0" marL="0" rtl="0" algn="l">
              <a:spcBef>
                <a:spcPts val="0"/>
              </a:spcBef>
              <a:spcAft>
                <a:spcPts val="0"/>
              </a:spcAft>
              <a:buNone/>
            </a:pPr>
            <a:r>
              <a:rPr lang="en-US"/>
              <a:t>Common roles in the Security perspective include: </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Chief information security officer (CISO)</a:t>
            </a:r>
            <a:endParaRPr/>
          </a:p>
          <a:p>
            <a:pPr indent="-171450" lvl="0" marL="171450" rtl="0" algn="l">
              <a:spcBef>
                <a:spcPts val="0"/>
              </a:spcBef>
              <a:spcAft>
                <a:spcPts val="0"/>
              </a:spcAft>
              <a:buClr>
                <a:schemeClr val="dk1"/>
              </a:buClr>
              <a:buSzPts val="1200"/>
              <a:buFont typeface="Arial"/>
              <a:buChar char="•"/>
            </a:pPr>
            <a:r>
              <a:rPr lang="en-US"/>
              <a:t>IT security managers</a:t>
            </a:r>
            <a:endParaRPr/>
          </a:p>
          <a:p>
            <a:pPr indent="-171450" lvl="0" marL="171450" rtl="0" algn="l">
              <a:spcBef>
                <a:spcPts val="0"/>
              </a:spcBef>
              <a:spcAft>
                <a:spcPts val="0"/>
              </a:spcAft>
              <a:buClr>
                <a:schemeClr val="dk1"/>
              </a:buClr>
              <a:buSzPts val="1200"/>
              <a:buFont typeface="Arial"/>
              <a:buChar char="•"/>
            </a:pPr>
            <a:r>
              <a:rPr lang="en-US"/>
              <a:t>IT security analysts</a:t>
            </a:r>
            <a:endParaRPr/>
          </a:p>
          <a:p>
            <a:pPr indent="-95250" lvl="0" marL="171450" rtl="0" algn="l">
              <a:spcBef>
                <a:spcPts val="0"/>
              </a:spcBef>
              <a:spcAft>
                <a:spcPts val="0"/>
              </a:spcAft>
              <a:buClr>
                <a:schemeClr val="dk1"/>
              </a:buClr>
              <a:buSzPts val="1200"/>
              <a:buFont typeface="Arial"/>
              <a:buNone/>
            </a:pPr>
            <a:r>
              <a:t/>
            </a:r>
            <a:endParaRPr/>
          </a:p>
          <a:p>
            <a:pPr indent="-95250" lvl="0" marL="17145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p11:notes"/>
          <p:cNvSpPr txBox="1"/>
          <p:nvPr>
            <p:ph idx="1" type="body"/>
          </p:nvPr>
        </p:nvSpPr>
        <p:spPr>
          <a:xfrm>
            <a:off x="685800" y="4400550"/>
            <a:ext cx="5486400" cy="341341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t>
            </a:r>
            <a:r>
              <a:rPr b="1" lang="en-US"/>
              <a:t>Operations perspective</a:t>
            </a:r>
            <a:r>
              <a:rPr lang="en-US"/>
              <a:t> helps you to enable, run, use, operate, and recover IT workloads to the level agreed on with your business stakeholders.</a:t>
            </a:r>
            <a:br>
              <a:rPr lang="en-US"/>
            </a:br>
            <a:endParaRPr/>
          </a:p>
          <a:p>
            <a:pPr indent="0" lvl="0" marL="0" rtl="0" algn="l">
              <a:spcBef>
                <a:spcPts val="0"/>
              </a:spcBef>
              <a:spcAft>
                <a:spcPts val="0"/>
              </a:spcAft>
              <a:buNone/>
            </a:pPr>
            <a:r>
              <a:rPr lang="en-US"/>
              <a:t>Define how day-to-day, quarter-to-quarter, and year-to-year business is conducted. Align with and support the operations of the business. The AWS CAF helps stakeholders define current operating procedures and identify the process changes and training needed to implement successful cloud adoption.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Common roles in the Operations perspective include: </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IT operations managers</a:t>
            </a:r>
            <a:endParaRPr/>
          </a:p>
          <a:p>
            <a:pPr indent="-171450" lvl="0" marL="171450" rtl="0" algn="l">
              <a:spcBef>
                <a:spcPts val="0"/>
              </a:spcBef>
              <a:spcAft>
                <a:spcPts val="0"/>
              </a:spcAft>
              <a:buClr>
                <a:schemeClr val="dk1"/>
              </a:buClr>
              <a:buSzPts val="1200"/>
              <a:buFont typeface="Arial"/>
              <a:buChar char="•"/>
            </a:pPr>
            <a:r>
              <a:rPr lang="en-US"/>
              <a:t>IT support managers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Migrating to the cloud can be complicated, but you are not alone in this. You have access to many resources that can help you get started, and the AWS Cloud Adoption Framework is a helpful place to look.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6" name="Google Shape;70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US"/>
              <a:t>Which AWS Cloud Adoption Framework perspective helps customers design, implement, and optimize their AWS solution based on their business goals and perspectives?</a:t>
            </a:r>
            <a:endParaRPr/>
          </a:p>
          <a:p>
            <a:pPr indent="0" lvl="0" marL="0" rtl="0" algn="l">
              <a:lnSpc>
                <a:spcPct val="100000"/>
              </a:lnSpc>
              <a:spcBef>
                <a:spcPts val="1000"/>
              </a:spcBef>
              <a:spcAft>
                <a:spcPts val="0"/>
              </a:spcAft>
              <a:buClr>
                <a:schemeClr val="dk1"/>
              </a:buClr>
              <a:buSzPts val="1200"/>
              <a:buFont typeface="Calibri"/>
              <a:buNone/>
            </a:pPr>
            <a:r>
              <a:t/>
            </a:r>
            <a:endParaRPr/>
          </a:p>
          <a:p>
            <a:pPr indent="-228600" lvl="0" marL="228600" rtl="0" algn="l">
              <a:spcBef>
                <a:spcPts val="0"/>
              </a:spcBef>
              <a:spcAft>
                <a:spcPts val="0"/>
              </a:spcAft>
              <a:buClr>
                <a:schemeClr val="dk1"/>
              </a:buClr>
              <a:buSzPts val="1200"/>
              <a:buFont typeface="Calibri"/>
              <a:buAutoNum type="alphaUcPeriod"/>
            </a:pPr>
            <a:r>
              <a:rPr lang="en-US"/>
              <a:t>Business perspective</a:t>
            </a:r>
            <a:endParaRPr/>
          </a:p>
          <a:p>
            <a:pPr indent="-228600" lvl="0" marL="228600" rtl="0" algn="l">
              <a:spcBef>
                <a:spcPts val="0"/>
              </a:spcBef>
              <a:spcAft>
                <a:spcPts val="0"/>
              </a:spcAft>
              <a:buClr>
                <a:schemeClr val="dk1"/>
              </a:buClr>
              <a:buSzPts val="1200"/>
              <a:buFont typeface="Calibri"/>
              <a:buAutoNum type="alphaUcPeriod"/>
            </a:pPr>
            <a:r>
              <a:rPr lang="en-US"/>
              <a:t>Platform perspective</a:t>
            </a:r>
            <a:endParaRPr/>
          </a:p>
          <a:p>
            <a:pPr indent="-228600" lvl="0" marL="228600" rtl="0" algn="l">
              <a:spcBef>
                <a:spcPts val="0"/>
              </a:spcBef>
              <a:spcAft>
                <a:spcPts val="0"/>
              </a:spcAft>
              <a:buClr>
                <a:schemeClr val="dk1"/>
              </a:buClr>
              <a:buSzPts val="1200"/>
              <a:buFont typeface="Calibri"/>
              <a:buAutoNum type="alphaUcPeriod"/>
            </a:pPr>
            <a:r>
              <a:rPr lang="en-US"/>
              <a:t>Operations perspective</a:t>
            </a:r>
            <a:endParaRPr/>
          </a:p>
          <a:p>
            <a:pPr indent="-228600" lvl="0" marL="228600" rtl="0" algn="l">
              <a:spcBef>
                <a:spcPts val="0"/>
              </a:spcBef>
              <a:spcAft>
                <a:spcPts val="0"/>
              </a:spcAft>
              <a:buClr>
                <a:schemeClr val="dk1"/>
              </a:buClr>
              <a:buSzPts val="1200"/>
              <a:buFont typeface="Calibri"/>
              <a:buAutoNum type="alphaUcPeriod"/>
            </a:pPr>
            <a:r>
              <a:rPr lang="en-US"/>
              <a:t>People perspective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solidFill>
                  <a:schemeClr val="dk1"/>
                </a:solidFill>
                <a:latin typeface="Calibri"/>
                <a:ea typeface="Calibri"/>
                <a:cs typeface="Calibri"/>
                <a:sym typeface="Calibri"/>
              </a:rPr>
              <a:t>The correct response option is </a:t>
            </a:r>
            <a:r>
              <a:rPr b="1" i="0" lang="en-US">
                <a:solidFill>
                  <a:schemeClr val="dk1"/>
                </a:solidFill>
                <a:latin typeface="Calibri"/>
                <a:ea typeface="Calibri"/>
                <a:cs typeface="Calibri"/>
                <a:sym typeface="Calibri"/>
              </a:rPr>
              <a:t>B. Platform perspective</a:t>
            </a:r>
            <a:r>
              <a:rPr b="0" i="0" lang="en-US">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The Platform perspective of the AWS Cloud Adoption Framework also includes principles for implementing new solutions and migrating on-premises workloads to the cloud.</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The other response options are incorrect because:</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A. The Business perspective helps you move from a model that separates business and IT strategies into a business model that integrates IT strategy.</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C. The Operations perspective focuses on operating and recovering IT workloads to meet the requirements of business stakeholders.</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D. The People perspective helps Human Resources employees prepare their teams for cloud adoption by updating organizational processes and staff skills to include cloud-based competencies.</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 name="Google Shape;72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This section examines seven strategies that you can consider implementing when preparing for a cloud migration.</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8" name="Google Shape;728;p15:notes"/>
          <p:cNvSpPr txBox="1"/>
          <p:nvPr>
            <p:ph idx="1" type="body"/>
          </p:nvPr>
        </p:nvSpPr>
        <p:spPr>
          <a:xfrm>
            <a:off x="685800" y="4400549"/>
            <a:ext cx="5486400" cy="399886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Suppose that you want to migrate from your on-premises deployment to AWS. Ideally, you could snap your fingers and instantly have all the elements from your existing on-premises data center magically appear on AWS, optimized and efficient. However, migrating doesn't work that way.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Every application (or application groups, if they're tightly coupled) has seven possible options for a migration. These are known as the </a:t>
            </a:r>
            <a:r>
              <a:rPr b="1" lang="en-US"/>
              <a:t>seven Rs of migration</a:t>
            </a:r>
            <a:r>
              <a:rPr lang="en-US"/>
              <a:t>. Once you complete the discovery phase and know exactly what is present in your existing environment, decide which of the seven Rs might be the best option, based on factors such as time, cost, priority, and criticality.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When migrating applications to the cloud, seven of the most common migration strategies</a:t>
            </a:r>
            <a:r>
              <a:rPr lang="en-US">
                <a:solidFill>
                  <a:schemeClr val="dk1"/>
                </a:solidFill>
              </a:rPr>
              <a:t> </a:t>
            </a:r>
            <a:r>
              <a:rPr lang="en-US"/>
              <a:t>that you can implement are:</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Rehosting</a:t>
            </a:r>
            <a:endParaRPr/>
          </a:p>
          <a:p>
            <a:pPr indent="-171450" lvl="0" marL="171450" rtl="0" algn="l">
              <a:spcBef>
                <a:spcPts val="0"/>
              </a:spcBef>
              <a:spcAft>
                <a:spcPts val="0"/>
              </a:spcAft>
              <a:buClr>
                <a:schemeClr val="dk1"/>
              </a:buClr>
              <a:buSzPts val="1200"/>
              <a:buFont typeface="Arial"/>
              <a:buChar char="•"/>
            </a:pPr>
            <a:r>
              <a:rPr lang="en-US"/>
              <a:t>Relocating</a:t>
            </a:r>
            <a:endParaRPr/>
          </a:p>
          <a:p>
            <a:pPr indent="-171450" lvl="0" marL="171450" rtl="0" algn="l">
              <a:spcBef>
                <a:spcPts val="0"/>
              </a:spcBef>
              <a:spcAft>
                <a:spcPts val="0"/>
              </a:spcAft>
              <a:buClr>
                <a:schemeClr val="dk1"/>
              </a:buClr>
              <a:buSzPts val="1200"/>
              <a:buFont typeface="Arial"/>
              <a:buChar char="•"/>
            </a:pPr>
            <a:r>
              <a:rPr lang="en-US"/>
              <a:t>Replatforming</a:t>
            </a:r>
            <a:endParaRPr/>
          </a:p>
          <a:p>
            <a:pPr indent="-171450" lvl="0" marL="171450" rtl="0" algn="l">
              <a:spcBef>
                <a:spcPts val="0"/>
              </a:spcBef>
              <a:spcAft>
                <a:spcPts val="0"/>
              </a:spcAft>
              <a:buClr>
                <a:schemeClr val="dk1"/>
              </a:buClr>
              <a:buSzPts val="1200"/>
              <a:buFont typeface="Arial"/>
              <a:buChar char="•"/>
            </a:pPr>
            <a:r>
              <a:rPr lang="en-US"/>
              <a:t>Refactoring/re-architecting</a:t>
            </a:r>
            <a:endParaRPr/>
          </a:p>
          <a:p>
            <a:pPr indent="-171450" lvl="0" marL="171450" rtl="0" algn="l">
              <a:spcBef>
                <a:spcPts val="0"/>
              </a:spcBef>
              <a:spcAft>
                <a:spcPts val="0"/>
              </a:spcAft>
              <a:buClr>
                <a:schemeClr val="dk1"/>
              </a:buClr>
              <a:buSzPts val="1200"/>
              <a:buFont typeface="Arial"/>
              <a:buChar char="•"/>
            </a:pPr>
            <a:r>
              <a:rPr lang="en-US"/>
              <a:t>Repurchasing</a:t>
            </a:r>
            <a:endParaRPr/>
          </a:p>
          <a:p>
            <a:pPr indent="-171450" lvl="0" marL="171450" rtl="0" algn="l">
              <a:spcBef>
                <a:spcPts val="0"/>
              </a:spcBef>
              <a:spcAft>
                <a:spcPts val="0"/>
              </a:spcAft>
              <a:buClr>
                <a:schemeClr val="dk1"/>
              </a:buClr>
              <a:buSzPts val="1200"/>
              <a:buFont typeface="Arial"/>
              <a:buChar char="•"/>
            </a:pPr>
            <a:r>
              <a:rPr lang="en-US"/>
              <a:t>Retaining</a:t>
            </a:r>
            <a:endParaRPr/>
          </a:p>
          <a:p>
            <a:pPr indent="-171450" lvl="0" marL="171450" rtl="0" algn="l">
              <a:spcBef>
                <a:spcPts val="0"/>
              </a:spcBef>
              <a:spcAft>
                <a:spcPts val="0"/>
              </a:spcAft>
              <a:buClr>
                <a:schemeClr val="dk1"/>
              </a:buClr>
              <a:buSzPts val="1200"/>
              <a:buFont typeface="Arial"/>
              <a:buChar char="•"/>
            </a:pPr>
            <a:r>
              <a:rPr lang="en-US"/>
              <a:t>Retiring</a:t>
            </a:r>
            <a:endParaRPr/>
          </a:p>
          <a:p>
            <a:pPr indent="0" lvl="0" marL="0" rtl="0" algn="l">
              <a:spcBef>
                <a:spcPts val="0"/>
              </a:spcBef>
              <a:spcAft>
                <a:spcPts val="0"/>
              </a:spcAft>
              <a:buNone/>
            </a:pPr>
            <a:r>
              <a:t/>
            </a:r>
            <a:endParaRPr b="1"/>
          </a:p>
          <a:p>
            <a:pPr indent="0" lvl="0" marL="0" marR="0" rtl="0" algn="l">
              <a:lnSpc>
                <a:spcPct val="100000"/>
              </a:lnSpc>
              <a:spcBef>
                <a:spcPts val="0"/>
              </a:spcBef>
              <a:spcAft>
                <a:spcPts val="0"/>
              </a:spcAft>
              <a:buClr>
                <a:schemeClr val="dk1"/>
              </a:buClr>
              <a:buSzPts val="1200"/>
              <a:buFont typeface="Calibri"/>
              <a:buNone/>
            </a:pPr>
            <a:r>
              <a:rPr b="1" lang="en-US"/>
              <a:t>Relocating </a:t>
            </a:r>
            <a:r>
              <a:rPr b="0" lang="en-US"/>
              <a:t>involves transferring a large number of servers, comprising one or more applications, at a given time from an on-premises platform to a cloud version of the platform. You can also use the relocate strategy to move instances or objects to a different virtual private cloud (VPC), AWS Region, or AWS account. </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US"/>
              <a:t>Rehosting</a:t>
            </a:r>
            <a:r>
              <a:rPr lang="en-US"/>
              <a:t> (also known as </a:t>
            </a:r>
            <a:r>
              <a:rPr i="1" lang="en-US"/>
              <a:t>lift and shift</a:t>
            </a:r>
            <a:r>
              <a:rPr lang="en-US"/>
              <a:t>) involves moving applications without changes. In the scenario of a large legacy migration, in which the company is looking to implement its migration and scale quickly to meet a business case, the majority of applications are rehosted.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Replatforming</a:t>
            </a:r>
            <a:r>
              <a:rPr b="0" lang="en-US"/>
              <a:t> (</a:t>
            </a:r>
            <a:r>
              <a:rPr i="1" lang="en-US"/>
              <a:t>also known as lift, tinker, and shift</a:t>
            </a:r>
            <a:r>
              <a:rPr lang="en-US"/>
              <a:t>) involves making a few cloud optimizations to realize a tangible benefit. Optimization is achieved without changing the core architecture of the application.</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Refactoring</a:t>
            </a:r>
            <a:r>
              <a:rPr lang="en-US"/>
              <a:t> (also known as </a:t>
            </a:r>
            <a:r>
              <a:rPr b="0" i="1" lang="en-US"/>
              <a:t>rearchitecting</a:t>
            </a:r>
            <a:r>
              <a:rPr lang="en-US"/>
              <a:t>) involves reimagining how an application is architected and developed by using cloud-native features. Refactoring is driven by a strong business need to add features, scale, or performance that would otherwise be difficult to achieve in the application’s existing environment.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Repurchasing</a:t>
            </a:r>
            <a:r>
              <a:rPr lang="en-US"/>
              <a:t> involves moving from a traditional license to a software as a service model. For example, a business might choose to implement the repurchasing strategy by migrating from a customer relationship management (CRM) system to Salesforce.com.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final two strategies, retaining and retiring, do </a:t>
            </a:r>
            <a:r>
              <a:rPr i="1" lang="en-US"/>
              <a:t>not</a:t>
            </a:r>
            <a:r>
              <a:rPr lang="en-US"/>
              <a:t> involve moving applications to the cloud.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Retaining</a:t>
            </a:r>
            <a:r>
              <a:rPr lang="en-US"/>
              <a:t> consists of keeping applications that are critical for the business in the source environment. This might include applications that require major refactoring before they can be migrated, or, work that can be postponed until a later time.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Retiring</a:t>
            </a:r>
            <a:r>
              <a:rPr lang="en-US"/>
              <a:t> is the process of removing applications that are no longer needed.</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3" name="Google Shape;78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rPr b="0" i="0" lang="en-US">
                <a:solidFill>
                  <a:schemeClr val="dk1"/>
                </a:solidFill>
              </a:rPr>
              <a:t>Which migration strategy involves moving from a traditional license to a software as a service model?</a:t>
            </a:r>
            <a:endParaRPr/>
          </a:p>
          <a:p>
            <a:pPr indent="0" lvl="0" marL="0" rtl="0" algn="l">
              <a:lnSpc>
                <a:spcPct val="100000"/>
              </a:lnSpc>
              <a:spcBef>
                <a:spcPts val="0"/>
              </a:spcBef>
              <a:spcAft>
                <a:spcPts val="0"/>
              </a:spcAft>
              <a:buClr>
                <a:schemeClr val="dk1"/>
              </a:buClr>
              <a:buSzPts val="1200"/>
              <a:buFont typeface="Calibri"/>
              <a:buNone/>
            </a:pPr>
            <a:r>
              <a:t/>
            </a:r>
            <a:endParaRPr/>
          </a:p>
          <a:p>
            <a:pPr indent="-228600" lvl="0" marL="228600" rtl="0" algn="l">
              <a:spcBef>
                <a:spcPts val="0"/>
              </a:spcBef>
              <a:spcAft>
                <a:spcPts val="0"/>
              </a:spcAft>
              <a:buClr>
                <a:schemeClr val="dk1"/>
              </a:buClr>
              <a:buSzPts val="1200"/>
              <a:buFont typeface="Calibri"/>
              <a:buAutoNum type="alphaUcPeriod"/>
            </a:pPr>
            <a:r>
              <a:rPr lang="en-US"/>
              <a:t>Refactoring</a:t>
            </a:r>
            <a:endParaRPr/>
          </a:p>
          <a:p>
            <a:pPr indent="-228600" lvl="0" marL="228600" rtl="0" algn="l">
              <a:spcBef>
                <a:spcPts val="0"/>
              </a:spcBef>
              <a:spcAft>
                <a:spcPts val="0"/>
              </a:spcAft>
              <a:buClr>
                <a:schemeClr val="dk1"/>
              </a:buClr>
              <a:buSzPts val="1200"/>
              <a:buFont typeface="Calibri"/>
              <a:buAutoNum type="alphaUcPeriod"/>
            </a:pPr>
            <a:r>
              <a:rPr lang="en-US"/>
              <a:t>Retiring</a:t>
            </a:r>
            <a:endParaRPr/>
          </a:p>
          <a:p>
            <a:pPr indent="-228600" lvl="0" marL="228600" rtl="0" algn="l">
              <a:spcBef>
                <a:spcPts val="0"/>
              </a:spcBef>
              <a:spcAft>
                <a:spcPts val="0"/>
              </a:spcAft>
              <a:buClr>
                <a:schemeClr val="dk1"/>
              </a:buClr>
              <a:buSzPts val="1200"/>
              <a:buFont typeface="Calibri"/>
              <a:buAutoNum type="alphaUcPeriod"/>
            </a:pPr>
            <a:r>
              <a:rPr lang="en-US"/>
              <a:t>Replatforming</a:t>
            </a:r>
            <a:endParaRPr/>
          </a:p>
          <a:p>
            <a:pPr indent="-228600" lvl="0" marL="228600" rtl="0" algn="l">
              <a:spcBef>
                <a:spcPts val="0"/>
              </a:spcBef>
              <a:spcAft>
                <a:spcPts val="0"/>
              </a:spcAft>
              <a:buClr>
                <a:schemeClr val="dk1"/>
              </a:buClr>
              <a:buSzPts val="1200"/>
              <a:buFont typeface="Calibri"/>
              <a:buAutoNum type="alphaUcPeriod"/>
            </a:pPr>
            <a:r>
              <a:rPr lang="en-US"/>
              <a:t>Repurchasing</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1" name="Google Shape;79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solidFill>
                  <a:schemeClr val="dk1"/>
                </a:solidFill>
                <a:latin typeface="Calibri"/>
                <a:ea typeface="Calibri"/>
                <a:cs typeface="Calibri"/>
                <a:sym typeface="Calibri"/>
              </a:rPr>
              <a:t>The correct response option is </a:t>
            </a:r>
            <a:r>
              <a:rPr b="1" i="0" lang="en-US">
                <a:solidFill>
                  <a:schemeClr val="dk1"/>
                </a:solidFill>
                <a:latin typeface="Calibri"/>
                <a:ea typeface="Calibri"/>
                <a:cs typeface="Calibri"/>
                <a:sym typeface="Calibri"/>
              </a:rPr>
              <a:t>D: Repurchasing</a:t>
            </a:r>
            <a:r>
              <a:rPr b="0" i="0" lang="en-US">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Repurchasing involves replacing an existing application with a cloud-based version, such as software found in AWS Marketplace.</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The other response options are incorrect because:</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A. Refactoring involves changing how an application is architected and developed, typically by using cloud-native features.</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B. Retiring involves removing an application that is no longer used or that can be turned off.</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C. Replatforming involves selectively optimizing aspects of an application to achieve benefits in the cloud without changing the core architecture of the application. It is also known as lift, tinker, and shift.</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Suppose that you have a large amount of data that you need to transfer into the AWS Cloud. For this type of workload, you can use devices that are part of the </a:t>
            </a:r>
            <a:r>
              <a:rPr b="1" lang="en-US"/>
              <a:t>AWS Snow Family</a:t>
            </a:r>
            <a:r>
              <a:rPr lang="en-US"/>
              <a:t>. </a:t>
            </a:r>
            <a:r>
              <a:rPr b="0" i="0" lang="en-US" sz="1200">
                <a:solidFill>
                  <a:schemeClr val="dk1"/>
                </a:solidFill>
                <a:latin typeface="Calibri"/>
                <a:ea typeface="Calibri"/>
                <a:cs typeface="Calibri"/>
                <a:sym typeface="Calibri"/>
              </a:rPr>
              <a:t>The AWS Snow Family is a collection of physical devices that help to physically transport up to exabytes of data into and out of AWS.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5" name="Google Shape;805;p19:notes"/>
          <p:cNvSpPr txBox="1"/>
          <p:nvPr>
            <p:ph idx="1" type="body"/>
          </p:nvPr>
        </p:nvSpPr>
        <p:spPr>
          <a:xfrm>
            <a:off x="685800" y="4400550"/>
            <a:ext cx="5486400" cy="398580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The AWS Snow Family is composed of </a:t>
            </a:r>
            <a:r>
              <a:rPr b="1" i="0" lang="en-US" sz="1200">
                <a:solidFill>
                  <a:schemeClr val="dk1"/>
                </a:solidFill>
                <a:latin typeface="Calibri"/>
                <a:ea typeface="Calibri"/>
                <a:cs typeface="Calibri"/>
                <a:sym typeface="Calibri"/>
              </a:rPr>
              <a:t>AWS Snowcone</a:t>
            </a:r>
            <a:r>
              <a:rPr b="0" i="0" lang="en-US" sz="1200">
                <a:solidFill>
                  <a:schemeClr val="dk1"/>
                </a:solidFill>
                <a:latin typeface="Calibri"/>
                <a:ea typeface="Calibri"/>
                <a:cs typeface="Calibri"/>
                <a:sym typeface="Calibri"/>
              </a:rPr>
              <a:t>, </a:t>
            </a:r>
            <a:r>
              <a:rPr b="1" i="0" lang="en-US" sz="1200">
                <a:solidFill>
                  <a:schemeClr val="dk1"/>
                </a:solidFill>
                <a:latin typeface="Calibri"/>
                <a:ea typeface="Calibri"/>
                <a:cs typeface="Calibri"/>
                <a:sym typeface="Calibri"/>
              </a:rPr>
              <a:t>AWS Snowball</a:t>
            </a:r>
            <a:r>
              <a:rPr b="0" i="0" lang="en-US" sz="1200">
                <a:solidFill>
                  <a:schemeClr val="dk1"/>
                </a:solidFill>
                <a:latin typeface="Calibri"/>
                <a:ea typeface="Calibri"/>
                <a:cs typeface="Calibri"/>
                <a:sym typeface="Calibri"/>
              </a:rPr>
              <a:t>, and </a:t>
            </a:r>
            <a:r>
              <a:rPr b="1" i="0" lang="en-US" sz="1200">
                <a:solidFill>
                  <a:schemeClr val="dk1"/>
                </a:solidFill>
                <a:latin typeface="Calibri"/>
                <a:ea typeface="Calibri"/>
                <a:cs typeface="Calibri"/>
                <a:sym typeface="Calibri"/>
              </a:rPr>
              <a:t>AWS Snowmobile</a:t>
            </a:r>
            <a:r>
              <a:rPr b="0" i="0" lang="en-US" sz="1200">
                <a:solidFill>
                  <a:schemeClr val="dk1"/>
                </a:solidFill>
                <a:latin typeface="Calibri"/>
                <a:ea typeface="Calibri"/>
                <a:cs typeface="Calibri"/>
                <a:sym typeface="Calibri"/>
              </a:rPr>
              <a:t>. These devices offer different capacity points, and most include built-in computing capabilities. AWS owns and manages the Snow Family devices and integrates them with AWS security, monitoring, storage management, and computing capabilities.  </a:t>
            </a:r>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AWS Snowcone </a:t>
            </a:r>
            <a:r>
              <a:rPr b="0" i="0" lang="en-US" sz="1200">
                <a:solidFill>
                  <a:schemeClr val="dk1"/>
                </a:solidFill>
                <a:latin typeface="Calibri"/>
                <a:ea typeface="Calibri"/>
                <a:cs typeface="Calibri"/>
                <a:sym typeface="Calibri"/>
              </a:rPr>
              <a:t>is a small, rugged, and secure edge computing and data transfer device. It features 4 CPUs, 4 gigabytes (GB) of memory, and up to 14 terabytes (TB) of usable storage.</a:t>
            </a:r>
            <a:endParaRPr/>
          </a:p>
          <a:p>
            <a:pPr indent="0" lvl="0" marL="0" marR="0" rtl="0" algn="l">
              <a:lnSpc>
                <a:spcPct val="100000"/>
              </a:lnSpc>
              <a:spcBef>
                <a:spcPts val="0"/>
              </a:spcBef>
              <a:spcAft>
                <a:spcPts val="0"/>
              </a:spcAft>
              <a:buClr>
                <a:schemeClr val="dk1"/>
              </a:buClr>
              <a:buSzPts val="1200"/>
              <a:buFont typeface="Calibri"/>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AWS offers two types of </a:t>
            </a:r>
            <a:r>
              <a:rPr b="1" i="0" lang="en-US" sz="1200">
                <a:solidFill>
                  <a:schemeClr val="dk1"/>
                </a:solidFill>
                <a:latin typeface="Calibri"/>
                <a:ea typeface="Calibri"/>
                <a:cs typeface="Calibri"/>
                <a:sym typeface="Calibri"/>
              </a:rPr>
              <a:t>AWS Snowball </a:t>
            </a:r>
            <a:r>
              <a:rPr b="0" i="0" lang="en-US" sz="1200">
                <a:solidFill>
                  <a:schemeClr val="dk1"/>
                </a:solidFill>
                <a:latin typeface="Calibri"/>
                <a:ea typeface="Calibri"/>
                <a:cs typeface="Calibri"/>
                <a:sym typeface="Calibri"/>
              </a:rPr>
              <a:t>devices: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Calibri"/>
                <a:ea typeface="Calibri"/>
                <a:cs typeface="Calibri"/>
                <a:sym typeface="Calibri"/>
              </a:rPr>
              <a:t>Snowball Edge Storage Optimized </a:t>
            </a:r>
            <a:r>
              <a:rPr b="0" i="0" lang="en-US" sz="1200">
                <a:solidFill>
                  <a:schemeClr val="dk1"/>
                </a:solidFill>
                <a:latin typeface="Calibri"/>
                <a:ea typeface="Calibri"/>
                <a:cs typeface="Calibri"/>
                <a:sym typeface="Calibri"/>
              </a:rPr>
              <a:t>devices are well suited for large-scale data migrations and recurring transfer workflows, in addition to local computing with higher capacity needs. </a:t>
            </a:r>
            <a:endParaRPr/>
          </a:p>
          <a:p>
            <a:pPr indent="-95250" lvl="0" marL="171450" rtl="0" algn="l">
              <a:spcBef>
                <a:spcPts val="0"/>
              </a:spcBef>
              <a:spcAft>
                <a:spcPts val="0"/>
              </a:spcAft>
              <a:buClr>
                <a:schemeClr val="dk1"/>
              </a:buClr>
              <a:buSzPts val="1200"/>
              <a:buFont typeface="Arial"/>
              <a:buNone/>
            </a:pPr>
            <a:r>
              <a:t/>
            </a:r>
            <a:endParaRPr b="0" i="0" sz="1200">
              <a:solidFill>
                <a:schemeClr val="dk1"/>
              </a:solidFill>
              <a:latin typeface="Calibri"/>
              <a:ea typeface="Calibri"/>
              <a:cs typeface="Calibri"/>
              <a:sym typeface="Calibri"/>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Storage: 80 TB of hard disk drive (HDD) capacity for block volumes and Amazon S3 compatible object storage; 1 TB of SATA solid state drive (SSD) for block volumes</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Compute: 40 vCPUs; 80 gibibyte (GiB) of memory to support Amazon EC2 sbe1 instances (equivalent to C5).</a:t>
            </a:r>
            <a:br>
              <a:rPr b="0" i="0" lang="en-US" sz="1200">
                <a:solidFill>
                  <a:schemeClr val="dk1"/>
                </a:solidFill>
                <a:latin typeface="Calibri"/>
                <a:ea typeface="Calibri"/>
                <a:cs typeface="Calibri"/>
                <a:sym typeface="Calibri"/>
              </a:rPr>
            </a:b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Calibri"/>
                <a:ea typeface="Calibri"/>
                <a:cs typeface="Calibri"/>
                <a:sym typeface="Calibri"/>
              </a:rPr>
              <a:t>Snowball Edge Compute Optimized </a:t>
            </a:r>
            <a:r>
              <a:rPr b="0" i="0" lang="en-US" sz="1200">
                <a:solidFill>
                  <a:schemeClr val="dk1"/>
                </a:solidFill>
                <a:latin typeface="Calibri"/>
                <a:ea typeface="Calibri"/>
                <a:cs typeface="Calibri"/>
                <a:sym typeface="Calibri"/>
              </a:rPr>
              <a:t>provides powerful computing resources for use cases such as machine learning, full motion video analysis, analytics, and local computing stacks. </a:t>
            </a:r>
            <a:endParaRPr/>
          </a:p>
          <a:p>
            <a:pPr indent="-95250" lvl="0" marL="171450" rtl="0" algn="l">
              <a:spcBef>
                <a:spcPts val="0"/>
              </a:spcBef>
              <a:spcAft>
                <a:spcPts val="0"/>
              </a:spcAft>
              <a:buClr>
                <a:schemeClr val="dk1"/>
              </a:buClr>
              <a:buSzPts val="1200"/>
              <a:buFont typeface="Arial"/>
              <a:buNone/>
            </a:pPr>
            <a:r>
              <a:t/>
            </a:r>
            <a:endParaRPr b="0" i="0" sz="1200">
              <a:solidFill>
                <a:schemeClr val="dk1"/>
              </a:solidFill>
              <a:latin typeface="Calibri"/>
              <a:ea typeface="Calibri"/>
              <a:cs typeface="Calibri"/>
              <a:sym typeface="Calibri"/>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Storage: 80-TB usable HDD capacity for Amazon S3 compatible object storage or Amazon EBS compatible block volumes; 28 TB of usable NVMe SSD capacity for Amazon EBS compatible block volumes</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Compute: 104 vCPUs; 416 GiB of memory; optional NVIDIA Tesla V100 GPU; run Amazon EC2 sbe-c and sbe-g instances, which are equivalent to C5, M5a, G3, and P3 instances</a:t>
            </a:r>
            <a:endParaRPr/>
          </a:p>
          <a:p>
            <a:pPr indent="0" lvl="0" marL="0" marR="0" rtl="0" algn="l">
              <a:lnSpc>
                <a:spcPct val="100000"/>
              </a:lnSpc>
              <a:spcBef>
                <a:spcPts val="0"/>
              </a:spcBef>
              <a:spcAft>
                <a:spcPts val="0"/>
              </a:spcAft>
              <a:buClr>
                <a:schemeClr val="dk1"/>
              </a:buClr>
              <a:buSzPts val="1200"/>
              <a:buFont typeface="Calibri"/>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AWS Snowmobile </a:t>
            </a:r>
            <a:r>
              <a:rPr b="0" i="0" lang="en-US" sz="1200">
                <a:solidFill>
                  <a:schemeClr val="dk1"/>
                </a:solidFill>
                <a:latin typeface="Calibri"/>
                <a:ea typeface="Calibri"/>
                <a:cs typeface="Calibri"/>
                <a:sym typeface="Calibri"/>
              </a:rPr>
              <a:t>is</a:t>
            </a:r>
            <a:r>
              <a:rPr b="1" i="0" lang="en-US" sz="1200">
                <a:solidFill>
                  <a:schemeClr val="dk1"/>
                </a:solidFill>
                <a:latin typeface="Calibri"/>
                <a:ea typeface="Calibri"/>
                <a:cs typeface="Calibri"/>
                <a:sym typeface="Calibri"/>
              </a:rPr>
              <a:t> </a:t>
            </a:r>
            <a:r>
              <a:rPr b="0" i="0" lang="en-US" sz="1200">
                <a:solidFill>
                  <a:schemeClr val="dk1"/>
                </a:solidFill>
                <a:latin typeface="Calibri"/>
                <a:ea typeface="Calibri"/>
                <a:cs typeface="Calibri"/>
                <a:sym typeface="Calibri"/>
              </a:rPr>
              <a:t>an exabyte-scale data transfer service used to move large amounts of data to AWS. You can transfer up to 100 petabytes of data per Snowmobile, which is a 45-foot long ruggedized shipping container, pulled by a semitrailer truck.</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3" name="Google Shape;82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The next section of this module examines innovation with AWS.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9" name="Google Shape;82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When examining how to use AWS services, focus on the desired outcomes. You are properly equipped to drive innovation in the cloud if you can clearly articulate the following: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171450" lvl="0" marL="171450" rtl="0" algn="l">
              <a:lnSpc>
                <a:spcPct val="100000"/>
              </a:lnSpc>
              <a:spcBef>
                <a:spcPts val="0"/>
              </a:spcBef>
              <a:spcAft>
                <a:spcPts val="0"/>
              </a:spcAft>
              <a:buClr>
                <a:schemeClr val="dk1"/>
              </a:buClr>
              <a:buSzPts val="1200"/>
              <a:buFont typeface="Arial"/>
              <a:buChar char="•"/>
            </a:pPr>
            <a:r>
              <a:rPr lang="en-US" sz="1200"/>
              <a:t>Current state</a:t>
            </a:r>
            <a:endParaRPr/>
          </a:p>
          <a:p>
            <a:pPr indent="-171450" lvl="0" marL="171450" rtl="0" algn="l">
              <a:lnSpc>
                <a:spcPct val="100000"/>
              </a:lnSpc>
              <a:spcBef>
                <a:spcPts val="0"/>
              </a:spcBef>
              <a:spcAft>
                <a:spcPts val="0"/>
              </a:spcAft>
              <a:buClr>
                <a:schemeClr val="dk1"/>
              </a:buClr>
              <a:buSzPts val="1200"/>
              <a:buFont typeface="Arial"/>
              <a:buChar char="•"/>
            </a:pPr>
            <a:r>
              <a:rPr lang="en-US" sz="1200">
                <a:latin typeface="Calibri"/>
                <a:ea typeface="Calibri"/>
                <a:cs typeface="Calibri"/>
                <a:sym typeface="Calibri"/>
              </a:rPr>
              <a:t>Desired state</a:t>
            </a:r>
            <a:endParaRPr/>
          </a:p>
          <a:p>
            <a:pPr indent="-171450" lvl="0" marL="171450" rtl="0" algn="l">
              <a:lnSpc>
                <a:spcPct val="100000"/>
              </a:lnSpc>
              <a:spcBef>
                <a:spcPts val="0"/>
              </a:spcBef>
              <a:spcAft>
                <a:spcPts val="0"/>
              </a:spcAft>
              <a:buClr>
                <a:schemeClr val="dk1"/>
              </a:buClr>
              <a:buSzPts val="1200"/>
              <a:buFont typeface="Arial"/>
              <a:buChar char="•"/>
            </a:pPr>
            <a:r>
              <a:rPr lang="en-US" sz="1200">
                <a:latin typeface="Calibri"/>
                <a:ea typeface="Calibri"/>
                <a:cs typeface="Calibri"/>
                <a:sym typeface="Calibri"/>
              </a:rPr>
              <a:t>Problems you are trying to solve</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Consider some of the paths you might explore in the future as you continue on your cloud journey.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 name="Google Shape;83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chemeClr val="dk1"/>
                </a:solidFill>
                <a:latin typeface="Calibri"/>
                <a:ea typeface="Calibri"/>
                <a:cs typeface="Calibri"/>
                <a:sym typeface="Calibri"/>
              </a:rPr>
              <a:t>Serverless applications: </a:t>
            </a:r>
            <a:r>
              <a:rPr b="0" i="0" lang="en-US" sz="1200">
                <a:solidFill>
                  <a:schemeClr val="dk1"/>
                </a:solidFill>
                <a:latin typeface="Calibri"/>
                <a:ea typeface="Calibri"/>
                <a:cs typeface="Calibri"/>
                <a:sym typeface="Calibri"/>
              </a:rPr>
              <a:t>With AWS, </a:t>
            </a:r>
            <a:r>
              <a:rPr b="1" i="0" lang="en-US" sz="1200">
                <a:solidFill>
                  <a:schemeClr val="dk1"/>
                </a:solidFill>
                <a:latin typeface="Calibri"/>
                <a:ea typeface="Calibri"/>
                <a:cs typeface="Calibri"/>
                <a:sym typeface="Calibri"/>
              </a:rPr>
              <a:t>serverless</a:t>
            </a:r>
            <a:r>
              <a:rPr b="0" i="0" lang="en-US" sz="1200">
                <a:solidFill>
                  <a:schemeClr val="dk1"/>
                </a:solidFill>
                <a:latin typeface="Calibri"/>
                <a:ea typeface="Calibri"/>
                <a:cs typeface="Calibri"/>
                <a:sym typeface="Calibri"/>
              </a:rPr>
              <a:t> refers to applications that don’t require you to provision, maintain, or administer servers. AWS handles fault tolerance and availability</a:t>
            </a:r>
            <a:r>
              <a:rPr lang="en-US"/>
              <a:t> for you.</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AWS Lambda is an example of a service that you can use to run serverless applications. If you design your architecture to trigger Lambda functions to run your code, you can bypass the need to manage a fleet of servers. Building your architecture with serverless applications helps developers focus on their core product instead of managing and operating servers.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1" lang="en-US" sz="1200">
                <a:solidFill>
                  <a:schemeClr val="dk1"/>
                </a:solidFill>
                <a:latin typeface="Calibri"/>
                <a:ea typeface="Calibri"/>
                <a:cs typeface="Calibri"/>
                <a:sym typeface="Calibri"/>
              </a:rPr>
              <a:t>Artificial intelligence (AI): </a:t>
            </a:r>
            <a:r>
              <a:rPr b="0" i="0" lang="en-US" sz="1200">
                <a:solidFill>
                  <a:schemeClr val="dk1"/>
                </a:solidFill>
                <a:latin typeface="Calibri"/>
                <a:ea typeface="Calibri"/>
                <a:cs typeface="Calibri"/>
                <a:sym typeface="Calibri"/>
              </a:rPr>
              <a:t>AWS offers a variety of services powered by AI. For example, you can:</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Convert speech to text with Amazon Transcribe</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Discover patterns in text with Amazon Comprehend</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Identify potentially fraudulent online activities with Amazon Fraud Detector</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Build voice and text chatbots with Amazon Lex</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Machine learning (ML):</a:t>
            </a:r>
            <a:r>
              <a:rPr b="0" i="0" lang="en-US" sz="1200">
                <a:solidFill>
                  <a:schemeClr val="dk1"/>
                </a:solidFill>
                <a:latin typeface="Calibri"/>
                <a:ea typeface="Calibri"/>
                <a:cs typeface="Calibri"/>
                <a:sym typeface="Calibri"/>
              </a:rPr>
              <a:t> Traditional machine learning development is complex, expensive, time consuming, and error prone. AWS offers Amazon SageMaker to remove the difficult work from the process and empower you to build, train, and deploy ML models quickly. You can use ML to analyze data, solve complex problems, and predict outcomes.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0" name="Google Shape;85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Throughout this course, you have learned about a wide range of AWS services. You can use these services as building blocks for your cloud architecture. To help you evaluate how well your architecture aligns with best practices, you can use the</a:t>
            </a:r>
            <a:r>
              <a:rPr b="1" lang="en-US"/>
              <a:t> Well-Architected Framework</a:t>
            </a:r>
            <a:r>
              <a:rPr lang="en-US"/>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6" name="Google Shape;85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Well-Architected Framework helps you understand how to design and operate reliable, secure, efficient, and cost-effective systems in the AWS Cloud. It provides a way for you to consistently measure your architecture against best practices and design principles and identify areas for improvement.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a:t>The Well-Architected Framework is based on six pillars: </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Operational excellence</a:t>
            </a:r>
            <a:endParaRPr/>
          </a:p>
          <a:p>
            <a:pPr indent="-171450" lvl="0" marL="171450" rtl="0" algn="l">
              <a:spcBef>
                <a:spcPts val="0"/>
              </a:spcBef>
              <a:spcAft>
                <a:spcPts val="0"/>
              </a:spcAft>
              <a:buClr>
                <a:schemeClr val="dk1"/>
              </a:buClr>
              <a:buSzPts val="1200"/>
              <a:buFont typeface="Arial"/>
              <a:buChar char="•"/>
            </a:pPr>
            <a:r>
              <a:rPr lang="en-US"/>
              <a:t>Security</a:t>
            </a:r>
            <a:endParaRPr/>
          </a:p>
          <a:p>
            <a:pPr indent="-171450" lvl="0" marL="171450" rtl="0" algn="l">
              <a:spcBef>
                <a:spcPts val="0"/>
              </a:spcBef>
              <a:spcAft>
                <a:spcPts val="0"/>
              </a:spcAft>
              <a:buClr>
                <a:schemeClr val="dk1"/>
              </a:buClr>
              <a:buSzPts val="1200"/>
              <a:buFont typeface="Arial"/>
              <a:buChar char="•"/>
            </a:pPr>
            <a:r>
              <a:rPr lang="en-US"/>
              <a:t>Reliability</a:t>
            </a:r>
            <a:endParaRPr/>
          </a:p>
          <a:p>
            <a:pPr indent="-171450" lvl="0" marL="171450" rtl="0" algn="l">
              <a:spcBef>
                <a:spcPts val="0"/>
              </a:spcBef>
              <a:spcAft>
                <a:spcPts val="0"/>
              </a:spcAft>
              <a:buClr>
                <a:schemeClr val="dk1"/>
              </a:buClr>
              <a:buSzPts val="1200"/>
              <a:buFont typeface="Arial"/>
              <a:buChar char="•"/>
            </a:pPr>
            <a:r>
              <a:rPr lang="en-US"/>
              <a:t>Performance efficiency</a:t>
            </a:r>
            <a:endParaRPr/>
          </a:p>
          <a:p>
            <a:pPr indent="-171450" lvl="0" marL="171450" rtl="0" algn="l">
              <a:spcBef>
                <a:spcPts val="0"/>
              </a:spcBef>
              <a:spcAft>
                <a:spcPts val="0"/>
              </a:spcAft>
              <a:buClr>
                <a:schemeClr val="dk1"/>
              </a:buClr>
              <a:buSzPts val="1200"/>
              <a:buFont typeface="Arial"/>
              <a:buChar char="•"/>
            </a:pPr>
            <a:r>
              <a:rPr lang="en-US"/>
              <a:t>Cost optimization</a:t>
            </a:r>
            <a:endParaRPr/>
          </a:p>
          <a:p>
            <a:pPr indent="-171450" lvl="0" marL="171450" rtl="0" algn="l">
              <a:spcBef>
                <a:spcPts val="0"/>
              </a:spcBef>
              <a:spcAft>
                <a:spcPts val="0"/>
              </a:spcAft>
              <a:buClr>
                <a:schemeClr val="dk1"/>
              </a:buClr>
              <a:buSzPts val="1200"/>
              <a:buFont typeface="Arial"/>
              <a:buChar char="•"/>
            </a:pPr>
            <a:r>
              <a:rPr lang="en-US"/>
              <a:t>Sustainability</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4" name="Google Shape;86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The first pillar is </a:t>
            </a:r>
            <a:r>
              <a:rPr b="1" lang="en-US"/>
              <a:t>operational excellence</a:t>
            </a:r>
            <a:r>
              <a:rPr lang="en-US"/>
              <a:t>. It focuses on running and monitoring systems to deliver business value, and with that, continually improving processes and procedures. For example, automating changes with deployment pipelines, or responding to events that are triggered. </a:t>
            </a:r>
            <a:endParaRPr b="1"/>
          </a:p>
          <a:p>
            <a:pPr indent="0" lvl="0" marL="0" rtl="0" algn="l">
              <a:spcBef>
                <a:spcPts val="0"/>
              </a:spcBef>
              <a:spcAft>
                <a:spcPts val="0"/>
              </a:spcAft>
              <a:buNone/>
            </a:pPr>
            <a:r>
              <a:t/>
            </a:r>
            <a:endParaRPr b="1"/>
          </a:p>
          <a:p>
            <a:pPr indent="0" lvl="0" marL="0" rtl="0" algn="l">
              <a:spcBef>
                <a:spcPts val="0"/>
              </a:spcBef>
              <a:spcAft>
                <a:spcPts val="0"/>
              </a:spcAft>
              <a:buNone/>
            </a:pPr>
            <a:r>
              <a:rPr lang="en-US"/>
              <a:t>Design principles for operational excellence in the cloud include performing operations as code, annotating documentation, anticipating failure, and frequently making small, reversible changes.</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9" name="Google Shape;87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The </a:t>
            </a:r>
            <a:r>
              <a:rPr b="1" i="0" lang="en-US" sz="1200">
                <a:solidFill>
                  <a:schemeClr val="dk1"/>
                </a:solidFill>
                <a:latin typeface="Calibri"/>
                <a:ea typeface="Calibri"/>
                <a:cs typeface="Calibri"/>
                <a:sym typeface="Calibri"/>
              </a:rPr>
              <a:t>security</a:t>
            </a:r>
            <a:r>
              <a:rPr b="0" i="0" lang="en-US" sz="1200">
                <a:solidFill>
                  <a:schemeClr val="dk1"/>
                </a:solidFill>
                <a:latin typeface="Calibri"/>
                <a:ea typeface="Calibri"/>
                <a:cs typeface="Calibri"/>
                <a:sym typeface="Calibri"/>
              </a:rPr>
              <a:t> pillar is the ability to protect information, systems, and assets while delivering business value through risk assessments and mitigation strategies.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When considering the security of your architecture, apply these best practices: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Automate security best practices when possible</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Apply security at all layers</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Protect data in transit and at rest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4" name="Google Shape;89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a:solidFill>
                  <a:schemeClr val="dk1"/>
                </a:solidFill>
                <a:latin typeface="Calibri"/>
                <a:ea typeface="Calibri"/>
                <a:cs typeface="Calibri"/>
                <a:sym typeface="Calibri"/>
              </a:rPr>
              <a:t>Reliability</a:t>
            </a:r>
            <a:r>
              <a:rPr b="0" i="0" lang="en-US" sz="1200">
                <a:solidFill>
                  <a:schemeClr val="dk1"/>
                </a:solidFill>
                <a:latin typeface="Calibri"/>
                <a:ea typeface="Calibri"/>
                <a:cs typeface="Calibri"/>
                <a:sym typeface="Calibri"/>
              </a:rPr>
              <a:t> is the ability of a system to do the following:</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Recover from infrastructure or service disruptions</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Dynamically acquire computing resources to meet demand</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Mitigate disruptions such as misconfigurations or transient network issues</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Reliability includes testing recovery procedures, scaling horizontally to increase aggregate system availability, and automatically recovering from failure.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0" name="Google Shape;910;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a:t>Performance efficiency</a:t>
            </a:r>
            <a:r>
              <a:rPr b="0" i="0" lang="en-US" sz="1200"/>
              <a:t> is the ability to use computing resources efficiently to meet system requirements, and maintain that efficiency as demand changes and technologies evolve. An example of performance efficiency is choosing the right Amazon EC2 instance type for an application.</a:t>
            </a:r>
            <a:endParaRPr/>
          </a:p>
          <a:p>
            <a:pPr indent="0" lvl="0" marL="0" rtl="0" algn="l">
              <a:spcBef>
                <a:spcPts val="0"/>
              </a:spcBef>
              <a:spcAft>
                <a:spcPts val="0"/>
              </a:spcAft>
              <a:buNone/>
            </a:pPr>
            <a:r>
              <a:t/>
            </a:r>
            <a:endParaRPr b="0" i="0" sz="1200"/>
          </a:p>
          <a:p>
            <a:pPr indent="0" lvl="0" marL="0" rtl="0" algn="l">
              <a:spcBef>
                <a:spcPts val="0"/>
              </a:spcBef>
              <a:spcAft>
                <a:spcPts val="0"/>
              </a:spcAft>
              <a:buNone/>
            </a:pPr>
            <a:r>
              <a:rPr b="0" i="0" lang="en-US" sz="1200"/>
              <a:t>Evaluating the performance efficiency of your architecture includes experimenting more often, using serverless architectures, and designing systems to be able to go global in minutes.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5" name="Google Shape;92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a:latin typeface="Calibri"/>
                <a:ea typeface="Calibri"/>
                <a:cs typeface="Calibri"/>
                <a:sym typeface="Calibri"/>
              </a:rPr>
              <a:t>Cost optimization</a:t>
            </a:r>
            <a:r>
              <a:rPr b="0" i="0" lang="en-US" sz="1200">
                <a:latin typeface="Calibri"/>
                <a:ea typeface="Calibri"/>
                <a:cs typeface="Calibri"/>
                <a:sym typeface="Calibri"/>
              </a:rPr>
              <a:t> is the ability to run systems to deliver business value at the lowest price point.</a:t>
            </a:r>
            <a:r>
              <a:rPr b="1" i="0" lang="en-US" sz="1200">
                <a:latin typeface="Calibri"/>
                <a:ea typeface="Calibri"/>
                <a:cs typeface="Calibri"/>
                <a:sym typeface="Calibri"/>
              </a:rPr>
              <a:t> </a:t>
            </a:r>
            <a:r>
              <a:rPr b="0" i="0" lang="en-US" sz="1200">
                <a:latin typeface="Calibri"/>
                <a:ea typeface="Calibri"/>
                <a:cs typeface="Calibri"/>
                <a:sym typeface="Calibri"/>
              </a:rPr>
              <a:t>For example, suppose that you are analyzing your Amazon EC2 compute usage. If you have overestimated your compute needs, you could lower your costs by choosing a more cost-effective instance type.</a:t>
            </a:r>
            <a:endParaRPr/>
          </a:p>
          <a:p>
            <a:pPr indent="0" lvl="0" marL="0" rtl="0" algn="l">
              <a:spcBef>
                <a:spcPts val="0"/>
              </a:spcBef>
              <a:spcAft>
                <a:spcPts val="0"/>
              </a:spcAft>
              <a:buNone/>
            </a:pPr>
            <a:r>
              <a:t/>
            </a:r>
            <a:endParaRPr b="0" i="0" sz="1200">
              <a:latin typeface="Calibri"/>
              <a:ea typeface="Calibri"/>
              <a:cs typeface="Calibri"/>
              <a:sym typeface="Calibri"/>
            </a:endParaRPr>
          </a:p>
          <a:p>
            <a:pPr indent="0" lvl="0" marL="0" rtl="0" algn="l">
              <a:spcBef>
                <a:spcPts val="0"/>
              </a:spcBef>
              <a:spcAft>
                <a:spcPts val="0"/>
              </a:spcAft>
              <a:buNone/>
            </a:pPr>
            <a:r>
              <a:rPr b="0" i="0" lang="en-US" sz="1200">
                <a:latin typeface="Calibri"/>
                <a:ea typeface="Calibri"/>
                <a:cs typeface="Calibri"/>
                <a:sym typeface="Calibri"/>
              </a:rPr>
              <a:t>Cost optimization includes adopting a consumption model, analyzing and attributing expenditure, and using managed services to reduce the cost of ownership.</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0" name="Google Shape;94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200">
                <a:latin typeface="Calibri"/>
                <a:ea typeface="Calibri"/>
                <a:cs typeface="Calibri"/>
                <a:sym typeface="Calibri"/>
              </a:rPr>
              <a:t>Sustainability</a:t>
            </a:r>
            <a:r>
              <a:rPr b="0" i="0" lang="en-US" sz="1200">
                <a:latin typeface="Calibri"/>
                <a:ea typeface="Calibri"/>
                <a:cs typeface="Calibri"/>
                <a:sym typeface="Calibri"/>
              </a:rPr>
              <a:t> is understanding the impacts of the services used, quantifying impacts through the entire workload lifecycle, and applying design principles and best practices to reduce these impacts. From an AWS customer perspective, emissions from your workloads running on AWS are accounted for as indirect emissions.</a:t>
            </a:r>
            <a:endParaRPr/>
          </a:p>
          <a:p>
            <a:pPr indent="0" lvl="0" marL="0" rtl="0" algn="l">
              <a:spcBef>
                <a:spcPts val="0"/>
              </a:spcBef>
              <a:spcAft>
                <a:spcPts val="0"/>
              </a:spcAft>
              <a:buNone/>
            </a:pPr>
            <a:r>
              <a:t/>
            </a:r>
            <a:endParaRPr b="0" i="0" sz="1200">
              <a:latin typeface="Calibri"/>
              <a:ea typeface="Calibri"/>
              <a:cs typeface="Calibri"/>
              <a:sym typeface="Calibri"/>
            </a:endParaRPr>
          </a:p>
          <a:p>
            <a:pPr indent="0" lvl="0" marL="0" rtl="0" algn="l">
              <a:spcBef>
                <a:spcPts val="0"/>
              </a:spcBef>
              <a:spcAft>
                <a:spcPts val="0"/>
              </a:spcAft>
              <a:buNone/>
            </a:pPr>
            <a:r>
              <a:rPr b="0" i="0" lang="en-US" sz="1200">
                <a:latin typeface="Calibri"/>
                <a:ea typeface="Calibri"/>
                <a:cs typeface="Calibri"/>
                <a:sym typeface="Calibri"/>
              </a:rPr>
              <a:t>Each workload deployed generates a fraction of the total AWS emissions from each of the previous scopes. The actual amount varies per workload and depends on several factors including the AWS services used, the energy consumed by those services, the carbon intensity of the electric grids serving the AWS data centers where they run, and the AWS procurement of renewable energy.</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2" name="Google Shape;98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1" lang="en-US"/>
              <a:t>There are no notes on this slide.</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9" name="Google Shape;98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US"/>
              <a:t>Which AWS Cloud Adoption Framework perspective helps you structure the selection and implementation of permissions?</a:t>
            </a:r>
            <a:endParaRPr/>
          </a:p>
          <a:p>
            <a:pPr indent="0" lvl="0" marL="0" rtl="0" algn="l">
              <a:spcBef>
                <a:spcPts val="1000"/>
              </a:spcBef>
              <a:spcAft>
                <a:spcPts val="0"/>
              </a:spcAft>
              <a:buNone/>
            </a:pPr>
            <a:r>
              <a:rPr lang="en-US">
                <a:solidFill>
                  <a:schemeClr val="dk1"/>
                </a:solidFill>
              </a:rPr>
              <a:t> </a:t>
            </a:r>
            <a:endParaRPr/>
          </a:p>
          <a:p>
            <a:pPr indent="-228600" lvl="0" marL="228600" rtl="0" algn="l">
              <a:spcBef>
                <a:spcPts val="0"/>
              </a:spcBef>
              <a:spcAft>
                <a:spcPts val="0"/>
              </a:spcAft>
              <a:buClr>
                <a:schemeClr val="dk1"/>
              </a:buClr>
              <a:buSzPts val="1200"/>
              <a:buFont typeface="Calibri"/>
              <a:buAutoNum type="alphaUcPeriod"/>
            </a:pPr>
            <a:r>
              <a:rPr lang="en-US">
                <a:solidFill>
                  <a:schemeClr val="dk1"/>
                </a:solidFill>
              </a:rPr>
              <a:t>Governance perspective</a:t>
            </a:r>
            <a:endParaRPr/>
          </a:p>
          <a:p>
            <a:pPr indent="-228600" lvl="0" marL="228600" rtl="0" algn="l">
              <a:spcBef>
                <a:spcPts val="0"/>
              </a:spcBef>
              <a:spcAft>
                <a:spcPts val="0"/>
              </a:spcAft>
              <a:buClr>
                <a:schemeClr val="dk1"/>
              </a:buClr>
              <a:buSzPts val="1200"/>
              <a:buFont typeface="Calibri"/>
              <a:buAutoNum type="alphaUcPeriod"/>
            </a:pPr>
            <a:r>
              <a:rPr lang="en-US">
                <a:solidFill>
                  <a:schemeClr val="dk1"/>
                </a:solidFill>
              </a:rPr>
              <a:t>Security perspective</a:t>
            </a:r>
            <a:endParaRPr/>
          </a:p>
          <a:p>
            <a:pPr indent="-228600" lvl="0" marL="228600" rtl="0" algn="l">
              <a:spcBef>
                <a:spcPts val="0"/>
              </a:spcBef>
              <a:spcAft>
                <a:spcPts val="0"/>
              </a:spcAft>
              <a:buClr>
                <a:schemeClr val="dk1"/>
              </a:buClr>
              <a:buSzPts val="1200"/>
              <a:buFont typeface="Calibri"/>
              <a:buAutoNum type="alphaUcPeriod"/>
            </a:pPr>
            <a:r>
              <a:rPr lang="en-US">
                <a:solidFill>
                  <a:schemeClr val="dk1"/>
                </a:solidFill>
              </a:rPr>
              <a:t>Operations perspective</a:t>
            </a:r>
            <a:endParaRPr/>
          </a:p>
          <a:p>
            <a:pPr indent="-228600" lvl="0" marL="228600" rtl="0" algn="l">
              <a:spcBef>
                <a:spcPts val="0"/>
              </a:spcBef>
              <a:spcAft>
                <a:spcPts val="0"/>
              </a:spcAft>
              <a:buClr>
                <a:schemeClr val="dk1"/>
              </a:buClr>
              <a:buSzPts val="1200"/>
              <a:buFont typeface="Calibri"/>
              <a:buAutoNum type="alphaUcPeriod"/>
            </a:pPr>
            <a:r>
              <a:rPr lang="en-US">
                <a:solidFill>
                  <a:schemeClr val="dk1"/>
                </a:solidFill>
              </a:rPr>
              <a:t>Business perspective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7" name="Google Shape;997;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solidFill>
                  <a:schemeClr val="dk1"/>
                </a:solidFill>
                <a:latin typeface="Calibri"/>
                <a:ea typeface="Calibri"/>
                <a:cs typeface="Calibri"/>
                <a:sym typeface="Calibri"/>
              </a:rPr>
              <a:t>The correct response option is </a:t>
            </a:r>
            <a:r>
              <a:rPr b="1" i="0" lang="en-US">
                <a:solidFill>
                  <a:schemeClr val="dk1"/>
                </a:solidFill>
                <a:latin typeface="Calibri"/>
                <a:ea typeface="Calibri"/>
                <a:cs typeface="Calibri"/>
                <a:sym typeface="Calibri"/>
              </a:rPr>
              <a:t>B. Security perspective</a:t>
            </a:r>
            <a:r>
              <a:rPr b="0" i="0" lang="en-US">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The Security perspective of the AWS Cloud Adoption Framework also helps you identify areas of non-compliance and plan ongoing security initiatives.</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The other response options are incorrect because:</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A. Governance perspective helps you identify and implement best practices for IT governance and support business processes with technology.</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C. Operations perspective focuses on operating and recovering IT workloads to meet the requirements of business stakeholders.</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D. Business perspective helps you move from a model that separates business and IT strategies into a business model that integrates IT strategy.</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5" name="Google Shape;100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rPr b="0" lang="en-US"/>
              <a:t>Which strategies are included in the seven strategies for application migration? (Select TWO.)</a:t>
            </a:r>
            <a:endParaRPr/>
          </a:p>
          <a:p>
            <a:pPr indent="0" lvl="0" marL="0" rtl="0" algn="l">
              <a:spcBef>
                <a:spcPts val="0"/>
              </a:spcBef>
              <a:spcAft>
                <a:spcPts val="0"/>
              </a:spcAft>
              <a:buNone/>
            </a:pPr>
            <a:r>
              <a:rPr lang="en-US">
                <a:solidFill>
                  <a:schemeClr val="dk1"/>
                </a:solidFill>
              </a:rPr>
              <a:t> </a:t>
            </a:r>
            <a:endParaRPr/>
          </a:p>
          <a:p>
            <a:pPr indent="-228600" lvl="0" marL="228600" rtl="0" algn="l">
              <a:spcBef>
                <a:spcPts val="0"/>
              </a:spcBef>
              <a:spcAft>
                <a:spcPts val="0"/>
              </a:spcAft>
              <a:buClr>
                <a:schemeClr val="dk1"/>
              </a:buClr>
              <a:buSzPts val="1200"/>
              <a:buFont typeface="Calibri"/>
              <a:buAutoNum type="alphaUcPeriod"/>
            </a:pPr>
            <a:r>
              <a:rPr lang="en-US">
                <a:solidFill>
                  <a:schemeClr val="dk1"/>
                </a:solidFill>
              </a:rPr>
              <a:t>Revisiting</a:t>
            </a:r>
            <a:endParaRPr/>
          </a:p>
          <a:p>
            <a:pPr indent="-228600" lvl="0" marL="228600" rtl="0" algn="l">
              <a:spcBef>
                <a:spcPts val="0"/>
              </a:spcBef>
              <a:spcAft>
                <a:spcPts val="0"/>
              </a:spcAft>
              <a:buClr>
                <a:schemeClr val="dk1"/>
              </a:buClr>
              <a:buSzPts val="1200"/>
              <a:buFont typeface="Calibri"/>
              <a:buAutoNum type="alphaUcPeriod"/>
            </a:pPr>
            <a:r>
              <a:rPr lang="en-US">
                <a:solidFill>
                  <a:schemeClr val="dk1"/>
                </a:solidFill>
              </a:rPr>
              <a:t>Retaining</a:t>
            </a:r>
            <a:endParaRPr/>
          </a:p>
          <a:p>
            <a:pPr indent="-228600" lvl="0" marL="228600" rtl="0" algn="l">
              <a:spcBef>
                <a:spcPts val="0"/>
              </a:spcBef>
              <a:spcAft>
                <a:spcPts val="0"/>
              </a:spcAft>
              <a:buClr>
                <a:schemeClr val="dk1"/>
              </a:buClr>
              <a:buSzPts val="1200"/>
              <a:buFont typeface="Calibri"/>
              <a:buAutoNum type="alphaUcPeriod"/>
            </a:pPr>
            <a:r>
              <a:rPr lang="en-US">
                <a:solidFill>
                  <a:schemeClr val="dk1"/>
                </a:solidFill>
              </a:rPr>
              <a:t>Remembering</a:t>
            </a:r>
            <a:endParaRPr/>
          </a:p>
          <a:p>
            <a:pPr indent="-228600" lvl="0" marL="228600" rtl="0" algn="l">
              <a:spcBef>
                <a:spcPts val="0"/>
              </a:spcBef>
              <a:spcAft>
                <a:spcPts val="0"/>
              </a:spcAft>
              <a:buClr>
                <a:schemeClr val="dk1"/>
              </a:buClr>
              <a:buSzPts val="1200"/>
              <a:buFont typeface="Calibri"/>
              <a:buAutoNum type="alphaUcPeriod"/>
            </a:pPr>
            <a:r>
              <a:rPr lang="en-US">
                <a:solidFill>
                  <a:schemeClr val="dk1"/>
                </a:solidFill>
              </a:rPr>
              <a:t>Redeveloping</a:t>
            </a:r>
            <a:endParaRPr/>
          </a:p>
          <a:p>
            <a:pPr indent="-228600" lvl="0" marL="228600" rtl="0" algn="l">
              <a:spcBef>
                <a:spcPts val="0"/>
              </a:spcBef>
              <a:spcAft>
                <a:spcPts val="0"/>
              </a:spcAft>
              <a:buClr>
                <a:schemeClr val="dk1"/>
              </a:buClr>
              <a:buSzPts val="1200"/>
              <a:buFont typeface="Calibri"/>
              <a:buAutoNum type="alphaUcPeriod"/>
            </a:pPr>
            <a:r>
              <a:rPr lang="en-US">
                <a:solidFill>
                  <a:schemeClr val="dk1"/>
                </a:solidFill>
              </a:rPr>
              <a:t>Rehosting</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3" name="Google Shape;1013;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solidFill>
                  <a:schemeClr val="dk1"/>
                </a:solidFill>
                <a:latin typeface="Calibri"/>
                <a:ea typeface="Calibri"/>
                <a:cs typeface="Calibri"/>
                <a:sym typeface="Calibri"/>
              </a:rPr>
              <a:t>The two correct response options are:</a:t>
            </a:r>
            <a:endParaRPr/>
          </a:p>
          <a:p>
            <a:pPr indent="0" lvl="0" marL="0" rtl="0" algn="l">
              <a:spcBef>
                <a:spcPts val="0"/>
              </a:spcBef>
              <a:spcAft>
                <a:spcPts val="0"/>
              </a:spcAft>
              <a:buNone/>
            </a:pPr>
            <a:r>
              <a:t/>
            </a:r>
            <a:endParaRPr b="1" i="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1" i="0" lang="en-US">
                <a:solidFill>
                  <a:schemeClr val="dk1"/>
                </a:solidFill>
                <a:latin typeface="Calibri"/>
                <a:ea typeface="Calibri"/>
                <a:cs typeface="Calibri"/>
                <a:sym typeface="Calibri"/>
              </a:rPr>
              <a:t>B. Retaining</a:t>
            </a:r>
            <a:endParaRPr b="0" i="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1" i="0" lang="en-US">
                <a:solidFill>
                  <a:schemeClr val="dk1"/>
                </a:solidFill>
                <a:latin typeface="Calibri"/>
                <a:ea typeface="Calibri"/>
                <a:cs typeface="Calibri"/>
                <a:sym typeface="Calibri"/>
              </a:rPr>
              <a:t>E. Rehosting</a:t>
            </a:r>
            <a:endParaRPr b="0" i="0">
              <a:solidFill>
                <a:schemeClr val="dk1"/>
              </a:solidFill>
              <a:latin typeface="Calibri"/>
              <a:ea typeface="Calibri"/>
              <a:cs typeface="Calibri"/>
              <a:sym typeface="Calibri"/>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The application migration strategies are rehosting, relocating, replatforming, refactoring/rearchitecting, repurchasing, retaining, and retiring.</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1" name="Google Shape;102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rPr b="0" lang="en-US"/>
              <a:t>What is the storage capacity of AWS Snowmobile?</a:t>
            </a:r>
            <a:endParaRPr/>
          </a:p>
          <a:p>
            <a:pPr indent="0" lvl="0" marL="0" rtl="0" algn="l">
              <a:spcBef>
                <a:spcPts val="0"/>
              </a:spcBef>
              <a:spcAft>
                <a:spcPts val="0"/>
              </a:spcAft>
              <a:buNone/>
            </a:pPr>
            <a:r>
              <a:rPr lang="en-US">
                <a:solidFill>
                  <a:schemeClr val="dk1"/>
                </a:solidFill>
              </a:rPr>
              <a:t> </a:t>
            </a:r>
            <a:endParaRPr/>
          </a:p>
          <a:p>
            <a:pPr indent="-228600" lvl="0" marL="228600" rtl="0" algn="l">
              <a:spcBef>
                <a:spcPts val="0"/>
              </a:spcBef>
              <a:spcAft>
                <a:spcPts val="0"/>
              </a:spcAft>
              <a:buClr>
                <a:schemeClr val="dk1"/>
              </a:buClr>
              <a:buSzPts val="1200"/>
              <a:buFont typeface="Calibri"/>
              <a:buAutoNum type="alphaUcPeriod"/>
            </a:pPr>
            <a:r>
              <a:rPr lang="en-US">
                <a:solidFill>
                  <a:schemeClr val="dk1"/>
                </a:solidFill>
              </a:rPr>
              <a:t>40 PB</a:t>
            </a:r>
            <a:endParaRPr/>
          </a:p>
          <a:p>
            <a:pPr indent="-228600" lvl="0" marL="228600" rtl="0" algn="l">
              <a:spcBef>
                <a:spcPts val="0"/>
              </a:spcBef>
              <a:spcAft>
                <a:spcPts val="0"/>
              </a:spcAft>
              <a:buClr>
                <a:schemeClr val="dk1"/>
              </a:buClr>
              <a:buSzPts val="1200"/>
              <a:buFont typeface="Calibri"/>
              <a:buAutoNum type="alphaUcPeriod"/>
            </a:pPr>
            <a:r>
              <a:rPr lang="en-US">
                <a:solidFill>
                  <a:schemeClr val="dk1"/>
                </a:solidFill>
              </a:rPr>
              <a:t>60 PB</a:t>
            </a:r>
            <a:endParaRPr/>
          </a:p>
          <a:p>
            <a:pPr indent="-228600" lvl="0" marL="228600" rtl="0" algn="l">
              <a:spcBef>
                <a:spcPts val="0"/>
              </a:spcBef>
              <a:spcAft>
                <a:spcPts val="0"/>
              </a:spcAft>
              <a:buClr>
                <a:schemeClr val="dk1"/>
              </a:buClr>
              <a:buSzPts val="1200"/>
              <a:buFont typeface="Calibri"/>
              <a:buAutoNum type="alphaUcPeriod"/>
            </a:pPr>
            <a:r>
              <a:rPr lang="en-US">
                <a:solidFill>
                  <a:schemeClr val="dk1"/>
                </a:solidFill>
              </a:rPr>
              <a:t>80 PB</a:t>
            </a:r>
            <a:endParaRPr/>
          </a:p>
          <a:p>
            <a:pPr indent="-228600" lvl="0" marL="228600" rtl="0" algn="l">
              <a:spcBef>
                <a:spcPts val="0"/>
              </a:spcBef>
              <a:spcAft>
                <a:spcPts val="0"/>
              </a:spcAft>
              <a:buClr>
                <a:schemeClr val="dk1"/>
              </a:buClr>
              <a:buSzPts val="1200"/>
              <a:buFont typeface="Calibri"/>
              <a:buAutoNum type="alphaUcPeriod"/>
            </a:pPr>
            <a:r>
              <a:rPr lang="en-US">
                <a:solidFill>
                  <a:schemeClr val="dk1"/>
                </a:solidFill>
              </a:rPr>
              <a:t>100 PB</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9" name="Google Shape;102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solidFill>
                  <a:schemeClr val="dk1"/>
                </a:solidFill>
                <a:latin typeface="Calibri"/>
                <a:ea typeface="Calibri"/>
                <a:cs typeface="Calibri"/>
                <a:sym typeface="Calibri"/>
              </a:rPr>
              <a:t>The correct response option is </a:t>
            </a:r>
            <a:r>
              <a:rPr b="1" i="0" lang="en-US">
                <a:solidFill>
                  <a:schemeClr val="dk1"/>
                </a:solidFill>
                <a:latin typeface="Calibri"/>
                <a:ea typeface="Calibri"/>
                <a:cs typeface="Calibri"/>
                <a:sym typeface="Calibri"/>
              </a:rPr>
              <a:t>D. 100 PB</a:t>
            </a:r>
            <a:r>
              <a:rPr b="0" i="0" lang="en-US">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AWS Snowmobile is a service that is used for transferring up to 100 PB of data to AWS. Each Snowmobile is a 45-foot long shipping container that is pulled by a semitrailer truck.</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7" name="Google Shape;1037;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solidFill>
                  <a:schemeClr val="dk1"/>
                </a:solidFill>
                <a:latin typeface="Calibri"/>
                <a:ea typeface="Calibri"/>
                <a:cs typeface="Calibri"/>
                <a:sym typeface="Calibri"/>
              </a:rPr>
              <a:t>What is the storage capacity of Snowball Edge Storage Optimized?</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228600" lvl="0" marL="228600" rtl="0" algn="l">
              <a:spcBef>
                <a:spcPts val="0"/>
              </a:spcBef>
              <a:spcAft>
                <a:spcPts val="0"/>
              </a:spcAft>
              <a:buClr>
                <a:schemeClr val="dk1"/>
              </a:buClr>
              <a:buSzPts val="1200"/>
              <a:buFont typeface="Calibri"/>
              <a:buAutoNum type="alphaUcPeriod"/>
            </a:pPr>
            <a:r>
              <a:rPr b="0" i="0" lang="en-US">
                <a:solidFill>
                  <a:schemeClr val="dk1"/>
                </a:solidFill>
                <a:latin typeface="Calibri"/>
                <a:ea typeface="Calibri"/>
                <a:cs typeface="Calibri"/>
                <a:sym typeface="Calibri"/>
              </a:rPr>
              <a:t>40 TB</a:t>
            </a:r>
            <a:endParaRPr/>
          </a:p>
          <a:p>
            <a:pPr indent="-228600" lvl="0" marL="228600" rtl="0" algn="l">
              <a:spcBef>
                <a:spcPts val="0"/>
              </a:spcBef>
              <a:spcAft>
                <a:spcPts val="0"/>
              </a:spcAft>
              <a:buClr>
                <a:schemeClr val="dk1"/>
              </a:buClr>
              <a:buSzPts val="1200"/>
              <a:buFont typeface="Calibri"/>
              <a:buAutoNum type="alphaUcPeriod"/>
            </a:pPr>
            <a:r>
              <a:rPr b="0" i="0" lang="en-US">
                <a:solidFill>
                  <a:schemeClr val="dk1"/>
                </a:solidFill>
                <a:latin typeface="Calibri"/>
                <a:ea typeface="Calibri"/>
                <a:cs typeface="Calibri"/>
                <a:sym typeface="Calibri"/>
              </a:rPr>
              <a:t>60 TB</a:t>
            </a:r>
            <a:endParaRPr/>
          </a:p>
          <a:p>
            <a:pPr indent="-228600" lvl="0" marL="228600" rtl="0" algn="l">
              <a:spcBef>
                <a:spcPts val="0"/>
              </a:spcBef>
              <a:spcAft>
                <a:spcPts val="0"/>
              </a:spcAft>
              <a:buClr>
                <a:schemeClr val="dk1"/>
              </a:buClr>
              <a:buSzPts val="1200"/>
              <a:buFont typeface="Calibri"/>
              <a:buAutoNum type="alphaUcPeriod"/>
            </a:pPr>
            <a:r>
              <a:rPr b="0" i="0" lang="en-US">
                <a:solidFill>
                  <a:schemeClr val="dk1"/>
                </a:solidFill>
                <a:latin typeface="Calibri"/>
                <a:ea typeface="Calibri"/>
                <a:cs typeface="Calibri"/>
                <a:sym typeface="Calibri"/>
              </a:rPr>
              <a:t>80 TB</a:t>
            </a:r>
            <a:endParaRPr/>
          </a:p>
          <a:p>
            <a:pPr indent="-228600" lvl="0" marL="228600" rtl="0" algn="l">
              <a:spcBef>
                <a:spcPts val="0"/>
              </a:spcBef>
              <a:spcAft>
                <a:spcPts val="0"/>
              </a:spcAft>
              <a:buClr>
                <a:schemeClr val="dk1"/>
              </a:buClr>
              <a:buSzPts val="1200"/>
              <a:buFont typeface="Calibri"/>
              <a:buAutoNum type="alphaUcPeriod"/>
            </a:pPr>
            <a:r>
              <a:rPr b="0" i="0" lang="en-US">
                <a:solidFill>
                  <a:schemeClr val="dk1"/>
                </a:solidFill>
                <a:latin typeface="Calibri"/>
                <a:ea typeface="Calibri"/>
                <a:cs typeface="Calibri"/>
                <a:sym typeface="Calibri"/>
              </a:rPr>
              <a:t>100 TB</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5" name="Google Shape;1045;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solidFill>
                  <a:schemeClr val="dk1"/>
                </a:solidFill>
                <a:latin typeface="Calibri"/>
                <a:ea typeface="Calibri"/>
                <a:cs typeface="Calibri"/>
                <a:sym typeface="Calibri"/>
              </a:rPr>
              <a:t>The correct response option is </a:t>
            </a:r>
            <a:r>
              <a:rPr b="1" i="0" lang="en-US">
                <a:solidFill>
                  <a:schemeClr val="dk1"/>
                </a:solidFill>
                <a:latin typeface="Calibri"/>
                <a:ea typeface="Calibri"/>
                <a:cs typeface="Calibri"/>
                <a:sym typeface="Calibri"/>
              </a:rPr>
              <a:t>C. 80 TB</a:t>
            </a:r>
            <a:r>
              <a:rPr b="0" i="0" lang="en-US">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Snowball Edge Storage Optimized is a device that you can use to transfer large amounts of data into and out of AWS. It provides 80 TB of usable HDD storage.</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3" name="Google Shape;1053;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solidFill>
                  <a:schemeClr val="dk1"/>
                </a:solidFill>
                <a:latin typeface="Calibri"/>
                <a:ea typeface="Calibri"/>
                <a:cs typeface="Calibri"/>
                <a:sym typeface="Calibri"/>
              </a:rPr>
              <a:t>Which AWS Well-Architected Framework pillar includes the ability to recover from infrastructure or service disruptions?</a:t>
            </a:r>
            <a:endParaRPr/>
          </a:p>
          <a:p>
            <a:pPr indent="0" lvl="0" marL="0" rtl="0" algn="l">
              <a:spcBef>
                <a:spcPts val="0"/>
              </a:spcBef>
              <a:spcAft>
                <a:spcPts val="0"/>
              </a:spcAft>
              <a:buNone/>
            </a:pPr>
            <a:r>
              <a:rPr lang="en-US">
                <a:solidFill>
                  <a:schemeClr val="dk1"/>
                </a:solidFill>
                <a:latin typeface="Calibri"/>
                <a:ea typeface="Calibri"/>
                <a:cs typeface="Calibri"/>
                <a:sym typeface="Calibri"/>
              </a:rPr>
              <a:t> </a:t>
            </a:r>
            <a:endParaRPr/>
          </a:p>
          <a:p>
            <a:pPr indent="-228600" lvl="0" marL="228600" rtl="0" algn="l">
              <a:spcBef>
                <a:spcPts val="0"/>
              </a:spcBef>
              <a:spcAft>
                <a:spcPts val="0"/>
              </a:spcAft>
              <a:buClr>
                <a:schemeClr val="dk1"/>
              </a:buClr>
              <a:buSzPts val="1200"/>
              <a:buFont typeface="Calibri"/>
              <a:buAutoNum type="alphaUcPeriod"/>
            </a:pPr>
            <a:r>
              <a:rPr lang="en-US">
                <a:solidFill>
                  <a:schemeClr val="dk1"/>
                </a:solidFill>
                <a:latin typeface="Calibri"/>
                <a:ea typeface="Calibri"/>
                <a:cs typeface="Calibri"/>
                <a:sym typeface="Calibri"/>
              </a:rPr>
              <a:t>Cost optimization</a:t>
            </a:r>
            <a:endParaRPr/>
          </a:p>
          <a:p>
            <a:pPr indent="-228600" lvl="0" marL="228600" rtl="0" algn="l">
              <a:spcBef>
                <a:spcPts val="0"/>
              </a:spcBef>
              <a:spcAft>
                <a:spcPts val="0"/>
              </a:spcAft>
              <a:buClr>
                <a:schemeClr val="dk1"/>
              </a:buClr>
              <a:buSzPts val="1200"/>
              <a:buFont typeface="Calibri"/>
              <a:buAutoNum type="alphaUcPeriod"/>
            </a:pPr>
            <a:r>
              <a:rPr lang="en-US">
                <a:solidFill>
                  <a:schemeClr val="dk1"/>
                </a:solidFill>
                <a:latin typeface="Calibri"/>
                <a:ea typeface="Calibri"/>
                <a:cs typeface="Calibri"/>
                <a:sym typeface="Calibri"/>
              </a:rPr>
              <a:t>Operational excellence</a:t>
            </a:r>
            <a:endParaRPr/>
          </a:p>
          <a:p>
            <a:pPr indent="-228600" lvl="0" marL="228600" rtl="0" algn="l">
              <a:spcBef>
                <a:spcPts val="0"/>
              </a:spcBef>
              <a:spcAft>
                <a:spcPts val="0"/>
              </a:spcAft>
              <a:buClr>
                <a:schemeClr val="dk1"/>
              </a:buClr>
              <a:buSzPts val="1200"/>
              <a:buFont typeface="Calibri"/>
              <a:buAutoNum type="alphaUcPeriod"/>
            </a:pPr>
            <a:r>
              <a:rPr lang="en-US">
                <a:solidFill>
                  <a:schemeClr val="dk1"/>
                </a:solidFill>
                <a:latin typeface="Calibri"/>
                <a:ea typeface="Calibri"/>
                <a:cs typeface="Calibri"/>
                <a:sym typeface="Calibri"/>
              </a:rPr>
              <a:t>Performance efficiency</a:t>
            </a:r>
            <a:endParaRPr/>
          </a:p>
          <a:p>
            <a:pPr indent="-228600" lvl="0" marL="228600" rtl="0" algn="l">
              <a:spcBef>
                <a:spcPts val="0"/>
              </a:spcBef>
              <a:spcAft>
                <a:spcPts val="0"/>
              </a:spcAft>
              <a:buClr>
                <a:schemeClr val="dk1"/>
              </a:buClr>
              <a:buSzPts val="1200"/>
              <a:buFont typeface="Calibri"/>
              <a:buAutoNum type="alphaUcPeriod"/>
            </a:pPr>
            <a:r>
              <a:rPr lang="en-US">
                <a:solidFill>
                  <a:schemeClr val="dk1"/>
                </a:solidFill>
                <a:latin typeface="Calibri"/>
                <a:ea typeface="Calibri"/>
                <a:cs typeface="Calibri"/>
                <a:sym typeface="Calibri"/>
              </a:rPr>
              <a:t>Reliability</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1" name="Google Shape;1061;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solidFill>
                  <a:schemeClr val="dk1"/>
                </a:solidFill>
                <a:latin typeface="Calibri"/>
                <a:ea typeface="Calibri"/>
                <a:cs typeface="Calibri"/>
                <a:sym typeface="Calibri"/>
              </a:rPr>
              <a:t>The correct response option is </a:t>
            </a:r>
            <a:r>
              <a:rPr b="1" i="0" lang="en-US">
                <a:solidFill>
                  <a:schemeClr val="dk1"/>
                </a:solidFill>
                <a:latin typeface="Calibri"/>
                <a:ea typeface="Calibri"/>
                <a:cs typeface="Calibri"/>
                <a:sym typeface="Calibri"/>
              </a:rPr>
              <a:t>D. Reliability</a:t>
            </a:r>
            <a:r>
              <a:rPr b="0" i="0" lang="en-US">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The other response options are incorrect because:</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228600" lvl="0" marL="228600" rtl="0" algn="l">
              <a:spcBef>
                <a:spcPts val="0"/>
              </a:spcBef>
              <a:spcAft>
                <a:spcPts val="0"/>
              </a:spcAft>
              <a:buClr>
                <a:schemeClr val="dk1"/>
              </a:buClr>
              <a:buSzPts val="1200"/>
              <a:buFont typeface="Calibri"/>
              <a:buAutoNum type="alphaUcPeriod"/>
            </a:pPr>
            <a:r>
              <a:rPr b="0" i="0" lang="en-US">
                <a:solidFill>
                  <a:schemeClr val="dk1"/>
                </a:solidFill>
                <a:latin typeface="Calibri"/>
                <a:ea typeface="Calibri"/>
                <a:cs typeface="Calibri"/>
                <a:sym typeface="Calibri"/>
              </a:rPr>
              <a:t>The cost optimization pillar focuses on the ability to run systems to deliver business value at the lowest price point.</a:t>
            </a:r>
            <a:br>
              <a:rPr b="0" i="0" lang="en-US">
                <a:solidFill>
                  <a:schemeClr val="dk1"/>
                </a:solidFill>
                <a:latin typeface="Calibri"/>
                <a:ea typeface="Calibri"/>
                <a:cs typeface="Calibri"/>
                <a:sym typeface="Calibri"/>
              </a:rPr>
            </a:br>
            <a:endParaRPr b="0" i="0">
              <a:solidFill>
                <a:schemeClr val="dk1"/>
              </a:solidFill>
              <a:latin typeface="Calibri"/>
              <a:ea typeface="Calibri"/>
              <a:cs typeface="Calibri"/>
              <a:sym typeface="Calibri"/>
            </a:endParaRPr>
          </a:p>
          <a:p>
            <a:pPr indent="-228600" lvl="0" marL="228600" rtl="0" algn="l">
              <a:spcBef>
                <a:spcPts val="0"/>
              </a:spcBef>
              <a:spcAft>
                <a:spcPts val="0"/>
              </a:spcAft>
              <a:buClr>
                <a:schemeClr val="dk1"/>
              </a:buClr>
              <a:buSzPts val="1200"/>
              <a:buFont typeface="Calibri"/>
              <a:buAutoNum type="alphaUcPeriod"/>
            </a:pPr>
            <a:r>
              <a:rPr lang="en-US"/>
              <a:t>The operational excellence pillar focuses on running and monitoring systems to deliver business value, and with that, continually improving processes and procedures.</a:t>
            </a:r>
            <a:br>
              <a:rPr b="0" i="0" lang="en-US">
                <a:solidFill>
                  <a:schemeClr val="dk1"/>
                </a:solidFill>
                <a:latin typeface="Calibri"/>
                <a:ea typeface="Calibri"/>
                <a:cs typeface="Calibri"/>
                <a:sym typeface="Calibri"/>
              </a:rPr>
            </a:br>
            <a:endParaRPr b="0" i="0">
              <a:solidFill>
                <a:schemeClr val="dk1"/>
              </a:solidFill>
              <a:latin typeface="Calibri"/>
              <a:ea typeface="Calibri"/>
              <a:cs typeface="Calibri"/>
              <a:sym typeface="Calibri"/>
            </a:endParaRPr>
          </a:p>
          <a:p>
            <a:pPr indent="-228600" lvl="0" marL="228600" rtl="0" algn="l">
              <a:spcBef>
                <a:spcPts val="0"/>
              </a:spcBef>
              <a:spcAft>
                <a:spcPts val="0"/>
              </a:spcAft>
              <a:buClr>
                <a:schemeClr val="dk1"/>
              </a:buClr>
              <a:buSzPts val="1200"/>
              <a:buFont typeface="Calibri"/>
              <a:buAutoNum type="alphaUcPeriod"/>
            </a:pPr>
            <a:r>
              <a:rPr b="0" i="0" lang="en-US">
                <a:solidFill>
                  <a:schemeClr val="dk1"/>
                </a:solidFill>
                <a:latin typeface="Calibri"/>
                <a:ea typeface="Calibri"/>
                <a:cs typeface="Calibri"/>
                <a:sym typeface="Calibri"/>
              </a:rPr>
              <a:t>The performance efficiency pillar focuses on using computing resources efficiently to meet system requirements, and maintain that efficiency as demand changes and technologies evolve.</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9" name="Google Shape;1069;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In this module, you learned about the following concepts: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AWS Cloud Adoption Framework (AWS CAF), which consists of six perspectives:</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Business perspective</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People perspective</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Governance perspective</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Platform perspective</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Security perspective</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Operations perspective</a:t>
            </a:r>
            <a:br>
              <a:rPr b="0" i="0" lang="en-US" sz="1200">
                <a:solidFill>
                  <a:schemeClr val="dk1"/>
                </a:solidFill>
                <a:latin typeface="Calibri"/>
                <a:ea typeface="Calibri"/>
                <a:cs typeface="Calibri"/>
                <a:sym typeface="Calibri"/>
              </a:rPr>
            </a:b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Seven strategies for migration:</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Rehosting</a:t>
            </a:r>
            <a:endParaRPr/>
          </a:p>
          <a:p>
            <a:pPr indent="-171450" lvl="1" marL="628650" marR="0" rtl="0" algn="l">
              <a:lnSpc>
                <a:spcPct val="100000"/>
              </a:lnSpc>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Relocating</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Replatforming</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Refactoring/Rearchitecting</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Repurchasing</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Retaining</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Retiring</a:t>
            </a:r>
            <a:br>
              <a:rPr b="0" i="0" lang="en-US" sz="1200">
                <a:solidFill>
                  <a:schemeClr val="dk1"/>
                </a:solidFill>
                <a:latin typeface="Calibri"/>
                <a:ea typeface="Calibri"/>
                <a:cs typeface="Calibri"/>
                <a:sym typeface="Calibri"/>
              </a:rPr>
            </a:b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AWS Snow Family, which consists of AWS Snowcone, AWS Snowball, and AWS Snowmobile</a:t>
            </a:r>
            <a:br>
              <a:rPr b="0" i="0" lang="en-US" sz="1200">
                <a:solidFill>
                  <a:schemeClr val="dk1"/>
                </a:solidFill>
                <a:latin typeface="Calibri"/>
                <a:ea typeface="Calibri"/>
                <a:cs typeface="Calibri"/>
                <a:sym typeface="Calibri"/>
              </a:rPr>
            </a:b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Innovation with AWS services through areas such as serverless applications, artificial intelligence (AI), and machine learning (ML)</a:t>
            </a:r>
            <a:br>
              <a:rPr b="0" i="0" lang="en-US" sz="1200">
                <a:solidFill>
                  <a:schemeClr val="dk1"/>
                </a:solidFill>
                <a:latin typeface="Calibri"/>
                <a:ea typeface="Calibri"/>
                <a:cs typeface="Calibri"/>
                <a:sym typeface="Calibri"/>
              </a:rPr>
            </a:b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Six pillars of the AWS Well-Architected Framework:</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Operational excellence</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Security</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Reliability</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Performance efficiency</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Cost optimization</a:t>
            </a:r>
            <a:endParaRPr/>
          </a:p>
          <a:p>
            <a:pPr indent="-171450" lvl="1" marL="6286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Sustainability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next module provides an overview of the AWS Certified Cloud Practitioner exam.</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0.png"/><Relationship Id="rId3"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9.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9.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pic>
        <p:nvPicPr>
          <p:cNvPr id="15" name="Google Shape;15;p44"/>
          <p:cNvPicPr preferRelativeResize="0"/>
          <p:nvPr/>
        </p:nvPicPr>
        <p:blipFill rotWithShape="1">
          <a:blip r:embed="rId2">
            <a:alphaModFix/>
          </a:blip>
          <a:srcRect b="0" l="0" r="0" t="0"/>
          <a:stretch/>
        </p:blipFill>
        <p:spPr>
          <a:xfrm>
            <a:off x="-81023" y="-47919"/>
            <a:ext cx="12361762" cy="6958182"/>
          </a:xfrm>
          <a:prstGeom prst="rect">
            <a:avLst/>
          </a:prstGeom>
          <a:noFill/>
          <a:ln>
            <a:noFill/>
          </a:ln>
        </p:spPr>
      </p:pic>
      <p:sp>
        <p:nvSpPr>
          <p:cNvPr id="16" name="Google Shape;16;p44"/>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4"/>
          <p:cNvSpPr txBox="1"/>
          <p:nvPr>
            <p:ph idx="1" type="body"/>
          </p:nvPr>
        </p:nvSpPr>
        <p:spPr>
          <a:xfrm>
            <a:off x="419100" y="2554356"/>
            <a:ext cx="8059738" cy="4884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None/>
              <a:defRPr b="0" sz="2000">
                <a:solidFill>
                  <a:schemeClr val="lt1"/>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8" name="Google Shape;18;p44"/>
          <p:cNvPicPr preferRelativeResize="0"/>
          <p:nvPr/>
        </p:nvPicPr>
        <p:blipFill rotWithShape="1">
          <a:blip r:embed="rId3">
            <a:alphaModFix/>
          </a:blip>
          <a:srcRect b="0" l="0" r="0" t="0"/>
          <a:stretch/>
        </p:blipFill>
        <p:spPr>
          <a:xfrm>
            <a:off x="9861952" y="6089839"/>
            <a:ext cx="1910948" cy="449073"/>
          </a:xfrm>
          <a:prstGeom prst="rect">
            <a:avLst/>
          </a:prstGeom>
          <a:noFill/>
          <a:ln>
            <a:noFill/>
          </a:ln>
        </p:spPr>
      </p:pic>
    </p:spTree>
  </p:cSld>
  <p:clrMapOvr>
    <a:masterClrMapping/>
  </p:clrMapOvr>
  <p:extLst>
    <p:ext uri="{DCECCB84-F9BA-43D5-87BE-67443E8EF086}">
      <p15:sldGuideLst>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ype="obj">
  <p:cSld name="OBJECT">
    <p:spTree>
      <p:nvGrpSpPr>
        <p:cNvPr id="19" name="Shape 19"/>
        <p:cNvGrpSpPr/>
        <p:nvPr/>
      </p:nvGrpSpPr>
      <p:grpSpPr>
        <a:xfrm>
          <a:off x="0" y="0"/>
          <a:ext cx="0" cy="0"/>
          <a:chOff x="0" y="0"/>
          <a:chExt cx="0" cy="0"/>
        </a:xfrm>
      </p:grpSpPr>
      <p:pic>
        <p:nvPicPr>
          <p:cNvPr id="20" name="Google Shape;20;p45"/>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21" name="Google Shape;21;p45"/>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5"/>
          <p:cNvSpPr txBox="1"/>
          <p:nvPr>
            <p:ph idx="1" type="body"/>
          </p:nvPr>
        </p:nvSpPr>
        <p:spPr>
          <a:xfrm>
            <a:off x="419100" y="1528175"/>
            <a:ext cx="11353800" cy="4648788"/>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3" name="Google Shape;23;p45"/>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24" name="Google Shape;24;p45"/>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5" name="Google Shape;25;p45"/>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6" name="Shape 26"/>
        <p:cNvGrpSpPr/>
        <p:nvPr/>
      </p:nvGrpSpPr>
      <p:grpSpPr>
        <a:xfrm>
          <a:off x="0" y="0"/>
          <a:ext cx="0" cy="0"/>
          <a:chOff x="0" y="0"/>
          <a:chExt cx="0" cy="0"/>
        </a:xfrm>
      </p:grpSpPr>
      <p:sp>
        <p:nvSpPr>
          <p:cNvPr id="27" name="Google Shape;27;p46"/>
          <p:cNvSpPr/>
          <p:nvPr/>
        </p:nvSpPr>
        <p:spPr>
          <a:xfrm>
            <a:off x="0" y="0"/>
            <a:ext cx="12192000" cy="6858000"/>
          </a:xfrm>
          <a:prstGeom prst="rect">
            <a:avLst/>
          </a:prstGeom>
          <a:solidFill>
            <a:srgbClr val="232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8" name="Google Shape;28;p46"/>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6"/>
          <p:cNvSpPr txBox="1"/>
          <p:nvPr>
            <p:ph idx="1" type="body"/>
          </p:nvPr>
        </p:nvSpPr>
        <p:spPr>
          <a:xfrm>
            <a:off x="419100" y="2554356"/>
            <a:ext cx="8059738" cy="4884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6C2B4"/>
              </a:buClr>
              <a:buSzPts val="2000"/>
              <a:buNone/>
              <a:defRPr b="0" sz="2000">
                <a:solidFill>
                  <a:srgbClr val="36C2B4"/>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46"/>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31" name="Google Shape;31;p46"/>
          <p:cNvPicPr preferRelativeResize="0"/>
          <p:nvPr/>
        </p:nvPicPr>
        <p:blipFill rotWithShape="1">
          <a:blip r:embed="rId2">
            <a:alphaModFix/>
          </a:blip>
          <a:srcRect b="0" l="0" r="0" t="0"/>
          <a:stretch/>
        </p:blipFill>
        <p:spPr>
          <a:xfrm>
            <a:off x="9861952" y="6089839"/>
            <a:ext cx="1910948" cy="44907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 by Side">
  <p:cSld name="Side by Side">
    <p:spTree>
      <p:nvGrpSpPr>
        <p:cNvPr id="32" name="Shape 32"/>
        <p:cNvGrpSpPr/>
        <p:nvPr/>
      </p:nvGrpSpPr>
      <p:grpSpPr>
        <a:xfrm>
          <a:off x="0" y="0"/>
          <a:ext cx="0" cy="0"/>
          <a:chOff x="0" y="0"/>
          <a:chExt cx="0" cy="0"/>
        </a:xfrm>
      </p:grpSpPr>
      <p:sp>
        <p:nvSpPr>
          <p:cNvPr id="33" name="Google Shape;33;p47"/>
          <p:cNvSpPr/>
          <p:nvPr/>
        </p:nvSpPr>
        <p:spPr>
          <a:xfrm>
            <a:off x="-2" y="0"/>
            <a:ext cx="5125762" cy="6875492"/>
          </a:xfrm>
          <a:prstGeom prst="rect">
            <a:avLst/>
          </a:prstGeom>
          <a:solidFill>
            <a:srgbClr val="232F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descr="A circuit board&#10;&#10;Description automatically generated" id="34" name="Google Shape;34;p47"/>
          <p:cNvPicPr preferRelativeResize="0"/>
          <p:nvPr/>
        </p:nvPicPr>
        <p:blipFill rotWithShape="1">
          <a:blip r:embed="rId2">
            <a:alphaModFix/>
          </a:blip>
          <a:srcRect b="21596" l="39690" r="5227" t="3208"/>
          <a:stretch/>
        </p:blipFill>
        <p:spPr>
          <a:xfrm>
            <a:off x="588712" y="3159360"/>
            <a:ext cx="4537048" cy="3716132"/>
          </a:xfrm>
          <a:prstGeom prst="rect">
            <a:avLst/>
          </a:prstGeom>
          <a:noFill/>
          <a:ln>
            <a:noFill/>
          </a:ln>
        </p:spPr>
      </p:pic>
      <p:sp>
        <p:nvSpPr>
          <p:cNvPr id="35" name="Google Shape;35;p47"/>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7"/>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47"/>
          <p:cNvSpPr txBox="1"/>
          <p:nvPr>
            <p:ph idx="12" type="sldNum"/>
          </p:nvPr>
        </p:nvSpPr>
        <p:spPr>
          <a:xfrm>
            <a:off x="423657"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900">
                <a:solidFill>
                  <a:schemeClr val="lt1"/>
                </a:solidFill>
                <a:latin typeface="Arial"/>
                <a:ea typeface="Arial"/>
                <a:cs typeface="Arial"/>
                <a:sym typeface="Arial"/>
              </a:defRPr>
            </a:lvl1pPr>
            <a:lvl2pPr indent="0" lvl="1" marL="0" algn="l">
              <a:spcBef>
                <a:spcPts val="0"/>
              </a:spcBef>
              <a:buNone/>
              <a:defRPr b="0" i="0" sz="900">
                <a:solidFill>
                  <a:schemeClr val="lt1"/>
                </a:solidFill>
                <a:latin typeface="Arial"/>
                <a:ea typeface="Arial"/>
                <a:cs typeface="Arial"/>
                <a:sym typeface="Arial"/>
              </a:defRPr>
            </a:lvl2pPr>
            <a:lvl3pPr indent="0" lvl="2" marL="0" algn="l">
              <a:spcBef>
                <a:spcPts val="0"/>
              </a:spcBef>
              <a:buNone/>
              <a:defRPr b="0" i="0" sz="900">
                <a:solidFill>
                  <a:schemeClr val="lt1"/>
                </a:solidFill>
                <a:latin typeface="Arial"/>
                <a:ea typeface="Arial"/>
                <a:cs typeface="Arial"/>
                <a:sym typeface="Arial"/>
              </a:defRPr>
            </a:lvl3pPr>
            <a:lvl4pPr indent="0" lvl="3" marL="0" algn="l">
              <a:spcBef>
                <a:spcPts val="0"/>
              </a:spcBef>
              <a:buNone/>
              <a:defRPr b="0" i="0" sz="900">
                <a:solidFill>
                  <a:schemeClr val="lt1"/>
                </a:solidFill>
                <a:latin typeface="Arial"/>
                <a:ea typeface="Arial"/>
                <a:cs typeface="Arial"/>
                <a:sym typeface="Arial"/>
              </a:defRPr>
            </a:lvl4pPr>
            <a:lvl5pPr indent="0" lvl="4" marL="0" algn="l">
              <a:spcBef>
                <a:spcPts val="0"/>
              </a:spcBef>
              <a:buNone/>
              <a:defRPr b="0" i="0" sz="900">
                <a:solidFill>
                  <a:schemeClr val="lt1"/>
                </a:solidFill>
                <a:latin typeface="Arial"/>
                <a:ea typeface="Arial"/>
                <a:cs typeface="Arial"/>
                <a:sym typeface="Arial"/>
              </a:defRPr>
            </a:lvl5pPr>
            <a:lvl6pPr indent="0" lvl="5" marL="0" algn="l">
              <a:spcBef>
                <a:spcPts val="0"/>
              </a:spcBef>
              <a:buNone/>
              <a:defRPr b="0" i="0" sz="900">
                <a:solidFill>
                  <a:schemeClr val="lt1"/>
                </a:solidFill>
                <a:latin typeface="Arial"/>
                <a:ea typeface="Arial"/>
                <a:cs typeface="Arial"/>
                <a:sym typeface="Arial"/>
              </a:defRPr>
            </a:lvl6pPr>
            <a:lvl7pPr indent="0" lvl="6" marL="0" algn="l">
              <a:spcBef>
                <a:spcPts val="0"/>
              </a:spcBef>
              <a:buNone/>
              <a:defRPr b="0" i="0" sz="900">
                <a:solidFill>
                  <a:schemeClr val="lt1"/>
                </a:solidFill>
                <a:latin typeface="Arial"/>
                <a:ea typeface="Arial"/>
                <a:cs typeface="Arial"/>
                <a:sym typeface="Arial"/>
              </a:defRPr>
            </a:lvl7pPr>
            <a:lvl8pPr indent="0" lvl="7" marL="0" algn="l">
              <a:spcBef>
                <a:spcPts val="0"/>
              </a:spcBef>
              <a:buNone/>
              <a:defRPr b="0" i="0" sz="900">
                <a:solidFill>
                  <a:schemeClr val="lt1"/>
                </a:solidFill>
                <a:latin typeface="Arial"/>
                <a:ea typeface="Arial"/>
                <a:cs typeface="Arial"/>
                <a:sym typeface="Arial"/>
              </a:defRPr>
            </a:lvl8pPr>
            <a:lvl9pPr indent="0" lvl="8" marL="0" algn="l">
              <a:spcBef>
                <a:spcPts val="0"/>
              </a:spcBef>
              <a:buNone/>
              <a:defRPr b="0" i="0" sz="900">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38" name="Google Shape;38;p47"/>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9" name="Google Shape;39;p47"/>
          <p:cNvPicPr preferRelativeResize="0"/>
          <p:nvPr/>
        </p:nvPicPr>
        <p:blipFill rotWithShape="1">
          <a:blip r:embed="rId3">
            <a:alphaModFix/>
          </a:blip>
          <a:srcRect b="0" l="0" r="0" t="0"/>
          <a:stretch/>
        </p:blipFill>
        <p:spPr>
          <a:xfrm>
            <a:off x="9840052" y="365126"/>
            <a:ext cx="1910948" cy="44907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0" name="Shape 40"/>
        <p:cNvGrpSpPr/>
        <p:nvPr/>
      </p:nvGrpSpPr>
      <p:grpSpPr>
        <a:xfrm>
          <a:off x="0" y="0"/>
          <a:ext cx="0" cy="0"/>
          <a:chOff x="0" y="0"/>
          <a:chExt cx="0" cy="0"/>
        </a:xfrm>
      </p:grpSpPr>
      <p:pic>
        <p:nvPicPr>
          <p:cNvPr id="41" name="Google Shape;41;p48"/>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42" name="Google Shape;42;p48"/>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3" name="Google Shape;43;p48"/>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44" name="Google Shape;44;p48"/>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p48"/>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Header">
  <p:cSld name="Subsection Header">
    <p:spTree>
      <p:nvGrpSpPr>
        <p:cNvPr id="46" name="Shape 46"/>
        <p:cNvGrpSpPr/>
        <p:nvPr/>
      </p:nvGrpSpPr>
      <p:grpSpPr>
        <a:xfrm>
          <a:off x="0" y="0"/>
          <a:ext cx="0" cy="0"/>
          <a:chOff x="0" y="0"/>
          <a:chExt cx="0" cy="0"/>
        </a:xfrm>
      </p:grpSpPr>
      <p:pic>
        <p:nvPicPr>
          <p:cNvPr id="47" name="Google Shape;47;p51"/>
          <p:cNvPicPr preferRelativeResize="0"/>
          <p:nvPr/>
        </p:nvPicPr>
        <p:blipFill rotWithShape="1">
          <a:blip r:embed="rId2">
            <a:alphaModFix/>
          </a:blip>
          <a:srcRect b="0" l="0" r="0" t="0"/>
          <a:stretch/>
        </p:blipFill>
        <p:spPr>
          <a:xfrm>
            <a:off x="9840052" y="365126"/>
            <a:ext cx="1910948" cy="449072"/>
          </a:xfrm>
          <a:prstGeom prst="rect">
            <a:avLst/>
          </a:prstGeom>
          <a:noFill/>
          <a:ln>
            <a:noFill/>
          </a:ln>
        </p:spPr>
      </p:pic>
      <p:sp>
        <p:nvSpPr>
          <p:cNvPr id="48" name="Google Shape;48;p51"/>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6000"/>
              <a:buFont typeface="Arial"/>
              <a:buNone/>
              <a:defRPr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51"/>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0" name="Google Shape;50;p51"/>
          <p:cNvPicPr preferRelativeResize="0"/>
          <p:nvPr/>
        </p:nvPicPr>
        <p:blipFill rotWithShape="1">
          <a:blip r:embed="rId3">
            <a:alphaModFix/>
          </a:blip>
          <a:srcRect b="3809" l="75552" r="3438" t="60520"/>
          <a:stretch/>
        </p:blipFill>
        <p:spPr>
          <a:xfrm rot="10800000">
            <a:off x="-1" y="-2"/>
            <a:ext cx="2268187" cy="2166103"/>
          </a:xfrm>
          <a:prstGeom prst="rect">
            <a:avLst/>
          </a:prstGeom>
          <a:noFill/>
          <a:ln>
            <a:noFill/>
          </a:ln>
        </p:spPr>
      </p:pic>
      <p:sp>
        <p:nvSpPr>
          <p:cNvPr id="51" name="Google Shape;51;p51"/>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wo Column">
    <p:spTree>
      <p:nvGrpSpPr>
        <p:cNvPr id="52" name="Shape 52"/>
        <p:cNvGrpSpPr/>
        <p:nvPr/>
      </p:nvGrpSpPr>
      <p:grpSpPr>
        <a:xfrm>
          <a:off x="0" y="0"/>
          <a:ext cx="0" cy="0"/>
          <a:chOff x="0" y="0"/>
          <a:chExt cx="0" cy="0"/>
        </a:xfrm>
      </p:grpSpPr>
      <p:pic>
        <p:nvPicPr>
          <p:cNvPr id="53" name="Google Shape;53;p52"/>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54" name="Google Shape;54;p52"/>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52"/>
          <p:cNvSpPr txBox="1"/>
          <p:nvPr>
            <p:ph idx="1" type="body"/>
          </p:nvPr>
        </p:nvSpPr>
        <p:spPr>
          <a:xfrm>
            <a:off x="419100" y="1528175"/>
            <a:ext cx="5504688" cy="4648788"/>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52"/>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7" name="Google Shape;57;p52"/>
          <p:cNvSpPr txBox="1"/>
          <p:nvPr>
            <p:ph idx="2" type="body"/>
          </p:nvPr>
        </p:nvSpPr>
        <p:spPr>
          <a:xfrm>
            <a:off x="6246312" y="1524228"/>
            <a:ext cx="5504688" cy="4648788"/>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8" name="Google Shape;58;p52"/>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59" name="Google Shape;59;p52"/>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p:cSld name="Three Column">
    <p:spTree>
      <p:nvGrpSpPr>
        <p:cNvPr id="60" name="Shape 60"/>
        <p:cNvGrpSpPr/>
        <p:nvPr/>
      </p:nvGrpSpPr>
      <p:grpSpPr>
        <a:xfrm>
          <a:off x="0" y="0"/>
          <a:ext cx="0" cy="0"/>
          <a:chOff x="0" y="0"/>
          <a:chExt cx="0" cy="0"/>
        </a:xfrm>
      </p:grpSpPr>
      <p:pic>
        <p:nvPicPr>
          <p:cNvPr id="61" name="Google Shape;61;p53"/>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62" name="Google Shape;62;p53"/>
          <p:cNvSpPr txBox="1"/>
          <p:nvPr>
            <p:ph type="title"/>
          </p:nvPr>
        </p:nvSpPr>
        <p:spPr>
          <a:xfrm>
            <a:off x="419101" y="365125"/>
            <a:ext cx="9037416"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3"/>
          <p:cNvSpPr txBox="1"/>
          <p:nvPr>
            <p:ph idx="1" type="body"/>
          </p:nvPr>
        </p:nvSpPr>
        <p:spPr>
          <a:xfrm>
            <a:off x="419100" y="1528175"/>
            <a:ext cx="3593592" cy="464515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53"/>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5" name="Google Shape;65;p53"/>
          <p:cNvSpPr txBox="1"/>
          <p:nvPr>
            <p:ph idx="2" type="body"/>
          </p:nvPr>
        </p:nvSpPr>
        <p:spPr>
          <a:xfrm>
            <a:off x="8173686" y="1528175"/>
            <a:ext cx="3593592" cy="464515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53"/>
          <p:cNvSpPr txBox="1"/>
          <p:nvPr>
            <p:ph idx="3" type="body"/>
          </p:nvPr>
        </p:nvSpPr>
        <p:spPr>
          <a:xfrm>
            <a:off x="4314209" y="1528175"/>
            <a:ext cx="3593592" cy="464515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67" name="Google Shape;67;p53"/>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68" name="Google Shape;68;p53"/>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69" name="Shape 69"/>
        <p:cNvGrpSpPr/>
        <p:nvPr/>
      </p:nvGrpSpPr>
      <p:grpSpPr>
        <a:xfrm>
          <a:off x="0" y="0"/>
          <a:ext cx="0" cy="0"/>
          <a:chOff x="0" y="0"/>
          <a:chExt cx="0" cy="0"/>
        </a:xfrm>
      </p:grpSpPr>
      <p:pic>
        <p:nvPicPr>
          <p:cNvPr id="70" name="Google Shape;70;p54"/>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71" name="Google Shape;71;p54"/>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54"/>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3" name="Google Shape;73;p54"/>
          <p:cNvSpPr txBox="1"/>
          <p:nvPr>
            <p:ph idx="1" type="body"/>
          </p:nvPr>
        </p:nvSpPr>
        <p:spPr>
          <a:xfrm>
            <a:off x="419100" y="2041932"/>
            <a:ext cx="5504688" cy="4131084"/>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54"/>
          <p:cNvSpPr txBox="1"/>
          <p:nvPr>
            <p:ph idx="2" type="body"/>
          </p:nvPr>
        </p:nvSpPr>
        <p:spPr>
          <a:xfrm>
            <a:off x="419101" y="1524000"/>
            <a:ext cx="5504688"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54"/>
          <p:cNvSpPr txBox="1"/>
          <p:nvPr>
            <p:ph idx="3" type="body"/>
          </p:nvPr>
        </p:nvSpPr>
        <p:spPr>
          <a:xfrm>
            <a:off x="6249885" y="2041932"/>
            <a:ext cx="5504688" cy="4131084"/>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54"/>
          <p:cNvSpPr txBox="1"/>
          <p:nvPr>
            <p:ph idx="4" type="body"/>
          </p:nvPr>
        </p:nvSpPr>
        <p:spPr>
          <a:xfrm>
            <a:off x="6249886" y="1524000"/>
            <a:ext cx="5504688"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77" name="Google Shape;77;p54"/>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78" name="Google Shape;78;p54"/>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hree">
  <p:cSld name="Comparison Three">
    <p:spTree>
      <p:nvGrpSpPr>
        <p:cNvPr id="79" name="Shape 79"/>
        <p:cNvGrpSpPr/>
        <p:nvPr/>
      </p:nvGrpSpPr>
      <p:grpSpPr>
        <a:xfrm>
          <a:off x="0" y="0"/>
          <a:ext cx="0" cy="0"/>
          <a:chOff x="0" y="0"/>
          <a:chExt cx="0" cy="0"/>
        </a:xfrm>
      </p:grpSpPr>
      <p:pic>
        <p:nvPicPr>
          <p:cNvPr id="80" name="Google Shape;80;p55"/>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81" name="Google Shape;81;p55"/>
          <p:cNvSpPr txBox="1"/>
          <p:nvPr>
            <p:ph type="title"/>
          </p:nvPr>
        </p:nvSpPr>
        <p:spPr>
          <a:xfrm>
            <a:off x="419101" y="365125"/>
            <a:ext cx="9037416"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55"/>
          <p:cNvSpPr txBox="1"/>
          <p:nvPr>
            <p:ph idx="1" type="body"/>
          </p:nvPr>
        </p:nvSpPr>
        <p:spPr>
          <a:xfrm>
            <a:off x="419100" y="2041931"/>
            <a:ext cx="3593592" cy="413139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55"/>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4" name="Google Shape;84;p55"/>
          <p:cNvSpPr txBox="1"/>
          <p:nvPr>
            <p:ph idx="2" type="body"/>
          </p:nvPr>
        </p:nvSpPr>
        <p:spPr>
          <a:xfrm>
            <a:off x="8173686" y="2041932"/>
            <a:ext cx="3593592" cy="4131394"/>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55"/>
          <p:cNvSpPr txBox="1"/>
          <p:nvPr>
            <p:ph idx="3" type="body"/>
          </p:nvPr>
        </p:nvSpPr>
        <p:spPr>
          <a:xfrm>
            <a:off x="4314209" y="2041931"/>
            <a:ext cx="3593592" cy="413139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86" name="Google Shape;86;p55"/>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87" name="Google Shape;87;p55"/>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5"/>
          <p:cNvSpPr txBox="1"/>
          <p:nvPr>
            <p:ph idx="4" type="body"/>
          </p:nvPr>
        </p:nvSpPr>
        <p:spPr>
          <a:xfrm>
            <a:off x="419101" y="1524000"/>
            <a:ext cx="3593591"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55"/>
          <p:cNvSpPr txBox="1"/>
          <p:nvPr>
            <p:ph idx="5" type="body"/>
          </p:nvPr>
        </p:nvSpPr>
        <p:spPr>
          <a:xfrm>
            <a:off x="4314210" y="1524000"/>
            <a:ext cx="3593591"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55"/>
          <p:cNvSpPr txBox="1"/>
          <p:nvPr>
            <p:ph idx="6" type="body"/>
          </p:nvPr>
        </p:nvSpPr>
        <p:spPr>
          <a:xfrm>
            <a:off x="8173686" y="1524000"/>
            <a:ext cx="3593591"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Subtitle">
    <p:spTree>
      <p:nvGrpSpPr>
        <p:cNvPr id="91" name="Shape 91"/>
        <p:cNvGrpSpPr/>
        <p:nvPr/>
      </p:nvGrpSpPr>
      <p:grpSpPr>
        <a:xfrm>
          <a:off x="0" y="0"/>
          <a:ext cx="0" cy="0"/>
          <a:chOff x="0" y="0"/>
          <a:chExt cx="0" cy="0"/>
        </a:xfrm>
      </p:grpSpPr>
      <p:pic>
        <p:nvPicPr>
          <p:cNvPr id="92" name="Google Shape;92;p56"/>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93" name="Google Shape;93;p56"/>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56"/>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56"/>
          <p:cNvSpPr txBox="1"/>
          <p:nvPr>
            <p:ph idx="1" type="body"/>
          </p:nvPr>
        </p:nvSpPr>
        <p:spPr>
          <a:xfrm>
            <a:off x="419099" y="2041932"/>
            <a:ext cx="11335473" cy="4131084"/>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56"/>
          <p:cNvSpPr txBox="1"/>
          <p:nvPr>
            <p:ph idx="2" type="body"/>
          </p:nvPr>
        </p:nvSpPr>
        <p:spPr>
          <a:xfrm>
            <a:off x="419100" y="1524000"/>
            <a:ext cx="11335473"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97" name="Google Shape;97;p56"/>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98" name="Google Shape;98;p56"/>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p:cSld name="Code">
    <p:spTree>
      <p:nvGrpSpPr>
        <p:cNvPr id="99" name="Shape 99"/>
        <p:cNvGrpSpPr/>
        <p:nvPr/>
      </p:nvGrpSpPr>
      <p:grpSpPr>
        <a:xfrm>
          <a:off x="0" y="0"/>
          <a:ext cx="0" cy="0"/>
          <a:chOff x="0" y="0"/>
          <a:chExt cx="0" cy="0"/>
        </a:xfrm>
      </p:grpSpPr>
      <p:pic>
        <p:nvPicPr>
          <p:cNvPr id="100" name="Google Shape;100;p57"/>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101" name="Google Shape;101;p57"/>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57"/>
          <p:cNvSpPr txBox="1"/>
          <p:nvPr>
            <p:ph idx="1" type="body"/>
          </p:nvPr>
        </p:nvSpPr>
        <p:spPr>
          <a:xfrm>
            <a:off x="419100" y="1528175"/>
            <a:ext cx="11353800" cy="46487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400"/>
              <a:buNone/>
              <a:defRPr sz="1400">
                <a:solidFill>
                  <a:schemeClr val="dk1"/>
                </a:solidFill>
                <a:latin typeface="Droid Sans Mono"/>
                <a:ea typeface="Droid Sans Mono"/>
                <a:cs typeface="Droid Sans Mono"/>
                <a:sym typeface="Droid Sans Mono"/>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57"/>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4" name="Google Shape;104;p57"/>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105" name="Google Shape;105;p57"/>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2 Up">
  <p:cSld name="Code 2 Up">
    <p:spTree>
      <p:nvGrpSpPr>
        <p:cNvPr id="106" name="Shape 106"/>
        <p:cNvGrpSpPr/>
        <p:nvPr/>
      </p:nvGrpSpPr>
      <p:grpSpPr>
        <a:xfrm>
          <a:off x="0" y="0"/>
          <a:ext cx="0" cy="0"/>
          <a:chOff x="0" y="0"/>
          <a:chExt cx="0" cy="0"/>
        </a:xfrm>
      </p:grpSpPr>
      <p:pic>
        <p:nvPicPr>
          <p:cNvPr id="107" name="Google Shape;107;p58"/>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108" name="Google Shape;108;p58"/>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58"/>
          <p:cNvSpPr txBox="1"/>
          <p:nvPr>
            <p:ph idx="1" type="body"/>
          </p:nvPr>
        </p:nvSpPr>
        <p:spPr>
          <a:xfrm>
            <a:off x="419100" y="1528175"/>
            <a:ext cx="5504688" cy="46487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400"/>
              <a:buNone/>
              <a:defRPr sz="1400">
                <a:solidFill>
                  <a:schemeClr val="dk1"/>
                </a:solidFill>
                <a:latin typeface="Droid Sans Mono"/>
                <a:ea typeface="Droid Sans Mono"/>
                <a:cs typeface="Droid Sans Mono"/>
                <a:sym typeface="Droid Sans Mono"/>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58"/>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1" name="Google Shape;111;p58"/>
          <p:cNvSpPr txBox="1"/>
          <p:nvPr>
            <p:ph idx="2" type="body"/>
          </p:nvPr>
        </p:nvSpPr>
        <p:spPr>
          <a:xfrm>
            <a:off x="6246312" y="1524228"/>
            <a:ext cx="5504688" cy="46487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400"/>
              <a:buNone/>
              <a:defRPr sz="1400">
                <a:solidFill>
                  <a:schemeClr val="dk1"/>
                </a:solidFill>
                <a:latin typeface="Droid Sans Mono"/>
                <a:ea typeface="Droid Sans Mono"/>
                <a:cs typeface="Droid Sans Mono"/>
                <a:sym typeface="Droid Sans Mono"/>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12" name="Google Shape;112;p58"/>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113" name="Google Shape;113;p58"/>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cture">
  <p:cSld name="4 Picture">
    <p:spTree>
      <p:nvGrpSpPr>
        <p:cNvPr id="114" name="Shape 114"/>
        <p:cNvGrpSpPr/>
        <p:nvPr/>
      </p:nvGrpSpPr>
      <p:grpSpPr>
        <a:xfrm>
          <a:off x="0" y="0"/>
          <a:ext cx="0" cy="0"/>
          <a:chOff x="0" y="0"/>
          <a:chExt cx="0" cy="0"/>
        </a:xfrm>
      </p:grpSpPr>
      <p:pic>
        <p:nvPicPr>
          <p:cNvPr id="115" name="Google Shape;115;p59"/>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116" name="Google Shape;116;p59"/>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59"/>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8" name="Google Shape;118;p59"/>
          <p:cNvSpPr txBox="1"/>
          <p:nvPr>
            <p:ph idx="1" type="body"/>
          </p:nvPr>
        </p:nvSpPr>
        <p:spPr>
          <a:xfrm>
            <a:off x="411876" y="3793944"/>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59"/>
          <p:cNvSpPr/>
          <p:nvPr>
            <p:ph idx="2" type="pic"/>
          </p:nvPr>
        </p:nvSpPr>
        <p:spPr>
          <a:xfrm>
            <a:off x="419100" y="1524000"/>
            <a:ext cx="2679192" cy="2103120"/>
          </a:xfrm>
          <a:prstGeom prst="rect">
            <a:avLst/>
          </a:prstGeom>
          <a:noFill/>
          <a:ln>
            <a:noFill/>
          </a:ln>
        </p:spPr>
      </p:sp>
      <p:sp>
        <p:nvSpPr>
          <p:cNvPr id="120" name="Google Shape;120;p59"/>
          <p:cNvSpPr txBox="1"/>
          <p:nvPr>
            <p:ph idx="3" type="body"/>
          </p:nvPr>
        </p:nvSpPr>
        <p:spPr>
          <a:xfrm>
            <a:off x="9086484" y="3793944"/>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59"/>
          <p:cNvSpPr/>
          <p:nvPr>
            <p:ph idx="4" type="pic"/>
          </p:nvPr>
        </p:nvSpPr>
        <p:spPr>
          <a:xfrm>
            <a:off x="9093708" y="1524000"/>
            <a:ext cx="2679192" cy="2103120"/>
          </a:xfrm>
          <a:prstGeom prst="rect">
            <a:avLst/>
          </a:prstGeom>
          <a:noFill/>
          <a:ln>
            <a:noFill/>
          </a:ln>
        </p:spPr>
      </p:sp>
      <p:sp>
        <p:nvSpPr>
          <p:cNvPr id="122" name="Google Shape;122;p59"/>
          <p:cNvSpPr txBox="1"/>
          <p:nvPr>
            <p:ph idx="5" type="body"/>
          </p:nvPr>
        </p:nvSpPr>
        <p:spPr>
          <a:xfrm>
            <a:off x="6200777" y="3793944"/>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59"/>
          <p:cNvSpPr/>
          <p:nvPr>
            <p:ph idx="6" type="pic"/>
          </p:nvPr>
        </p:nvSpPr>
        <p:spPr>
          <a:xfrm>
            <a:off x="6210469" y="1524000"/>
            <a:ext cx="2679192" cy="2103120"/>
          </a:xfrm>
          <a:prstGeom prst="rect">
            <a:avLst/>
          </a:prstGeom>
          <a:noFill/>
          <a:ln>
            <a:noFill/>
          </a:ln>
        </p:spPr>
      </p:sp>
      <p:sp>
        <p:nvSpPr>
          <p:cNvPr id="124" name="Google Shape;124;p59"/>
          <p:cNvSpPr txBox="1"/>
          <p:nvPr>
            <p:ph idx="7" type="body"/>
          </p:nvPr>
        </p:nvSpPr>
        <p:spPr>
          <a:xfrm>
            <a:off x="3315078" y="3793944"/>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59"/>
          <p:cNvSpPr/>
          <p:nvPr>
            <p:ph idx="8" type="pic"/>
          </p:nvPr>
        </p:nvSpPr>
        <p:spPr>
          <a:xfrm>
            <a:off x="3322302" y="1524000"/>
            <a:ext cx="2679192" cy="2103120"/>
          </a:xfrm>
          <a:prstGeom prst="rect">
            <a:avLst/>
          </a:prstGeom>
          <a:noFill/>
          <a:ln>
            <a:noFill/>
          </a:ln>
        </p:spPr>
      </p:sp>
      <p:pic>
        <p:nvPicPr>
          <p:cNvPr id="126" name="Google Shape;126;p59"/>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127" name="Google Shape;127;p59"/>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Picture">
  <p:cSld name="6 Picture">
    <p:spTree>
      <p:nvGrpSpPr>
        <p:cNvPr id="128" name="Shape 128"/>
        <p:cNvGrpSpPr/>
        <p:nvPr/>
      </p:nvGrpSpPr>
      <p:grpSpPr>
        <a:xfrm>
          <a:off x="0" y="0"/>
          <a:ext cx="0" cy="0"/>
          <a:chOff x="0" y="0"/>
          <a:chExt cx="0" cy="0"/>
        </a:xfrm>
      </p:grpSpPr>
      <p:pic>
        <p:nvPicPr>
          <p:cNvPr id="129" name="Google Shape;129;p60"/>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130" name="Google Shape;130;p60"/>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60"/>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2" name="Google Shape;132;p60"/>
          <p:cNvSpPr txBox="1"/>
          <p:nvPr>
            <p:ph idx="1" type="body"/>
          </p:nvPr>
        </p:nvSpPr>
        <p:spPr>
          <a:xfrm>
            <a:off x="411876" y="3446471"/>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60"/>
          <p:cNvSpPr/>
          <p:nvPr>
            <p:ph idx="2" type="pic"/>
          </p:nvPr>
        </p:nvSpPr>
        <p:spPr>
          <a:xfrm>
            <a:off x="419100" y="1524000"/>
            <a:ext cx="3611880" cy="1755648"/>
          </a:xfrm>
          <a:prstGeom prst="rect">
            <a:avLst/>
          </a:prstGeom>
          <a:noFill/>
          <a:ln>
            <a:noFill/>
          </a:ln>
        </p:spPr>
      </p:sp>
      <p:sp>
        <p:nvSpPr>
          <p:cNvPr id="134" name="Google Shape;134;p60"/>
          <p:cNvSpPr txBox="1"/>
          <p:nvPr>
            <p:ph idx="3" type="body"/>
          </p:nvPr>
        </p:nvSpPr>
        <p:spPr>
          <a:xfrm>
            <a:off x="8153796" y="3446471"/>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60"/>
          <p:cNvSpPr/>
          <p:nvPr>
            <p:ph idx="4" type="pic"/>
          </p:nvPr>
        </p:nvSpPr>
        <p:spPr>
          <a:xfrm>
            <a:off x="8161020" y="1524000"/>
            <a:ext cx="3611880" cy="1755648"/>
          </a:xfrm>
          <a:prstGeom prst="rect">
            <a:avLst/>
          </a:prstGeom>
          <a:noFill/>
          <a:ln>
            <a:noFill/>
          </a:ln>
        </p:spPr>
      </p:sp>
      <p:sp>
        <p:nvSpPr>
          <p:cNvPr id="136" name="Google Shape;136;p60"/>
          <p:cNvSpPr txBox="1"/>
          <p:nvPr>
            <p:ph idx="5" type="body"/>
          </p:nvPr>
        </p:nvSpPr>
        <p:spPr>
          <a:xfrm>
            <a:off x="4294312" y="3446471"/>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p60"/>
          <p:cNvSpPr/>
          <p:nvPr>
            <p:ph idx="6" type="pic"/>
          </p:nvPr>
        </p:nvSpPr>
        <p:spPr>
          <a:xfrm>
            <a:off x="4301536" y="1524000"/>
            <a:ext cx="3611880" cy="1755648"/>
          </a:xfrm>
          <a:prstGeom prst="rect">
            <a:avLst/>
          </a:prstGeom>
          <a:noFill/>
          <a:ln>
            <a:noFill/>
          </a:ln>
        </p:spPr>
      </p:sp>
      <p:sp>
        <p:nvSpPr>
          <p:cNvPr id="138" name="Google Shape;138;p60"/>
          <p:cNvSpPr txBox="1"/>
          <p:nvPr>
            <p:ph idx="7" type="body"/>
          </p:nvPr>
        </p:nvSpPr>
        <p:spPr>
          <a:xfrm>
            <a:off x="411876" y="5857160"/>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p60"/>
          <p:cNvSpPr/>
          <p:nvPr>
            <p:ph idx="8" type="pic"/>
          </p:nvPr>
        </p:nvSpPr>
        <p:spPr>
          <a:xfrm>
            <a:off x="419100" y="3934689"/>
            <a:ext cx="3611880" cy="1755648"/>
          </a:xfrm>
          <a:prstGeom prst="rect">
            <a:avLst/>
          </a:prstGeom>
          <a:noFill/>
          <a:ln>
            <a:noFill/>
          </a:ln>
        </p:spPr>
      </p:sp>
      <p:sp>
        <p:nvSpPr>
          <p:cNvPr id="140" name="Google Shape;140;p60"/>
          <p:cNvSpPr txBox="1"/>
          <p:nvPr>
            <p:ph idx="9" type="body"/>
          </p:nvPr>
        </p:nvSpPr>
        <p:spPr>
          <a:xfrm>
            <a:off x="8153796" y="5857160"/>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p60"/>
          <p:cNvSpPr/>
          <p:nvPr>
            <p:ph idx="13" type="pic"/>
          </p:nvPr>
        </p:nvSpPr>
        <p:spPr>
          <a:xfrm>
            <a:off x="8161020" y="3934689"/>
            <a:ext cx="3611880" cy="1755648"/>
          </a:xfrm>
          <a:prstGeom prst="rect">
            <a:avLst/>
          </a:prstGeom>
          <a:noFill/>
          <a:ln>
            <a:noFill/>
          </a:ln>
        </p:spPr>
      </p:sp>
      <p:sp>
        <p:nvSpPr>
          <p:cNvPr id="142" name="Google Shape;142;p60"/>
          <p:cNvSpPr txBox="1"/>
          <p:nvPr>
            <p:ph idx="14" type="body"/>
          </p:nvPr>
        </p:nvSpPr>
        <p:spPr>
          <a:xfrm>
            <a:off x="4294312" y="5857160"/>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 name="Google Shape;143;p60"/>
          <p:cNvSpPr/>
          <p:nvPr>
            <p:ph idx="15" type="pic"/>
          </p:nvPr>
        </p:nvSpPr>
        <p:spPr>
          <a:xfrm>
            <a:off x="4301536" y="3934689"/>
            <a:ext cx="3611880" cy="1755648"/>
          </a:xfrm>
          <a:prstGeom prst="rect">
            <a:avLst/>
          </a:prstGeom>
          <a:noFill/>
          <a:ln>
            <a:noFill/>
          </a:ln>
        </p:spPr>
      </p:sp>
      <p:pic>
        <p:nvPicPr>
          <p:cNvPr id="144" name="Google Shape;144;p60"/>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145" name="Google Shape;145;p60"/>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p:cSld name="Icons">
    <p:spTree>
      <p:nvGrpSpPr>
        <p:cNvPr id="146" name="Shape 146"/>
        <p:cNvGrpSpPr/>
        <p:nvPr/>
      </p:nvGrpSpPr>
      <p:grpSpPr>
        <a:xfrm>
          <a:off x="0" y="0"/>
          <a:ext cx="0" cy="0"/>
          <a:chOff x="0" y="0"/>
          <a:chExt cx="0" cy="0"/>
        </a:xfrm>
      </p:grpSpPr>
      <p:sp>
        <p:nvSpPr>
          <p:cNvPr id="147" name="Google Shape;147;p61"/>
          <p:cNvSpPr txBox="1"/>
          <p:nvPr>
            <p:ph idx="1" type="body"/>
          </p:nvPr>
        </p:nvSpPr>
        <p:spPr>
          <a:xfrm>
            <a:off x="411876" y="4011163"/>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61"/>
          <p:cNvSpPr/>
          <p:nvPr>
            <p:ph idx="2" type="pic"/>
          </p:nvPr>
        </p:nvSpPr>
        <p:spPr>
          <a:xfrm>
            <a:off x="1069259" y="2626296"/>
            <a:ext cx="1188720" cy="1188720"/>
          </a:xfrm>
          <a:prstGeom prst="rect">
            <a:avLst/>
          </a:prstGeom>
          <a:noFill/>
          <a:ln>
            <a:noFill/>
          </a:ln>
        </p:spPr>
      </p:sp>
      <p:sp>
        <p:nvSpPr>
          <p:cNvPr id="149" name="Google Shape;149;p61"/>
          <p:cNvSpPr txBox="1"/>
          <p:nvPr>
            <p:ph idx="3" type="body"/>
          </p:nvPr>
        </p:nvSpPr>
        <p:spPr>
          <a:xfrm>
            <a:off x="9086484" y="4011163"/>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61"/>
          <p:cNvSpPr txBox="1"/>
          <p:nvPr>
            <p:ph idx="4" type="body"/>
          </p:nvPr>
        </p:nvSpPr>
        <p:spPr>
          <a:xfrm>
            <a:off x="6177027" y="4011163"/>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61"/>
          <p:cNvSpPr txBox="1"/>
          <p:nvPr>
            <p:ph idx="5" type="body"/>
          </p:nvPr>
        </p:nvSpPr>
        <p:spPr>
          <a:xfrm>
            <a:off x="3315078" y="4011163"/>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61"/>
          <p:cNvSpPr/>
          <p:nvPr>
            <p:ph idx="6" type="pic"/>
          </p:nvPr>
        </p:nvSpPr>
        <p:spPr>
          <a:xfrm>
            <a:off x="4049966" y="2626296"/>
            <a:ext cx="1188720" cy="1188720"/>
          </a:xfrm>
          <a:prstGeom prst="rect">
            <a:avLst/>
          </a:prstGeom>
          <a:noFill/>
          <a:ln>
            <a:noFill/>
          </a:ln>
        </p:spPr>
      </p:sp>
      <p:sp>
        <p:nvSpPr>
          <p:cNvPr id="153" name="Google Shape;153;p61"/>
          <p:cNvSpPr/>
          <p:nvPr>
            <p:ph idx="7" type="pic"/>
          </p:nvPr>
        </p:nvSpPr>
        <p:spPr>
          <a:xfrm>
            <a:off x="6911919" y="2626296"/>
            <a:ext cx="1188720" cy="1188720"/>
          </a:xfrm>
          <a:prstGeom prst="rect">
            <a:avLst/>
          </a:prstGeom>
          <a:noFill/>
          <a:ln>
            <a:noFill/>
          </a:ln>
        </p:spPr>
      </p:sp>
      <p:sp>
        <p:nvSpPr>
          <p:cNvPr id="154" name="Google Shape;154;p61"/>
          <p:cNvSpPr/>
          <p:nvPr>
            <p:ph idx="8" type="pic"/>
          </p:nvPr>
        </p:nvSpPr>
        <p:spPr>
          <a:xfrm>
            <a:off x="9773872" y="2626296"/>
            <a:ext cx="1188720" cy="1188720"/>
          </a:xfrm>
          <a:prstGeom prst="rect">
            <a:avLst/>
          </a:prstGeom>
          <a:noFill/>
          <a:ln>
            <a:noFill/>
          </a:ln>
        </p:spPr>
      </p:sp>
      <p:pic>
        <p:nvPicPr>
          <p:cNvPr id="155" name="Google Shape;155;p61"/>
          <p:cNvPicPr preferRelativeResize="0"/>
          <p:nvPr/>
        </p:nvPicPr>
        <p:blipFill rotWithShape="1">
          <a:blip r:embed="rId2">
            <a:alphaModFix/>
          </a:blip>
          <a:srcRect b="0" l="0" r="0" t="0"/>
          <a:stretch/>
        </p:blipFill>
        <p:spPr>
          <a:xfrm>
            <a:off x="9840052" y="365126"/>
            <a:ext cx="1910948" cy="449072"/>
          </a:xfrm>
          <a:prstGeom prst="rect">
            <a:avLst/>
          </a:prstGeom>
          <a:noFill/>
          <a:ln>
            <a:noFill/>
          </a:ln>
        </p:spPr>
      </p:pic>
      <p:pic>
        <p:nvPicPr>
          <p:cNvPr id="156" name="Google Shape;156;p61"/>
          <p:cNvPicPr preferRelativeResize="0"/>
          <p:nvPr/>
        </p:nvPicPr>
        <p:blipFill rotWithShape="1">
          <a:blip r:embed="rId3">
            <a:alphaModFix/>
          </a:blip>
          <a:srcRect b="3809" l="75552" r="3438" t="60520"/>
          <a:stretch/>
        </p:blipFill>
        <p:spPr>
          <a:xfrm rot="10800000">
            <a:off x="-1" y="-2"/>
            <a:ext cx="2268187" cy="2166103"/>
          </a:xfrm>
          <a:prstGeom prst="rect">
            <a:avLst/>
          </a:prstGeom>
          <a:noFill/>
          <a:ln>
            <a:noFill/>
          </a:ln>
        </p:spPr>
      </p:pic>
      <p:sp>
        <p:nvSpPr>
          <p:cNvPr id="157" name="Google Shape;157;p61"/>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8" name="Google Shape;158;p61"/>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spTree>
      <p:nvGrpSpPr>
        <p:cNvPr id="159" name="Shape 159"/>
        <p:cNvGrpSpPr/>
        <p:nvPr/>
      </p:nvGrpSpPr>
      <p:grpSpPr>
        <a:xfrm>
          <a:off x="0" y="0"/>
          <a:ext cx="0" cy="0"/>
          <a:chOff x="0" y="0"/>
          <a:chExt cx="0" cy="0"/>
        </a:xfrm>
      </p:grpSpPr>
      <p:pic>
        <p:nvPicPr>
          <p:cNvPr id="160" name="Google Shape;160;p62"/>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161" name="Google Shape;161;p62"/>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62" name="Google Shape;162;p62"/>
          <p:cNvPicPr preferRelativeResize="0"/>
          <p:nvPr/>
        </p:nvPicPr>
        <p:blipFill rotWithShape="1">
          <a:blip r:embed="rId3">
            <a:alphaModFix/>
          </a:blip>
          <a:srcRect b="0" l="0" r="0" t="0"/>
          <a:stretch/>
        </p:blipFill>
        <p:spPr>
          <a:xfrm>
            <a:off x="9840052" y="365126"/>
            <a:ext cx="1910948" cy="449073"/>
          </a:xfrm>
          <a:prstGeom prst="rect">
            <a:avLst/>
          </a:prstGeom>
          <a:noFill/>
          <a:ln>
            <a:noFill/>
          </a:ln>
        </p:spPr>
      </p:pic>
      <p:sp>
        <p:nvSpPr>
          <p:cNvPr id="163" name="Google Shape;163;p62"/>
          <p:cNvSpPr txBox="1"/>
          <p:nvPr>
            <p:ph idx="12" type="sldNum"/>
          </p:nvPr>
        </p:nvSpPr>
        <p:spPr>
          <a:xfrm>
            <a:off x="9029700"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4" name="Google Shape;164;p62"/>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Light">
  <p:cSld name="Title Only Light">
    <p:spTree>
      <p:nvGrpSpPr>
        <p:cNvPr id="165" name="Shape 165"/>
        <p:cNvGrpSpPr/>
        <p:nvPr/>
      </p:nvGrpSpPr>
      <p:grpSpPr>
        <a:xfrm>
          <a:off x="0" y="0"/>
          <a:ext cx="0" cy="0"/>
          <a:chOff x="0" y="0"/>
          <a:chExt cx="0" cy="0"/>
        </a:xfrm>
      </p:grpSpPr>
      <p:sp>
        <p:nvSpPr>
          <p:cNvPr id="166" name="Google Shape;166;p63"/>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4000"/>
              <a:buFont typeface="Arial"/>
              <a:buNone/>
              <a:defRPr sz="4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63"/>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168" name="Google Shape;168;p63"/>
          <p:cNvPicPr preferRelativeResize="0"/>
          <p:nvPr/>
        </p:nvPicPr>
        <p:blipFill rotWithShape="1">
          <a:blip r:embed="rId2">
            <a:alphaModFix/>
          </a:blip>
          <a:srcRect b="0" l="0" r="0" t="0"/>
          <a:stretch/>
        </p:blipFill>
        <p:spPr>
          <a:xfrm>
            <a:off x="9840052" y="365125"/>
            <a:ext cx="1910948" cy="449072"/>
          </a:xfrm>
          <a:prstGeom prst="rect">
            <a:avLst/>
          </a:prstGeom>
          <a:noFill/>
          <a:ln>
            <a:noFill/>
          </a:ln>
        </p:spPr>
      </p:pic>
      <p:sp>
        <p:nvSpPr>
          <p:cNvPr id="169" name="Google Shape;169;p63"/>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gram">
  <p:cSld name="Diagram">
    <p:spTree>
      <p:nvGrpSpPr>
        <p:cNvPr id="170" name="Shape 170"/>
        <p:cNvGrpSpPr/>
        <p:nvPr/>
      </p:nvGrpSpPr>
      <p:grpSpPr>
        <a:xfrm>
          <a:off x="0" y="0"/>
          <a:ext cx="0" cy="0"/>
          <a:chOff x="0" y="0"/>
          <a:chExt cx="0" cy="0"/>
        </a:xfrm>
      </p:grpSpPr>
      <p:pic>
        <p:nvPicPr>
          <p:cNvPr id="171" name="Google Shape;171;p64"/>
          <p:cNvPicPr preferRelativeResize="0"/>
          <p:nvPr/>
        </p:nvPicPr>
        <p:blipFill rotWithShape="1">
          <a:blip r:embed="rId2">
            <a:alphaModFix/>
          </a:blip>
          <a:srcRect b="0" l="0" r="0" t="0"/>
          <a:stretch/>
        </p:blipFill>
        <p:spPr>
          <a:xfrm>
            <a:off x="10301048" y="6435724"/>
            <a:ext cx="878193" cy="206375"/>
          </a:xfrm>
          <a:prstGeom prst="rect">
            <a:avLst/>
          </a:prstGeom>
          <a:noFill/>
          <a:ln>
            <a:noFill/>
          </a:ln>
        </p:spPr>
      </p:pic>
      <p:sp>
        <p:nvSpPr>
          <p:cNvPr id="172" name="Google Shape;172;p64"/>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64"/>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p:cSld name="Case Study">
    <p:spTree>
      <p:nvGrpSpPr>
        <p:cNvPr id="174" name="Shape 174"/>
        <p:cNvGrpSpPr/>
        <p:nvPr/>
      </p:nvGrpSpPr>
      <p:grpSpPr>
        <a:xfrm>
          <a:off x="0" y="0"/>
          <a:ext cx="0" cy="0"/>
          <a:chOff x="0" y="0"/>
          <a:chExt cx="0" cy="0"/>
        </a:xfrm>
      </p:grpSpPr>
      <p:sp>
        <p:nvSpPr>
          <p:cNvPr id="175" name="Google Shape;175;p65"/>
          <p:cNvSpPr txBox="1"/>
          <p:nvPr>
            <p:ph type="title"/>
          </p:nvPr>
        </p:nvSpPr>
        <p:spPr>
          <a:xfrm>
            <a:off x="419100" y="365125"/>
            <a:ext cx="8298180"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4000"/>
              <a:buFont typeface="Arial"/>
              <a:buNone/>
              <a:defRPr sz="4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 name="Google Shape;176;p65"/>
          <p:cNvSpPr txBox="1"/>
          <p:nvPr>
            <p:ph idx="12" type="sldNum"/>
          </p:nvPr>
        </p:nvSpPr>
        <p:spPr>
          <a:xfrm>
            <a:off x="9029700"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77" name="Google Shape;177;p65"/>
          <p:cNvSpPr txBox="1"/>
          <p:nvPr>
            <p:ph idx="1" type="body"/>
          </p:nvPr>
        </p:nvSpPr>
        <p:spPr>
          <a:xfrm>
            <a:off x="6076191" y="1803345"/>
            <a:ext cx="2656066" cy="199304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67"/>
              <a:buNone/>
              <a:defRPr sz="1867"/>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65"/>
          <p:cNvSpPr txBox="1"/>
          <p:nvPr>
            <p:ph idx="2" type="body"/>
          </p:nvPr>
        </p:nvSpPr>
        <p:spPr>
          <a:xfrm>
            <a:off x="3251457" y="1803345"/>
            <a:ext cx="2656066" cy="199304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67"/>
              <a:buNone/>
              <a:defRPr sz="1867"/>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 name="Google Shape;179;p65"/>
          <p:cNvSpPr txBox="1"/>
          <p:nvPr>
            <p:ph idx="3" type="body"/>
          </p:nvPr>
        </p:nvSpPr>
        <p:spPr>
          <a:xfrm>
            <a:off x="419100" y="1340942"/>
            <a:ext cx="2656067" cy="390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6C2B4"/>
              </a:buClr>
              <a:buSzPts val="2000"/>
              <a:buNone/>
              <a:defRPr b="0" sz="2000">
                <a:solidFill>
                  <a:srgbClr val="36C2B4"/>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 name="Google Shape;180;p65"/>
          <p:cNvSpPr txBox="1"/>
          <p:nvPr>
            <p:ph idx="4" type="body"/>
          </p:nvPr>
        </p:nvSpPr>
        <p:spPr>
          <a:xfrm>
            <a:off x="419102" y="1803345"/>
            <a:ext cx="2656066" cy="199304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67"/>
              <a:buNone/>
              <a:defRPr sz="1867"/>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65"/>
          <p:cNvSpPr/>
          <p:nvPr/>
        </p:nvSpPr>
        <p:spPr>
          <a:xfrm>
            <a:off x="9029701" y="0"/>
            <a:ext cx="3188474" cy="6875492"/>
          </a:xfrm>
          <a:prstGeom prst="rect">
            <a:avLst/>
          </a:prstGeom>
          <a:solidFill>
            <a:srgbClr val="232F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761"/>
              <a:buFont typeface="Arial"/>
              <a:buNone/>
            </a:pPr>
            <a:r>
              <a:t/>
            </a:r>
            <a:endParaRPr b="0" i="0" sz="1761" u="none" cap="none" strike="noStrike">
              <a:solidFill>
                <a:srgbClr val="FFFFFF"/>
              </a:solidFill>
              <a:latin typeface="Arial"/>
              <a:ea typeface="Arial"/>
              <a:cs typeface="Arial"/>
              <a:sym typeface="Arial"/>
            </a:endParaRPr>
          </a:p>
        </p:txBody>
      </p:sp>
      <p:sp>
        <p:nvSpPr>
          <p:cNvPr id="182" name="Google Shape;182;p65"/>
          <p:cNvSpPr/>
          <p:nvPr/>
        </p:nvSpPr>
        <p:spPr>
          <a:xfrm>
            <a:off x="0" y="4020640"/>
            <a:ext cx="9029700" cy="28373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761"/>
              <a:buFont typeface="Arial"/>
              <a:buNone/>
            </a:pPr>
            <a:r>
              <a:t/>
            </a:r>
            <a:endParaRPr b="0" i="0" sz="1761" u="none" cap="none" strike="noStrike">
              <a:solidFill>
                <a:srgbClr val="FFFFFF"/>
              </a:solidFill>
              <a:latin typeface="Arial"/>
              <a:ea typeface="Arial"/>
              <a:cs typeface="Arial"/>
              <a:sym typeface="Arial"/>
            </a:endParaRPr>
          </a:p>
        </p:txBody>
      </p:sp>
      <p:sp>
        <p:nvSpPr>
          <p:cNvPr id="183" name="Google Shape;183;p65"/>
          <p:cNvSpPr txBox="1"/>
          <p:nvPr>
            <p:ph idx="5" type="body"/>
          </p:nvPr>
        </p:nvSpPr>
        <p:spPr>
          <a:xfrm>
            <a:off x="9327146" y="365126"/>
            <a:ext cx="2445755" cy="951555"/>
          </a:xfrm>
          <a:prstGeom prst="rect">
            <a:avLst/>
          </a:prstGeom>
          <a:solidFill>
            <a:schemeClr val="lt1"/>
          </a:solid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2800"/>
              <a:buNone/>
              <a:defRPr>
                <a:solidFill>
                  <a:schemeClr val="lt2"/>
                </a:solidFill>
              </a:defRPr>
            </a:lvl1pPr>
            <a:lvl2pPr indent="-381000" lvl="1" marL="914400" algn="l">
              <a:lnSpc>
                <a:spcPct val="90000"/>
              </a:lnSpc>
              <a:spcBef>
                <a:spcPts val="500"/>
              </a:spcBef>
              <a:spcAft>
                <a:spcPts val="0"/>
              </a:spcAft>
              <a:buClr>
                <a:schemeClr val="lt2"/>
              </a:buClr>
              <a:buSzPts val="2400"/>
              <a:buChar char="•"/>
              <a:defRPr>
                <a:solidFill>
                  <a:schemeClr val="lt2"/>
                </a:solidFill>
              </a:defRPr>
            </a:lvl2pPr>
            <a:lvl3pPr indent="-355600" lvl="2" marL="1371600" algn="l">
              <a:lnSpc>
                <a:spcPct val="90000"/>
              </a:lnSpc>
              <a:spcBef>
                <a:spcPts val="500"/>
              </a:spcBef>
              <a:spcAft>
                <a:spcPts val="0"/>
              </a:spcAft>
              <a:buClr>
                <a:schemeClr val="lt2"/>
              </a:buClr>
              <a:buSzPts val="2000"/>
              <a:buChar char="•"/>
              <a:defRPr>
                <a:solidFill>
                  <a:schemeClr val="lt2"/>
                </a:solidFill>
              </a:defRPr>
            </a:lvl3pPr>
            <a:lvl4pPr indent="-342900" lvl="3" marL="1828800" algn="l">
              <a:lnSpc>
                <a:spcPct val="90000"/>
              </a:lnSpc>
              <a:spcBef>
                <a:spcPts val="500"/>
              </a:spcBef>
              <a:spcAft>
                <a:spcPts val="0"/>
              </a:spcAft>
              <a:buClr>
                <a:schemeClr val="lt2"/>
              </a:buClr>
              <a:buSzPts val="1800"/>
              <a:buChar char="•"/>
              <a:defRPr>
                <a:solidFill>
                  <a:schemeClr val="lt2"/>
                </a:solidFill>
              </a:defRPr>
            </a:lvl4pPr>
            <a:lvl5pPr indent="-342900" lvl="4" marL="2286000" algn="l">
              <a:lnSpc>
                <a:spcPct val="90000"/>
              </a:lnSpc>
              <a:spcBef>
                <a:spcPts val="500"/>
              </a:spcBef>
              <a:spcAft>
                <a:spcPts val="0"/>
              </a:spcAft>
              <a:buClr>
                <a:schemeClr val="lt2"/>
              </a:buClr>
              <a:buSzPts val="1800"/>
              <a:buChar char="•"/>
              <a:defRPr>
                <a:solidFill>
                  <a:schemeClr val="lt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 name="Google Shape;184;p65"/>
          <p:cNvSpPr txBox="1"/>
          <p:nvPr>
            <p:ph idx="6" type="body"/>
          </p:nvPr>
        </p:nvSpPr>
        <p:spPr>
          <a:xfrm>
            <a:off x="3259838" y="1340942"/>
            <a:ext cx="2656067" cy="390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6C2B4"/>
              </a:buClr>
              <a:buSzPts val="2000"/>
              <a:buNone/>
              <a:defRPr b="0" sz="2000">
                <a:solidFill>
                  <a:srgbClr val="36C2B4"/>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 name="Google Shape;185;p65"/>
          <p:cNvSpPr txBox="1"/>
          <p:nvPr>
            <p:ph idx="7" type="body"/>
          </p:nvPr>
        </p:nvSpPr>
        <p:spPr>
          <a:xfrm>
            <a:off x="6076190" y="1340942"/>
            <a:ext cx="2656067" cy="390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6C2B4"/>
              </a:buClr>
              <a:buSzPts val="2000"/>
              <a:buNone/>
              <a:defRPr b="0" sz="2000">
                <a:solidFill>
                  <a:srgbClr val="36C2B4"/>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 name="Google Shape;186;p65"/>
          <p:cNvSpPr txBox="1"/>
          <p:nvPr>
            <p:ph idx="8" type="body"/>
          </p:nvPr>
        </p:nvSpPr>
        <p:spPr>
          <a:xfrm>
            <a:off x="790222" y="4444327"/>
            <a:ext cx="7455707" cy="1311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 name="Google Shape;187;p65"/>
          <p:cNvSpPr txBox="1"/>
          <p:nvPr>
            <p:ph idx="9" type="body"/>
          </p:nvPr>
        </p:nvSpPr>
        <p:spPr>
          <a:xfrm>
            <a:off x="790222" y="5870446"/>
            <a:ext cx="7455707" cy="41370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88" name="Google Shape;188;p65"/>
          <p:cNvPicPr preferRelativeResize="0"/>
          <p:nvPr/>
        </p:nvPicPr>
        <p:blipFill rotWithShape="1">
          <a:blip r:embed="rId2">
            <a:alphaModFix/>
          </a:blip>
          <a:srcRect b="0" l="0" r="0" t="0"/>
          <a:stretch/>
        </p:blipFill>
        <p:spPr>
          <a:xfrm>
            <a:off x="9327092" y="6089840"/>
            <a:ext cx="1910948" cy="449073"/>
          </a:xfrm>
          <a:prstGeom prst="rect">
            <a:avLst/>
          </a:prstGeom>
          <a:noFill/>
          <a:ln>
            <a:noFill/>
          </a:ln>
        </p:spPr>
      </p:pic>
      <p:sp>
        <p:nvSpPr>
          <p:cNvPr id="189" name="Google Shape;189;p65"/>
          <p:cNvSpPr txBox="1"/>
          <p:nvPr>
            <p:ph idx="13" type="body"/>
          </p:nvPr>
        </p:nvSpPr>
        <p:spPr>
          <a:xfrm>
            <a:off x="9327093" y="1564153"/>
            <a:ext cx="2445808" cy="121291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 name="Google Shape;190;p65"/>
          <p:cNvSpPr txBox="1"/>
          <p:nvPr/>
        </p:nvSpPr>
        <p:spPr>
          <a:xfrm>
            <a:off x="290923" y="3889248"/>
            <a:ext cx="770467" cy="23084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aseline="30000" lang="en-US" sz="14400">
                <a:solidFill>
                  <a:schemeClr val="lt1"/>
                </a:solidFill>
                <a:latin typeface="Arial"/>
                <a:ea typeface="Arial"/>
                <a:cs typeface="Arial"/>
                <a:sym typeface="Arial"/>
              </a:rPr>
              <a:t>“</a:t>
            </a:r>
            <a:endParaRPr sz="14400">
              <a:solidFill>
                <a:schemeClr val="lt1"/>
              </a:solidFill>
              <a:latin typeface="Arial"/>
              <a:ea typeface="Arial"/>
              <a:cs typeface="Arial"/>
              <a:sym typeface="Arial"/>
            </a:endParaRPr>
          </a:p>
        </p:txBody>
      </p:sp>
      <p:sp>
        <p:nvSpPr>
          <p:cNvPr id="191" name="Google Shape;191;p65"/>
          <p:cNvSpPr txBox="1"/>
          <p:nvPr>
            <p:ph idx="14" type="body"/>
          </p:nvPr>
        </p:nvSpPr>
        <p:spPr>
          <a:xfrm>
            <a:off x="9327145" y="3177326"/>
            <a:ext cx="2445808" cy="275849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65"/>
          <p:cNvSpPr txBox="1"/>
          <p:nvPr>
            <p:ph idx="15" type="body"/>
          </p:nvPr>
        </p:nvSpPr>
        <p:spPr>
          <a:xfrm>
            <a:off x="9327092" y="2880834"/>
            <a:ext cx="2445808" cy="29649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 name="Google Shape;193;p65"/>
          <p:cNvSpPr txBox="1"/>
          <p:nvPr/>
        </p:nvSpPr>
        <p:spPr>
          <a:xfrm>
            <a:off x="8171365" y="5105029"/>
            <a:ext cx="770467" cy="23084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aseline="30000" lang="en-US" sz="14400">
                <a:solidFill>
                  <a:schemeClr val="lt1"/>
                </a:solidFill>
                <a:latin typeface="Arial"/>
                <a:ea typeface="Arial"/>
                <a:cs typeface="Arial"/>
                <a:sym typeface="Arial"/>
              </a:rPr>
              <a:t>“</a:t>
            </a:r>
            <a:endParaRPr sz="14400">
              <a:solidFill>
                <a:schemeClr val="lt1"/>
              </a:solidFill>
              <a:latin typeface="Arial"/>
              <a:ea typeface="Arial"/>
              <a:cs typeface="Arial"/>
              <a:sym typeface="Arial"/>
            </a:endParaRPr>
          </a:p>
        </p:txBody>
      </p:sp>
      <p:sp>
        <p:nvSpPr>
          <p:cNvPr id="194" name="Google Shape;194;p65"/>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ll Quote">
  <p:cSld name="Pull Quote">
    <p:bg>
      <p:bgPr>
        <a:solidFill>
          <a:srgbClr val="222E3C"/>
        </a:solidFill>
      </p:bgPr>
    </p:bg>
    <p:spTree>
      <p:nvGrpSpPr>
        <p:cNvPr id="195" name="Shape 195"/>
        <p:cNvGrpSpPr/>
        <p:nvPr/>
      </p:nvGrpSpPr>
      <p:grpSpPr>
        <a:xfrm>
          <a:off x="0" y="0"/>
          <a:ext cx="0" cy="0"/>
          <a:chOff x="0" y="0"/>
          <a:chExt cx="0" cy="0"/>
        </a:xfrm>
      </p:grpSpPr>
      <p:sp>
        <p:nvSpPr>
          <p:cNvPr id="196" name="Google Shape;196;p66"/>
          <p:cNvSpPr txBox="1"/>
          <p:nvPr>
            <p:ph type="title"/>
          </p:nvPr>
        </p:nvSpPr>
        <p:spPr>
          <a:xfrm>
            <a:off x="419100" y="1361287"/>
            <a:ext cx="11353800" cy="34163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66"/>
          <p:cNvSpPr/>
          <p:nvPr/>
        </p:nvSpPr>
        <p:spPr>
          <a:xfrm>
            <a:off x="0" y="1444414"/>
            <a:ext cx="320634" cy="633768"/>
          </a:xfrm>
          <a:prstGeom prst="rect">
            <a:avLst/>
          </a:prstGeom>
          <a:solidFill>
            <a:srgbClr val="36C2B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8" name="Google Shape;198;p66"/>
          <p:cNvSpPr txBox="1"/>
          <p:nvPr>
            <p:ph idx="1" type="body"/>
          </p:nvPr>
        </p:nvSpPr>
        <p:spPr>
          <a:xfrm>
            <a:off x="419100" y="5024594"/>
            <a:ext cx="8059738" cy="4884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6C2B4"/>
              </a:buClr>
              <a:buSzPts val="2000"/>
              <a:buNone/>
              <a:defRPr b="0" sz="2000">
                <a:solidFill>
                  <a:srgbClr val="36C2B4"/>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99" name="Google Shape;199;p66"/>
          <p:cNvPicPr preferRelativeResize="0"/>
          <p:nvPr/>
        </p:nvPicPr>
        <p:blipFill rotWithShape="1">
          <a:blip r:embed="rId2">
            <a:alphaModFix/>
          </a:blip>
          <a:srcRect b="0" l="0" r="0" t="0"/>
          <a:stretch/>
        </p:blipFill>
        <p:spPr>
          <a:xfrm>
            <a:off x="9861952" y="6089839"/>
            <a:ext cx="1910948" cy="449073"/>
          </a:xfrm>
          <a:prstGeom prst="rect">
            <a:avLst/>
          </a:prstGeom>
          <a:noFill/>
          <a:ln>
            <a:noFill/>
          </a:ln>
        </p:spPr>
      </p:pic>
      <p:sp>
        <p:nvSpPr>
          <p:cNvPr id="200" name="Google Shape;200;p66"/>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201" name="Shape 201"/>
        <p:cNvGrpSpPr/>
        <p:nvPr/>
      </p:nvGrpSpPr>
      <p:grpSpPr>
        <a:xfrm>
          <a:off x="0" y="0"/>
          <a:ext cx="0" cy="0"/>
          <a:chOff x="0" y="0"/>
          <a:chExt cx="0" cy="0"/>
        </a:xfrm>
      </p:grpSpPr>
      <p:pic>
        <p:nvPicPr>
          <p:cNvPr id="202" name="Google Shape;202;p67"/>
          <p:cNvPicPr preferRelativeResize="0"/>
          <p:nvPr/>
        </p:nvPicPr>
        <p:blipFill rotWithShape="1">
          <a:blip r:embed="rId2">
            <a:alphaModFix/>
          </a:blip>
          <a:srcRect b="0" l="0" r="0" t="0"/>
          <a:stretch/>
        </p:blipFill>
        <p:spPr>
          <a:xfrm>
            <a:off x="-81023" y="-47919"/>
            <a:ext cx="12361762" cy="6958182"/>
          </a:xfrm>
          <a:prstGeom prst="rect">
            <a:avLst/>
          </a:prstGeom>
          <a:noFill/>
          <a:ln>
            <a:noFill/>
          </a:ln>
        </p:spPr>
      </p:pic>
      <p:sp>
        <p:nvSpPr>
          <p:cNvPr id="203" name="Google Shape;203;p67"/>
          <p:cNvSpPr txBox="1"/>
          <p:nvPr/>
        </p:nvSpPr>
        <p:spPr>
          <a:xfrm>
            <a:off x="423968" y="6089839"/>
            <a:ext cx="8921913" cy="646331"/>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US" sz="900">
                <a:solidFill>
                  <a:schemeClr val="lt1"/>
                </a:solidFill>
                <a:latin typeface="Arial"/>
                <a:ea typeface="Arial"/>
                <a:cs typeface="Arial"/>
                <a:sym typeface="Arial"/>
              </a:rPr>
              <a:t>© 2020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a:solidFill>
                  <a:schemeClr val="lt1"/>
                </a:solidFill>
                <a:latin typeface="Arial"/>
                <a:ea typeface="Arial"/>
                <a:cs typeface="Arial"/>
                <a:sym typeface="Arial"/>
              </a:rPr>
              <a:t>aws-course-feedback@amazon.com</a:t>
            </a:r>
            <a:r>
              <a:rPr lang="en-US" sz="900">
                <a:solidFill>
                  <a:schemeClr val="lt1"/>
                </a:solidFill>
                <a:latin typeface="Arial"/>
                <a:ea typeface="Arial"/>
                <a:cs typeface="Arial"/>
                <a:sym typeface="Arial"/>
              </a:rPr>
              <a:t>. For all other questions, contact us at: </a:t>
            </a:r>
            <a:r>
              <a:rPr lang="en-US" sz="900" u="sng">
                <a:solidFill>
                  <a:schemeClr val="lt1"/>
                </a:solidFill>
                <a:latin typeface="Arial"/>
                <a:ea typeface="Arial"/>
                <a:cs typeface="Arial"/>
                <a:sym typeface="Arial"/>
              </a:rPr>
              <a:t>https://aws.amazon.com/contact-us/aws-training/</a:t>
            </a:r>
            <a:r>
              <a:rPr lang="en-US" sz="900">
                <a:solidFill>
                  <a:schemeClr val="lt1"/>
                </a:solidFill>
                <a:latin typeface="Arial"/>
                <a:ea typeface="Arial"/>
                <a:cs typeface="Arial"/>
                <a:sym typeface="Arial"/>
              </a:rPr>
              <a:t>. All trademarks are the property of their owners.</a:t>
            </a:r>
            <a:endParaRPr/>
          </a:p>
          <a:p>
            <a:pPr indent="0" lvl="0" marL="0" marR="0" rtl="0" algn="just">
              <a:spcBef>
                <a:spcPts val="0"/>
              </a:spcBef>
              <a:spcAft>
                <a:spcPts val="0"/>
              </a:spcAft>
              <a:buNone/>
            </a:pPr>
            <a:r>
              <a:t/>
            </a:r>
            <a:endParaRPr sz="900">
              <a:solidFill>
                <a:schemeClr val="dk1"/>
              </a:solidFill>
              <a:latin typeface="Arial"/>
              <a:ea typeface="Arial"/>
              <a:cs typeface="Arial"/>
              <a:sym typeface="Arial"/>
            </a:endParaRPr>
          </a:p>
        </p:txBody>
      </p:sp>
      <p:sp>
        <p:nvSpPr>
          <p:cNvPr id="204" name="Google Shape;204;p67"/>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05" name="Google Shape;205;p67"/>
          <p:cNvPicPr preferRelativeResize="0"/>
          <p:nvPr/>
        </p:nvPicPr>
        <p:blipFill rotWithShape="1">
          <a:blip r:embed="rId3">
            <a:alphaModFix/>
          </a:blip>
          <a:srcRect b="0" l="0" r="0" t="0"/>
          <a:stretch/>
        </p:blipFill>
        <p:spPr>
          <a:xfrm>
            <a:off x="9861952" y="6089839"/>
            <a:ext cx="1910948" cy="449073"/>
          </a:xfrm>
          <a:prstGeom prst="rect">
            <a:avLst/>
          </a:prstGeom>
          <a:noFill/>
          <a:ln>
            <a:noFill/>
          </a:ln>
        </p:spPr>
      </p:pic>
    </p:spTree>
  </p:cSld>
  <p:clrMapOvr>
    <a:masterClrMapping/>
  </p:clrMapOvr>
  <p:extLst>
    <p:ext uri="{DCECCB84-F9BA-43D5-87BE-67443E8EF086}">
      <p15:sldGuideLst>
        <p15:guide id="1" orient="horz" pos="2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p:cSld name="Transition Slide">
    <p:bg>
      <p:bgPr>
        <a:gradFill>
          <a:gsLst>
            <a:gs pos="0">
              <a:srgbClr val="36C2B4"/>
            </a:gs>
            <a:gs pos="100000">
              <a:srgbClr val="7EE5AA"/>
            </a:gs>
          </a:gsLst>
          <a:lin ang="16200000" scaled="0"/>
        </a:gradFill>
      </p:bgPr>
    </p:bg>
    <p:spTree>
      <p:nvGrpSpPr>
        <p:cNvPr id="206" name="Shape 206"/>
        <p:cNvGrpSpPr/>
        <p:nvPr/>
      </p:nvGrpSpPr>
      <p:grpSpPr>
        <a:xfrm>
          <a:off x="0" y="0"/>
          <a:ext cx="0" cy="0"/>
          <a:chOff x="0" y="0"/>
          <a:chExt cx="0" cy="0"/>
        </a:xfrm>
      </p:grpSpPr>
      <p:sp>
        <p:nvSpPr>
          <p:cNvPr id="207" name="Google Shape;207;p68"/>
          <p:cNvSpPr txBox="1"/>
          <p:nvPr>
            <p:ph type="title"/>
          </p:nvPr>
        </p:nvSpPr>
        <p:spPr>
          <a:xfrm>
            <a:off x="609601" y="2701346"/>
            <a:ext cx="10475057" cy="72765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4267"/>
              <a:buFont typeface="Arial"/>
              <a:buNone/>
              <a:defRPr b="0" i="0" sz="4267">
                <a:solidFill>
                  <a:srgbClr val="232F3E"/>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8" name="Google Shape;208;p68"/>
          <p:cNvSpPr/>
          <p:nvPr/>
        </p:nvSpPr>
        <p:spPr>
          <a:xfrm>
            <a:off x="1" y="2701345"/>
            <a:ext cx="373039" cy="72765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a:solidFill>
                <a:schemeClr val="lt1"/>
              </a:solidFill>
              <a:latin typeface="Arial"/>
              <a:ea typeface="Arial"/>
              <a:cs typeface="Arial"/>
              <a:sym typeface="Arial"/>
            </a:endParaRPr>
          </a:p>
        </p:txBody>
      </p:sp>
    </p:spTree>
  </p:cSld>
  <p:clrMapOvr>
    <a:masterClrMapping/>
  </p:clrMapOvr>
  <p:extLst>
    <p:ext uri="{DCECCB84-F9BA-43D5-87BE-67443E8EF086}">
      <p15:sldGuideLst>
        <p15:guide id="1" pos="2880">
          <p15:clr>
            <a:srgbClr val="FBAE40"/>
          </p15:clr>
        </p15:guide>
        <p15:guide id="2" pos="28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 by Side">
  <p:cSld name="Side by Side">
    <p:spTree>
      <p:nvGrpSpPr>
        <p:cNvPr id="214" name="Shape 214"/>
        <p:cNvGrpSpPr/>
        <p:nvPr/>
      </p:nvGrpSpPr>
      <p:grpSpPr>
        <a:xfrm>
          <a:off x="0" y="0"/>
          <a:ext cx="0" cy="0"/>
          <a:chOff x="0" y="0"/>
          <a:chExt cx="0" cy="0"/>
        </a:xfrm>
      </p:grpSpPr>
      <p:sp>
        <p:nvSpPr>
          <p:cNvPr id="215" name="Google Shape;215;p50"/>
          <p:cNvSpPr/>
          <p:nvPr/>
        </p:nvSpPr>
        <p:spPr>
          <a:xfrm>
            <a:off x="-2" y="0"/>
            <a:ext cx="5125762" cy="6875492"/>
          </a:xfrm>
          <a:prstGeom prst="rect">
            <a:avLst/>
          </a:prstGeom>
          <a:solidFill>
            <a:srgbClr val="232F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descr="A circuit board&#10;&#10;Description automatically generated" id="216" name="Google Shape;216;p50"/>
          <p:cNvPicPr preferRelativeResize="0"/>
          <p:nvPr/>
        </p:nvPicPr>
        <p:blipFill rotWithShape="1">
          <a:blip r:embed="rId2">
            <a:alphaModFix/>
          </a:blip>
          <a:srcRect b="21596" l="39690" r="5227" t="3208"/>
          <a:stretch/>
        </p:blipFill>
        <p:spPr>
          <a:xfrm>
            <a:off x="588712" y="3159360"/>
            <a:ext cx="4537048" cy="3716132"/>
          </a:xfrm>
          <a:prstGeom prst="rect">
            <a:avLst/>
          </a:prstGeom>
          <a:noFill/>
          <a:ln>
            <a:noFill/>
          </a:ln>
        </p:spPr>
      </p:pic>
      <p:sp>
        <p:nvSpPr>
          <p:cNvPr id="217" name="Google Shape;217;p50"/>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50"/>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50"/>
          <p:cNvSpPr txBox="1"/>
          <p:nvPr>
            <p:ph idx="12" type="sldNum"/>
          </p:nvPr>
        </p:nvSpPr>
        <p:spPr>
          <a:xfrm>
            <a:off x="423657"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900">
                <a:solidFill>
                  <a:schemeClr val="lt1"/>
                </a:solidFill>
                <a:latin typeface="Arial"/>
                <a:ea typeface="Arial"/>
                <a:cs typeface="Arial"/>
                <a:sym typeface="Arial"/>
              </a:defRPr>
            </a:lvl1pPr>
            <a:lvl2pPr indent="0" lvl="1" marL="0" algn="l">
              <a:spcBef>
                <a:spcPts val="0"/>
              </a:spcBef>
              <a:buNone/>
              <a:defRPr b="0" i="0" sz="900">
                <a:solidFill>
                  <a:schemeClr val="lt1"/>
                </a:solidFill>
                <a:latin typeface="Arial"/>
                <a:ea typeface="Arial"/>
                <a:cs typeface="Arial"/>
                <a:sym typeface="Arial"/>
              </a:defRPr>
            </a:lvl2pPr>
            <a:lvl3pPr indent="0" lvl="2" marL="0" algn="l">
              <a:spcBef>
                <a:spcPts val="0"/>
              </a:spcBef>
              <a:buNone/>
              <a:defRPr b="0" i="0" sz="900">
                <a:solidFill>
                  <a:schemeClr val="lt1"/>
                </a:solidFill>
                <a:latin typeface="Arial"/>
                <a:ea typeface="Arial"/>
                <a:cs typeface="Arial"/>
                <a:sym typeface="Arial"/>
              </a:defRPr>
            </a:lvl3pPr>
            <a:lvl4pPr indent="0" lvl="3" marL="0" algn="l">
              <a:spcBef>
                <a:spcPts val="0"/>
              </a:spcBef>
              <a:buNone/>
              <a:defRPr b="0" i="0" sz="900">
                <a:solidFill>
                  <a:schemeClr val="lt1"/>
                </a:solidFill>
                <a:latin typeface="Arial"/>
                <a:ea typeface="Arial"/>
                <a:cs typeface="Arial"/>
                <a:sym typeface="Arial"/>
              </a:defRPr>
            </a:lvl4pPr>
            <a:lvl5pPr indent="0" lvl="4" marL="0" algn="l">
              <a:spcBef>
                <a:spcPts val="0"/>
              </a:spcBef>
              <a:buNone/>
              <a:defRPr b="0" i="0" sz="900">
                <a:solidFill>
                  <a:schemeClr val="lt1"/>
                </a:solidFill>
                <a:latin typeface="Arial"/>
                <a:ea typeface="Arial"/>
                <a:cs typeface="Arial"/>
                <a:sym typeface="Arial"/>
              </a:defRPr>
            </a:lvl5pPr>
            <a:lvl6pPr indent="0" lvl="5" marL="0" algn="l">
              <a:spcBef>
                <a:spcPts val="0"/>
              </a:spcBef>
              <a:buNone/>
              <a:defRPr b="0" i="0" sz="900">
                <a:solidFill>
                  <a:schemeClr val="lt1"/>
                </a:solidFill>
                <a:latin typeface="Arial"/>
                <a:ea typeface="Arial"/>
                <a:cs typeface="Arial"/>
                <a:sym typeface="Arial"/>
              </a:defRPr>
            </a:lvl6pPr>
            <a:lvl7pPr indent="0" lvl="6" marL="0" algn="l">
              <a:spcBef>
                <a:spcPts val="0"/>
              </a:spcBef>
              <a:buNone/>
              <a:defRPr b="0" i="0" sz="900">
                <a:solidFill>
                  <a:schemeClr val="lt1"/>
                </a:solidFill>
                <a:latin typeface="Arial"/>
                <a:ea typeface="Arial"/>
                <a:cs typeface="Arial"/>
                <a:sym typeface="Arial"/>
              </a:defRPr>
            </a:lvl7pPr>
            <a:lvl8pPr indent="0" lvl="7" marL="0" algn="l">
              <a:spcBef>
                <a:spcPts val="0"/>
              </a:spcBef>
              <a:buNone/>
              <a:defRPr b="0" i="0" sz="900">
                <a:solidFill>
                  <a:schemeClr val="lt1"/>
                </a:solidFill>
                <a:latin typeface="Arial"/>
                <a:ea typeface="Arial"/>
                <a:cs typeface="Arial"/>
                <a:sym typeface="Arial"/>
              </a:defRPr>
            </a:lvl8pPr>
            <a:lvl9pPr indent="0" lvl="8" marL="0" algn="l">
              <a:spcBef>
                <a:spcPts val="0"/>
              </a:spcBef>
              <a:buNone/>
              <a:defRPr b="0" i="0" sz="900">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220" name="Google Shape;220;p50"/>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21" name="Google Shape;221;p50"/>
          <p:cNvPicPr preferRelativeResize="0"/>
          <p:nvPr/>
        </p:nvPicPr>
        <p:blipFill rotWithShape="1">
          <a:blip r:embed="rId3">
            <a:alphaModFix/>
          </a:blip>
          <a:srcRect b="0" l="0" r="0" t="0"/>
          <a:stretch/>
        </p:blipFill>
        <p:spPr>
          <a:xfrm>
            <a:off x="9840052" y="365126"/>
            <a:ext cx="1910948" cy="449072"/>
          </a:xfrm>
          <a:prstGeom prst="rect">
            <a:avLst/>
          </a:prstGeom>
          <a:noFill/>
          <a:ln>
            <a:noFill/>
          </a:ln>
        </p:spPr>
      </p:pic>
      <p:sp>
        <p:nvSpPr>
          <p:cNvPr id="222" name="Google Shape;222;p50"/>
          <p:cNvSpPr/>
          <p:nvPr/>
        </p:nvSpPr>
        <p:spPr>
          <a:xfrm>
            <a:off x="-2" y="0"/>
            <a:ext cx="5125762" cy="6875492"/>
          </a:xfrm>
          <a:prstGeom prst="rect">
            <a:avLst/>
          </a:prstGeom>
          <a:solidFill>
            <a:srgbClr val="232F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descr="A circuit board&#10;&#10;Description automatically generated" id="223" name="Google Shape;223;p50"/>
          <p:cNvPicPr preferRelativeResize="0"/>
          <p:nvPr/>
        </p:nvPicPr>
        <p:blipFill rotWithShape="1">
          <a:blip r:embed="rId2">
            <a:alphaModFix/>
          </a:blip>
          <a:srcRect b="21596" l="39690" r="5227" t="3208"/>
          <a:stretch/>
        </p:blipFill>
        <p:spPr>
          <a:xfrm>
            <a:off x="588712" y="3159360"/>
            <a:ext cx="4537048" cy="3716132"/>
          </a:xfrm>
          <a:prstGeom prst="rect">
            <a:avLst/>
          </a:prstGeom>
          <a:noFill/>
          <a:ln>
            <a:noFill/>
          </a:ln>
        </p:spPr>
      </p:pic>
      <p:pic>
        <p:nvPicPr>
          <p:cNvPr id="224" name="Google Shape;224;p50"/>
          <p:cNvPicPr preferRelativeResize="0"/>
          <p:nvPr/>
        </p:nvPicPr>
        <p:blipFill rotWithShape="1">
          <a:blip r:embed="rId3">
            <a:alphaModFix/>
          </a:blip>
          <a:srcRect b="0" l="0" r="0" t="0"/>
          <a:stretch/>
        </p:blipFill>
        <p:spPr>
          <a:xfrm>
            <a:off x="9840052" y="365126"/>
            <a:ext cx="1910948" cy="449072"/>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25" name="Shape 225"/>
        <p:cNvGrpSpPr/>
        <p:nvPr/>
      </p:nvGrpSpPr>
      <p:grpSpPr>
        <a:xfrm>
          <a:off x="0" y="0"/>
          <a:ext cx="0" cy="0"/>
          <a:chOff x="0" y="0"/>
          <a:chExt cx="0" cy="0"/>
        </a:xfrm>
      </p:grpSpPr>
      <p:pic>
        <p:nvPicPr>
          <p:cNvPr id="226" name="Google Shape;226;p69"/>
          <p:cNvPicPr preferRelativeResize="0"/>
          <p:nvPr/>
        </p:nvPicPr>
        <p:blipFill rotWithShape="1">
          <a:blip r:embed="rId2">
            <a:alphaModFix/>
          </a:blip>
          <a:srcRect b="0" l="0" r="0" t="0"/>
          <a:stretch/>
        </p:blipFill>
        <p:spPr>
          <a:xfrm>
            <a:off x="-81023" y="-47919"/>
            <a:ext cx="12361762" cy="6958182"/>
          </a:xfrm>
          <a:prstGeom prst="rect">
            <a:avLst/>
          </a:prstGeom>
          <a:noFill/>
          <a:ln>
            <a:noFill/>
          </a:ln>
        </p:spPr>
      </p:pic>
      <p:sp>
        <p:nvSpPr>
          <p:cNvPr id="227" name="Google Shape;227;p69"/>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69"/>
          <p:cNvSpPr txBox="1"/>
          <p:nvPr>
            <p:ph idx="1" type="body"/>
          </p:nvPr>
        </p:nvSpPr>
        <p:spPr>
          <a:xfrm>
            <a:off x="419100" y="2554356"/>
            <a:ext cx="8059738" cy="4884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None/>
              <a:defRPr b="0" sz="2000">
                <a:solidFill>
                  <a:schemeClr val="lt1"/>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29" name="Google Shape;229;p69"/>
          <p:cNvPicPr preferRelativeResize="0"/>
          <p:nvPr/>
        </p:nvPicPr>
        <p:blipFill rotWithShape="1">
          <a:blip r:embed="rId3">
            <a:alphaModFix/>
          </a:blip>
          <a:srcRect b="0" l="0" r="0" t="0"/>
          <a:stretch/>
        </p:blipFill>
        <p:spPr>
          <a:xfrm>
            <a:off x="9861952" y="6089839"/>
            <a:ext cx="1910948" cy="449073"/>
          </a:xfrm>
          <a:prstGeom prst="rect">
            <a:avLst/>
          </a:prstGeom>
          <a:noFill/>
          <a:ln>
            <a:noFill/>
          </a:ln>
        </p:spPr>
      </p:pic>
    </p:spTree>
  </p:cSld>
  <p:clrMapOvr>
    <a:masterClrMapping/>
  </p:clrMapOvr>
  <p:extLst>
    <p:ext uri="{DCECCB84-F9BA-43D5-87BE-67443E8EF086}">
      <p15:sldGuideLst>
        <p15:guide id="1" orient="horz" pos="21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30" name="Shape 230"/>
        <p:cNvGrpSpPr/>
        <p:nvPr/>
      </p:nvGrpSpPr>
      <p:grpSpPr>
        <a:xfrm>
          <a:off x="0" y="0"/>
          <a:ext cx="0" cy="0"/>
          <a:chOff x="0" y="0"/>
          <a:chExt cx="0" cy="0"/>
        </a:xfrm>
      </p:grpSpPr>
      <p:sp>
        <p:nvSpPr>
          <p:cNvPr id="231" name="Google Shape;231;p70"/>
          <p:cNvSpPr/>
          <p:nvPr/>
        </p:nvSpPr>
        <p:spPr>
          <a:xfrm>
            <a:off x="0" y="0"/>
            <a:ext cx="12192000" cy="6858000"/>
          </a:xfrm>
          <a:prstGeom prst="rect">
            <a:avLst/>
          </a:prstGeom>
          <a:solidFill>
            <a:srgbClr val="232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2" name="Google Shape;232;p70"/>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3" name="Google Shape;233;p70"/>
          <p:cNvSpPr txBox="1"/>
          <p:nvPr>
            <p:ph idx="1" type="body"/>
          </p:nvPr>
        </p:nvSpPr>
        <p:spPr>
          <a:xfrm>
            <a:off x="419100" y="2554356"/>
            <a:ext cx="8059738" cy="4884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6C2B4"/>
              </a:buClr>
              <a:buSzPts val="2000"/>
              <a:buNone/>
              <a:defRPr b="0" sz="2000">
                <a:solidFill>
                  <a:srgbClr val="36C2B4"/>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 name="Google Shape;234;p70"/>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235" name="Google Shape;235;p70"/>
          <p:cNvPicPr preferRelativeResize="0"/>
          <p:nvPr/>
        </p:nvPicPr>
        <p:blipFill rotWithShape="1">
          <a:blip r:embed="rId2">
            <a:alphaModFix/>
          </a:blip>
          <a:srcRect b="0" l="0" r="0" t="0"/>
          <a:stretch/>
        </p:blipFill>
        <p:spPr>
          <a:xfrm>
            <a:off x="9861952" y="6089839"/>
            <a:ext cx="1910948" cy="449073"/>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Header">
  <p:cSld name="Subsection Header">
    <p:spTree>
      <p:nvGrpSpPr>
        <p:cNvPr id="236" name="Shape 236"/>
        <p:cNvGrpSpPr/>
        <p:nvPr/>
      </p:nvGrpSpPr>
      <p:grpSpPr>
        <a:xfrm>
          <a:off x="0" y="0"/>
          <a:ext cx="0" cy="0"/>
          <a:chOff x="0" y="0"/>
          <a:chExt cx="0" cy="0"/>
        </a:xfrm>
      </p:grpSpPr>
      <p:pic>
        <p:nvPicPr>
          <p:cNvPr id="237" name="Google Shape;237;p71"/>
          <p:cNvPicPr preferRelativeResize="0"/>
          <p:nvPr/>
        </p:nvPicPr>
        <p:blipFill rotWithShape="1">
          <a:blip r:embed="rId2">
            <a:alphaModFix/>
          </a:blip>
          <a:srcRect b="0" l="0" r="0" t="0"/>
          <a:stretch/>
        </p:blipFill>
        <p:spPr>
          <a:xfrm>
            <a:off x="9840052" y="365126"/>
            <a:ext cx="1910948" cy="449072"/>
          </a:xfrm>
          <a:prstGeom prst="rect">
            <a:avLst/>
          </a:prstGeom>
          <a:noFill/>
          <a:ln>
            <a:noFill/>
          </a:ln>
        </p:spPr>
      </p:pic>
      <p:sp>
        <p:nvSpPr>
          <p:cNvPr id="238" name="Google Shape;238;p71"/>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6000"/>
              <a:buFont typeface="Arial"/>
              <a:buNone/>
              <a:defRPr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9" name="Google Shape;239;p71"/>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40" name="Google Shape;240;p71"/>
          <p:cNvPicPr preferRelativeResize="0"/>
          <p:nvPr/>
        </p:nvPicPr>
        <p:blipFill rotWithShape="1">
          <a:blip r:embed="rId3">
            <a:alphaModFix/>
          </a:blip>
          <a:srcRect b="3809" l="75552" r="3438" t="60520"/>
          <a:stretch/>
        </p:blipFill>
        <p:spPr>
          <a:xfrm rot="10800000">
            <a:off x="-1" y="-2"/>
            <a:ext cx="2268187" cy="2166103"/>
          </a:xfrm>
          <a:prstGeom prst="rect">
            <a:avLst/>
          </a:prstGeom>
          <a:noFill/>
          <a:ln>
            <a:noFill/>
          </a:ln>
        </p:spPr>
      </p:pic>
      <p:sp>
        <p:nvSpPr>
          <p:cNvPr id="241" name="Google Shape;241;p71"/>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ype="obj">
  <p:cSld name="OBJECT">
    <p:spTree>
      <p:nvGrpSpPr>
        <p:cNvPr id="242" name="Shape 242"/>
        <p:cNvGrpSpPr/>
        <p:nvPr/>
      </p:nvGrpSpPr>
      <p:grpSpPr>
        <a:xfrm>
          <a:off x="0" y="0"/>
          <a:ext cx="0" cy="0"/>
          <a:chOff x="0" y="0"/>
          <a:chExt cx="0" cy="0"/>
        </a:xfrm>
      </p:grpSpPr>
      <p:pic>
        <p:nvPicPr>
          <p:cNvPr id="243" name="Google Shape;243;p72"/>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244" name="Google Shape;244;p72"/>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5" name="Google Shape;245;p72"/>
          <p:cNvSpPr txBox="1"/>
          <p:nvPr>
            <p:ph idx="1" type="body"/>
          </p:nvPr>
        </p:nvSpPr>
        <p:spPr>
          <a:xfrm>
            <a:off x="419100" y="1528175"/>
            <a:ext cx="11353800" cy="4648788"/>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46" name="Google Shape;246;p72"/>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247" name="Google Shape;247;p72"/>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48" name="Google Shape;248;p72"/>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wo Column">
    <p:spTree>
      <p:nvGrpSpPr>
        <p:cNvPr id="249" name="Shape 249"/>
        <p:cNvGrpSpPr/>
        <p:nvPr/>
      </p:nvGrpSpPr>
      <p:grpSpPr>
        <a:xfrm>
          <a:off x="0" y="0"/>
          <a:ext cx="0" cy="0"/>
          <a:chOff x="0" y="0"/>
          <a:chExt cx="0" cy="0"/>
        </a:xfrm>
      </p:grpSpPr>
      <p:pic>
        <p:nvPicPr>
          <p:cNvPr id="250" name="Google Shape;250;p73"/>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251" name="Google Shape;251;p73"/>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73"/>
          <p:cNvSpPr txBox="1"/>
          <p:nvPr>
            <p:ph idx="1" type="body"/>
          </p:nvPr>
        </p:nvSpPr>
        <p:spPr>
          <a:xfrm>
            <a:off x="419100" y="1528175"/>
            <a:ext cx="5504688" cy="4648788"/>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 name="Google Shape;253;p73"/>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54" name="Google Shape;254;p73"/>
          <p:cNvSpPr txBox="1"/>
          <p:nvPr>
            <p:ph idx="2" type="body"/>
          </p:nvPr>
        </p:nvSpPr>
        <p:spPr>
          <a:xfrm>
            <a:off x="6246312" y="1524228"/>
            <a:ext cx="5504688" cy="4648788"/>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55" name="Google Shape;255;p73"/>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256" name="Google Shape;256;p73"/>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p:cSld name="Three Column">
    <p:spTree>
      <p:nvGrpSpPr>
        <p:cNvPr id="257" name="Shape 257"/>
        <p:cNvGrpSpPr/>
        <p:nvPr/>
      </p:nvGrpSpPr>
      <p:grpSpPr>
        <a:xfrm>
          <a:off x="0" y="0"/>
          <a:ext cx="0" cy="0"/>
          <a:chOff x="0" y="0"/>
          <a:chExt cx="0" cy="0"/>
        </a:xfrm>
      </p:grpSpPr>
      <p:pic>
        <p:nvPicPr>
          <p:cNvPr id="258" name="Google Shape;258;p74"/>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259" name="Google Shape;259;p74"/>
          <p:cNvSpPr txBox="1"/>
          <p:nvPr>
            <p:ph type="title"/>
          </p:nvPr>
        </p:nvSpPr>
        <p:spPr>
          <a:xfrm>
            <a:off x="419101" y="365125"/>
            <a:ext cx="9037416"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0" name="Google Shape;260;p74"/>
          <p:cNvSpPr txBox="1"/>
          <p:nvPr>
            <p:ph idx="1" type="body"/>
          </p:nvPr>
        </p:nvSpPr>
        <p:spPr>
          <a:xfrm>
            <a:off x="419100" y="1528175"/>
            <a:ext cx="3593592" cy="464515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 name="Google Shape;261;p74"/>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62" name="Google Shape;262;p74"/>
          <p:cNvSpPr txBox="1"/>
          <p:nvPr>
            <p:ph idx="2" type="body"/>
          </p:nvPr>
        </p:nvSpPr>
        <p:spPr>
          <a:xfrm>
            <a:off x="8173686" y="1528175"/>
            <a:ext cx="3593592" cy="464515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 name="Google Shape;263;p74"/>
          <p:cNvSpPr txBox="1"/>
          <p:nvPr>
            <p:ph idx="3" type="body"/>
          </p:nvPr>
        </p:nvSpPr>
        <p:spPr>
          <a:xfrm>
            <a:off x="4314209" y="1528175"/>
            <a:ext cx="3593592" cy="464515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64" name="Google Shape;264;p74"/>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265" name="Google Shape;265;p74"/>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66" name="Shape 266"/>
        <p:cNvGrpSpPr/>
        <p:nvPr/>
      </p:nvGrpSpPr>
      <p:grpSpPr>
        <a:xfrm>
          <a:off x="0" y="0"/>
          <a:ext cx="0" cy="0"/>
          <a:chOff x="0" y="0"/>
          <a:chExt cx="0" cy="0"/>
        </a:xfrm>
      </p:grpSpPr>
      <p:pic>
        <p:nvPicPr>
          <p:cNvPr id="267" name="Google Shape;267;p75"/>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268" name="Google Shape;268;p75"/>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9" name="Google Shape;269;p75"/>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70" name="Google Shape;270;p75"/>
          <p:cNvSpPr txBox="1"/>
          <p:nvPr>
            <p:ph idx="1" type="body"/>
          </p:nvPr>
        </p:nvSpPr>
        <p:spPr>
          <a:xfrm>
            <a:off x="419100" y="2041932"/>
            <a:ext cx="5504688" cy="4131084"/>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 name="Google Shape;271;p75"/>
          <p:cNvSpPr txBox="1"/>
          <p:nvPr>
            <p:ph idx="2" type="body"/>
          </p:nvPr>
        </p:nvSpPr>
        <p:spPr>
          <a:xfrm>
            <a:off x="419101" y="1524000"/>
            <a:ext cx="5504688"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 name="Google Shape;272;p75"/>
          <p:cNvSpPr txBox="1"/>
          <p:nvPr>
            <p:ph idx="3" type="body"/>
          </p:nvPr>
        </p:nvSpPr>
        <p:spPr>
          <a:xfrm>
            <a:off x="6249885" y="2041932"/>
            <a:ext cx="5504688" cy="4131084"/>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3" name="Google Shape;273;p75"/>
          <p:cNvSpPr txBox="1"/>
          <p:nvPr>
            <p:ph idx="4" type="body"/>
          </p:nvPr>
        </p:nvSpPr>
        <p:spPr>
          <a:xfrm>
            <a:off x="6249886" y="1524000"/>
            <a:ext cx="5504688"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74" name="Google Shape;274;p75"/>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275" name="Google Shape;275;p75"/>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hree">
  <p:cSld name="Comparison Three">
    <p:spTree>
      <p:nvGrpSpPr>
        <p:cNvPr id="276" name="Shape 276"/>
        <p:cNvGrpSpPr/>
        <p:nvPr/>
      </p:nvGrpSpPr>
      <p:grpSpPr>
        <a:xfrm>
          <a:off x="0" y="0"/>
          <a:ext cx="0" cy="0"/>
          <a:chOff x="0" y="0"/>
          <a:chExt cx="0" cy="0"/>
        </a:xfrm>
      </p:grpSpPr>
      <p:pic>
        <p:nvPicPr>
          <p:cNvPr id="277" name="Google Shape;277;p76"/>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278" name="Google Shape;278;p76"/>
          <p:cNvSpPr txBox="1"/>
          <p:nvPr>
            <p:ph type="title"/>
          </p:nvPr>
        </p:nvSpPr>
        <p:spPr>
          <a:xfrm>
            <a:off x="419101" y="365125"/>
            <a:ext cx="9037416"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76"/>
          <p:cNvSpPr txBox="1"/>
          <p:nvPr>
            <p:ph idx="1" type="body"/>
          </p:nvPr>
        </p:nvSpPr>
        <p:spPr>
          <a:xfrm>
            <a:off x="419100" y="2041931"/>
            <a:ext cx="3593592" cy="413139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 name="Google Shape;280;p76"/>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81" name="Google Shape;281;p76"/>
          <p:cNvSpPr txBox="1"/>
          <p:nvPr>
            <p:ph idx="2" type="body"/>
          </p:nvPr>
        </p:nvSpPr>
        <p:spPr>
          <a:xfrm>
            <a:off x="8173686" y="2041932"/>
            <a:ext cx="3593592" cy="4131394"/>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 name="Google Shape;282;p76"/>
          <p:cNvSpPr txBox="1"/>
          <p:nvPr>
            <p:ph idx="3" type="body"/>
          </p:nvPr>
        </p:nvSpPr>
        <p:spPr>
          <a:xfrm>
            <a:off x="4314209" y="2041931"/>
            <a:ext cx="3593592" cy="413139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83" name="Google Shape;283;p76"/>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284" name="Google Shape;284;p76"/>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5" name="Google Shape;285;p76"/>
          <p:cNvSpPr txBox="1"/>
          <p:nvPr>
            <p:ph idx="4" type="body"/>
          </p:nvPr>
        </p:nvSpPr>
        <p:spPr>
          <a:xfrm>
            <a:off x="419101" y="1524000"/>
            <a:ext cx="3593591"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 name="Google Shape;286;p76"/>
          <p:cNvSpPr txBox="1"/>
          <p:nvPr>
            <p:ph idx="5" type="body"/>
          </p:nvPr>
        </p:nvSpPr>
        <p:spPr>
          <a:xfrm>
            <a:off x="4314210" y="1524000"/>
            <a:ext cx="3593591"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 name="Google Shape;287;p76"/>
          <p:cNvSpPr txBox="1"/>
          <p:nvPr>
            <p:ph idx="6" type="body"/>
          </p:nvPr>
        </p:nvSpPr>
        <p:spPr>
          <a:xfrm>
            <a:off x="8173686" y="1524000"/>
            <a:ext cx="3593591"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Subtitle">
    <p:spTree>
      <p:nvGrpSpPr>
        <p:cNvPr id="288" name="Shape 288"/>
        <p:cNvGrpSpPr/>
        <p:nvPr/>
      </p:nvGrpSpPr>
      <p:grpSpPr>
        <a:xfrm>
          <a:off x="0" y="0"/>
          <a:ext cx="0" cy="0"/>
          <a:chOff x="0" y="0"/>
          <a:chExt cx="0" cy="0"/>
        </a:xfrm>
      </p:grpSpPr>
      <p:pic>
        <p:nvPicPr>
          <p:cNvPr id="289" name="Google Shape;289;p77"/>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290" name="Google Shape;290;p77"/>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1" name="Google Shape;291;p77"/>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92" name="Google Shape;292;p77"/>
          <p:cNvSpPr txBox="1"/>
          <p:nvPr>
            <p:ph idx="1" type="body"/>
          </p:nvPr>
        </p:nvSpPr>
        <p:spPr>
          <a:xfrm>
            <a:off x="419099" y="2041932"/>
            <a:ext cx="11335473" cy="4131084"/>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 name="Google Shape;293;p77"/>
          <p:cNvSpPr txBox="1"/>
          <p:nvPr>
            <p:ph idx="2" type="body"/>
          </p:nvPr>
        </p:nvSpPr>
        <p:spPr>
          <a:xfrm>
            <a:off x="419100" y="1524000"/>
            <a:ext cx="11335473" cy="51793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b="0" sz="32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94" name="Google Shape;294;p77"/>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295" name="Google Shape;295;p77"/>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p:cSld name="Code">
    <p:spTree>
      <p:nvGrpSpPr>
        <p:cNvPr id="296" name="Shape 296"/>
        <p:cNvGrpSpPr/>
        <p:nvPr/>
      </p:nvGrpSpPr>
      <p:grpSpPr>
        <a:xfrm>
          <a:off x="0" y="0"/>
          <a:ext cx="0" cy="0"/>
          <a:chOff x="0" y="0"/>
          <a:chExt cx="0" cy="0"/>
        </a:xfrm>
      </p:grpSpPr>
      <p:pic>
        <p:nvPicPr>
          <p:cNvPr id="297" name="Google Shape;297;p78"/>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298" name="Google Shape;298;p78"/>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78"/>
          <p:cNvSpPr txBox="1"/>
          <p:nvPr>
            <p:ph idx="1" type="body"/>
          </p:nvPr>
        </p:nvSpPr>
        <p:spPr>
          <a:xfrm>
            <a:off x="419100" y="1528175"/>
            <a:ext cx="11353800" cy="46487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400"/>
              <a:buNone/>
              <a:defRPr sz="1400">
                <a:solidFill>
                  <a:schemeClr val="dk1"/>
                </a:solidFill>
                <a:latin typeface="Droid Sans Mono"/>
                <a:ea typeface="Droid Sans Mono"/>
                <a:cs typeface="Droid Sans Mono"/>
                <a:sym typeface="Droid Sans Mono"/>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0" name="Google Shape;300;p78"/>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01" name="Google Shape;301;p78"/>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302" name="Google Shape;302;p78"/>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2 Up">
  <p:cSld name="Code 2 Up">
    <p:spTree>
      <p:nvGrpSpPr>
        <p:cNvPr id="303" name="Shape 303"/>
        <p:cNvGrpSpPr/>
        <p:nvPr/>
      </p:nvGrpSpPr>
      <p:grpSpPr>
        <a:xfrm>
          <a:off x="0" y="0"/>
          <a:ext cx="0" cy="0"/>
          <a:chOff x="0" y="0"/>
          <a:chExt cx="0" cy="0"/>
        </a:xfrm>
      </p:grpSpPr>
      <p:pic>
        <p:nvPicPr>
          <p:cNvPr id="304" name="Google Shape;304;p79"/>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305" name="Google Shape;305;p79"/>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79"/>
          <p:cNvSpPr txBox="1"/>
          <p:nvPr>
            <p:ph idx="1" type="body"/>
          </p:nvPr>
        </p:nvSpPr>
        <p:spPr>
          <a:xfrm>
            <a:off x="419100" y="1528175"/>
            <a:ext cx="5504688" cy="46487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400"/>
              <a:buNone/>
              <a:defRPr sz="1400">
                <a:solidFill>
                  <a:schemeClr val="dk1"/>
                </a:solidFill>
                <a:latin typeface="Droid Sans Mono"/>
                <a:ea typeface="Droid Sans Mono"/>
                <a:cs typeface="Droid Sans Mono"/>
                <a:sym typeface="Droid Sans Mono"/>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7" name="Google Shape;307;p79"/>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08" name="Google Shape;308;p79"/>
          <p:cNvSpPr txBox="1"/>
          <p:nvPr>
            <p:ph idx="2" type="body"/>
          </p:nvPr>
        </p:nvSpPr>
        <p:spPr>
          <a:xfrm>
            <a:off x="6246312" y="1524228"/>
            <a:ext cx="5504688" cy="46487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400"/>
              <a:buNone/>
              <a:defRPr sz="1400">
                <a:solidFill>
                  <a:schemeClr val="dk1"/>
                </a:solidFill>
                <a:latin typeface="Droid Sans Mono"/>
                <a:ea typeface="Droid Sans Mono"/>
                <a:cs typeface="Droid Sans Mono"/>
                <a:sym typeface="Droid Sans Mono"/>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09" name="Google Shape;309;p79"/>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310" name="Google Shape;310;p79"/>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cture">
  <p:cSld name="4 Picture">
    <p:spTree>
      <p:nvGrpSpPr>
        <p:cNvPr id="311" name="Shape 311"/>
        <p:cNvGrpSpPr/>
        <p:nvPr/>
      </p:nvGrpSpPr>
      <p:grpSpPr>
        <a:xfrm>
          <a:off x="0" y="0"/>
          <a:ext cx="0" cy="0"/>
          <a:chOff x="0" y="0"/>
          <a:chExt cx="0" cy="0"/>
        </a:xfrm>
      </p:grpSpPr>
      <p:pic>
        <p:nvPicPr>
          <p:cNvPr id="312" name="Google Shape;312;p80"/>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313" name="Google Shape;313;p80"/>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4" name="Google Shape;314;p80"/>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15" name="Google Shape;315;p80"/>
          <p:cNvSpPr txBox="1"/>
          <p:nvPr>
            <p:ph idx="1" type="body"/>
          </p:nvPr>
        </p:nvSpPr>
        <p:spPr>
          <a:xfrm>
            <a:off x="411876" y="3793944"/>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6" name="Google Shape;316;p80"/>
          <p:cNvSpPr/>
          <p:nvPr>
            <p:ph idx="2" type="pic"/>
          </p:nvPr>
        </p:nvSpPr>
        <p:spPr>
          <a:xfrm>
            <a:off x="419100" y="1524000"/>
            <a:ext cx="2679192" cy="2103120"/>
          </a:xfrm>
          <a:prstGeom prst="rect">
            <a:avLst/>
          </a:prstGeom>
          <a:noFill/>
          <a:ln>
            <a:noFill/>
          </a:ln>
        </p:spPr>
      </p:sp>
      <p:sp>
        <p:nvSpPr>
          <p:cNvPr id="317" name="Google Shape;317;p80"/>
          <p:cNvSpPr txBox="1"/>
          <p:nvPr>
            <p:ph idx="3" type="body"/>
          </p:nvPr>
        </p:nvSpPr>
        <p:spPr>
          <a:xfrm>
            <a:off x="9086484" y="3793944"/>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 name="Google Shape;318;p80"/>
          <p:cNvSpPr/>
          <p:nvPr>
            <p:ph idx="4" type="pic"/>
          </p:nvPr>
        </p:nvSpPr>
        <p:spPr>
          <a:xfrm>
            <a:off x="9093708" y="1524000"/>
            <a:ext cx="2679192" cy="2103120"/>
          </a:xfrm>
          <a:prstGeom prst="rect">
            <a:avLst/>
          </a:prstGeom>
          <a:noFill/>
          <a:ln>
            <a:noFill/>
          </a:ln>
        </p:spPr>
      </p:sp>
      <p:sp>
        <p:nvSpPr>
          <p:cNvPr id="319" name="Google Shape;319;p80"/>
          <p:cNvSpPr txBox="1"/>
          <p:nvPr>
            <p:ph idx="5" type="body"/>
          </p:nvPr>
        </p:nvSpPr>
        <p:spPr>
          <a:xfrm>
            <a:off x="6200777" y="3793944"/>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 name="Google Shape;320;p80"/>
          <p:cNvSpPr/>
          <p:nvPr>
            <p:ph idx="6" type="pic"/>
          </p:nvPr>
        </p:nvSpPr>
        <p:spPr>
          <a:xfrm>
            <a:off x="6210469" y="1524000"/>
            <a:ext cx="2679192" cy="2103120"/>
          </a:xfrm>
          <a:prstGeom prst="rect">
            <a:avLst/>
          </a:prstGeom>
          <a:noFill/>
          <a:ln>
            <a:noFill/>
          </a:ln>
        </p:spPr>
      </p:sp>
      <p:sp>
        <p:nvSpPr>
          <p:cNvPr id="321" name="Google Shape;321;p80"/>
          <p:cNvSpPr txBox="1"/>
          <p:nvPr>
            <p:ph idx="7" type="body"/>
          </p:nvPr>
        </p:nvSpPr>
        <p:spPr>
          <a:xfrm>
            <a:off x="3315078" y="3793944"/>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2" name="Google Shape;322;p80"/>
          <p:cNvSpPr/>
          <p:nvPr>
            <p:ph idx="8" type="pic"/>
          </p:nvPr>
        </p:nvSpPr>
        <p:spPr>
          <a:xfrm>
            <a:off x="3322302" y="1524000"/>
            <a:ext cx="2679192" cy="2103120"/>
          </a:xfrm>
          <a:prstGeom prst="rect">
            <a:avLst/>
          </a:prstGeom>
          <a:noFill/>
          <a:ln>
            <a:noFill/>
          </a:ln>
        </p:spPr>
      </p:sp>
      <p:pic>
        <p:nvPicPr>
          <p:cNvPr id="323" name="Google Shape;323;p80"/>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324" name="Google Shape;324;p80"/>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Picture">
  <p:cSld name="6 Picture">
    <p:spTree>
      <p:nvGrpSpPr>
        <p:cNvPr id="325" name="Shape 325"/>
        <p:cNvGrpSpPr/>
        <p:nvPr/>
      </p:nvGrpSpPr>
      <p:grpSpPr>
        <a:xfrm>
          <a:off x="0" y="0"/>
          <a:ext cx="0" cy="0"/>
          <a:chOff x="0" y="0"/>
          <a:chExt cx="0" cy="0"/>
        </a:xfrm>
      </p:grpSpPr>
      <p:pic>
        <p:nvPicPr>
          <p:cNvPr id="326" name="Google Shape;326;p81"/>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327" name="Google Shape;327;p81"/>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8" name="Google Shape;328;p81"/>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29" name="Google Shape;329;p81"/>
          <p:cNvSpPr txBox="1"/>
          <p:nvPr>
            <p:ph idx="1" type="body"/>
          </p:nvPr>
        </p:nvSpPr>
        <p:spPr>
          <a:xfrm>
            <a:off x="411876" y="3446471"/>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0" name="Google Shape;330;p81"/>
          <p:cNvSpPr/>
          <p:nvPr>
            <p:ph idx="2" type="pic"/>
          </p:nvPr>
        </p:nvSpPr>
        <p:spPr>
          <a:xfrm>
            <a:off x="419100" y="1524000"/>
            <a:ext cx="3611880" cy="1755648"/>
          </a:xfrm>
          <a:prstGeom prst="rect">
            <a:avLst/>
          </a:prstGeom>
          <a:noFill/>
          <a:ln>
            <a:noFill/>
          </a:ln>
        </p:spPr>
      </p:sp>
      <p:sp>
        <p:nvSpPr>
          <p:cNvPr id="331" name="Google Shape;331;p81"/>
          <p:cNvSpPr txBox="1"/>
          <p:nvPr>
            <p:ph idx="3" type="body"/>
          </p:nvPr>
        </p:nvSpPr>
        <p:spPr>
          <a:xfrm>
            <a:off x="8153796" y="3446471"/>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2" name="Google Shape;332;p81"/>
          <p:cNvSpPr/>
          <p:nvPr>
            <p:ph idx="4" type="pic"/>
          </p:nvPr>
        </p:nvSpPr>
        <p:spPr>
          <a:xfrm>
            <a:off x="8161020" y="1524000"/>
            <a:ext cx="3611880" cy="1755648"/>
          </a:xfrm>
          <a:prstGeom prst="rect">
            <a:avLst/>
          </a:prstGeom>
          <a:noFill/>
          <a:ln>
            <a:noFill/>
          </a:ln>
        </p:spPr>
      </p:sp>
      <p:sp>
        <p:nvSpPr>
          <p:cNvPr id="333" name="Google Shape;333;p81"/>
          <p:cNvSpPr txBox="1"/>
          <p:nvPr>
            <p:ph idx="5" type="body"/>
          </p:nvPr>
        </p:nvSpPr>
        <p:spPr>
          <a:xfrm>
            <a:off x="4294312" y="3446471"/>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4" name="Google Shape;334;p81"/>
          <p:cNvSpPr/>
          <p:nvPr>
            <p:ph idx="6" type="pic"/>
          </p:nvPr>
        </p:nvSpPr>
        <p:spPr>
          <a:xfrm>
            <a:off x="4301536" y="1524000"/>
            <a:ext cx="3611880" cy="1755648"/>
          </a:xfrm>
          <a:prstGeom prst="rect">
            <a:avLst/>
          </a:prstGeom>
          <a:noFill/>
          <a:ln>
            <a:noFill/>
          </a:ln>
        </p:spPr>
      </p:sp>
      <p:sp>
        <p:nvSpPr>
          <p:cNvPr id="335" name="Google Shape;335;p81"/>
          <p:cNvSpPr txBox="1"/>
          <p:nvPr>
            <p:ph idx="7" type="body"/>
          </p:nvPr>
        </p:nvSpPr>
        <p:spPr>
          <a:xfrm>
            <a:off x="411876" y="5857160"/>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6" name="Google Shape;336;p81"/>
          <p:cNvSpPr/>
          <p:nvPr>
            <p:ph idx="8" type="pic"/>
          </p:nvPr>
        </p:nvSpPr>
        <p:spPr>
          <a:xfrm>
            <a:off x="419100" y="3934689"/>
            <a:ext cx="3611880" cy="1755648"/>
          </a:xfrm>
          <a:prstGeom prst="rect">
            <a:avLst/>
          </a:prstGeom>
          <a:noFill/>
          <a:ln>
            <a:noFill/>
          </a:ln>
        </p:spPr>
      </p:sp>
      <p:sp>
        <p:nvSpPr>
          <p:cNvPr id="337" name="Google Shape;337;p81"/>
          <p:cNvSpPr txBox="1"/>
          <p:nvPr>
            <p:ph idx="9" type="body"/>
          </p:nvPr>
        </p:nvSpPr>
        <p:spPr>
          <a:xfrm>
            <a:off x="8153796" y="5857160"/>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8" name="Google Shape;338;p81"/>
          <p:cNvSpPr/>
          <p:nvPr>
            <p:ph idx="13" type="pic"/>
          </p:nvPr>
        </p:nvSpPr>
        <p:spPr>
          <a:xfrm>
            <a:off x="8161020" y="3934689"/>
            <a:ext cx="3611880" cy="1755648"/>
          </a:xfrm>
          <a:prstGeom prst="rect">
            <a:avLst/>
          </a:prstGeom>
          <a:noFill/>
          <a:ln>
            <a:noFill/>
          </a:ln>
        </p:spPr>
      </p:sp>
      <p:sp>
        <p:nvSpPr>
          <p:cNvPr id="339" name="Google Shape;339;p81"/>
          <p:cNvSpPr txBox="1"/>
          <p:nvPr>
            <p:ph idx="14" type="body"/>
          </p:nvPr>
        </p:nvSpPr>
        <p:spPr>
          <a:xfrm>
            <a:off x="4294312" y="5857160"/>
            <a:ext cx="3619104" cy="30175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0" name="Google Shape;340;p81"/>
          <p:cNvSpPr/>
          <p:nvPr>
            <p:ph idx="15" type="pic"/>
          </p:nvPr>
        </p:nvSpPr>
        <p:spPr>
          <a:xfrm>
            <a:off x="4301536" y="3934689"/>
            <a:ext cx="3611880" cy="1755648"/>
          </a:xfrm>
          <a:prstGeom prst="rect">
            <a:avLst/>
          </a:prstGeom>
          <a:noFill/>
          <a:ln>
            <a:noFill/>
          </a:ln>
        </p:spPr>
      </p:sp>
      <p:pic>
        <p:nvPicPr>
          <p:cNvPr id="341" name="Google Shape;341;p81"/>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342" name="Google Shape;342;p81"/>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p:cSld name="Icons">
    <p:spTree>
      <p:nvGrpSpPr>
        <p:cNvPr id="343" name="Shape 343"/>
        <p:cNvGrpSpPr/>
        <p:nvPr/>
      </p:nvGrpSpPr>
      <p:grpSpPr>
        <a:xfrm>
          <a:off x="0" y="0"/>
          <a:ext cx="0" cy="0"/>
          <a:chOff x="0" y="0"/>
          <a:chExt cx="0" cy="0"/>
        </a:xfrm>
      </p:grpSpPr>
      <p:sp>
        <p:nvSpPr>
          <p:cNvPr id="344" name="Google Shape;344;p82"/>
          <p:cNvSpPr txBox="1"/>
          <p:nvPr>
            <p:ph idx="1" type="body"/>
          </p:nvPr>
        </p:nvSpPr>
        <p:spPr>
          <a:xfrm>
            <a:off x="411876" y="4011163"/>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5" name="Google Shape;345;p82"/>
          <p:cNvSpPr/>
          <p:nvPr>
            <p:ph idx="2" type="pic"/>
          </p:nvPr>
        </p:nvSpPr>
        <p:spPr>
          <a:xfrm>
            <a:off x="1069259" y="2626296"/>
            <a:ext cx="1188720" cy="1188720"/>
          </a:xfrm>
          <a:prstGeom prst="rect">
            <a:avLst/>
          </a:prstGeom>
          <a:noFill/>
          <a:ln>
            <a:noFill/>
          </a:ln>
        </p:spPr>
      </p:sp>
      <p:sp>
        <p:nvSpPr>
          <p:cNvPr id="346" name="Google Shape;346;p82"/>
          <p:cNvSpPr txBox="1"/>
          <p:nvPr>
            <p:ph idx="3" type="body"/>
          </p:nvPr>
        </p:nvSpPr>
        <p:spPr>
          <a:xfrm>
            <a:off x="9086484" y="4011163"/>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7" name="Google Shape;347;p82"/>
          <p:cNvSpPr txBox="1"/>
          <p:nvPr>
            <p:ph idx="4" type="body"/>
          </p:nvPr>
        </p:nvSpPr>
        <p:spPr>
          <a:xfrm>
            <a:off x="6177027" y="4011163"/>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8" name="Google Shape;348;p82"/>
          <p:cNvSpPr txBox="1"/>
          <p:nvPr>
            <p:ph idx="5" type="body"/>
          </p:nvPr>
        </p:nvSpPr>
        <p:spPr>
          <a:xfrm>
            <a:off x="3315078" y="4011163"/>
            <a:ext cx="2686416" cy="30304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000"/>
              <a:buNone/>
              <a:defRPr b="0"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9" name="Google Shape;349;p82"/>
          <p:cNvSpPr/>
          <p:nvPr>
            <p:ph idx="6" type="pic"/>
          </p:nvPr>
        </p:nvSpPr>
        <p:spPr>
          <a:xfrm>
            <a:off x="4049966" y="2626296"/>
            <a:ext cx="1188720" cy="1188720"/>
          </a:xfrm>
          <a:prstGeom prst="rect">
            <a:avLst/>
          </a:prstGeom>
          <a:noFill/>
          <a:ln>
            <a:noFill/>
          </a:ln>
        </p:spPr>
      </p:sp>
      <p:sp>
        <p:nvSpPr>
          <p:cNvPr id="350" name="Google Shape;350;p82"/>
          <p:cNvSpPr/>
          <p:nvPr>
            <p:ph idx="7" type="pic"/>
          </p:nvPr>
        </p:nvSpPr>
        <p:spPr>
          <a:xfrm>
            <a:off x="6911919" y="2626296"/>
            <a:ext cx="1188720" cy="1188720"/>
          </a:xfrm>
          <a:prstGeom prst="rect">
            <a:avLst/>
          </a:prstGeom>
          <a:noFill/>
          <a:ln>
            <a:noFill/>
          </a:ln>
        </p:spPr>
      </p:sp>
      <p:sp>
        <p:nvSpPr>
          <p:cNvPr id="351" name="Google Shape;351;p82"/>
          <p:cNvSpPr/>
          <p:nvPr>
            <p:ph idx="8" type="pic"/>
          </p:nvPr>
        </p:nvSpPr>
        <p:spPr>
          <a:xfrm>
            <a:off x="9773872" y="2626296"/>
            <a:ext cx="1188720" cy="1188720"/>
          </a:xfrm>
          <a:prstGeom prst="rect">
            <a:avLst/>
          </a:prstGeom>
          <a:noFill/>
          <a:ln>
            <a:noFill/>
          </a:ln>
        </p:spPr>
      </p:sp>
      <p:pic>
        <p:nvPicPr>
          <p:cNvPr id="352" name="Google Shape;352;p82"/>
          <p:cNvPicPr preferRelativeResize="0"/>
          <p:nvPr/>
        </p:nvPicPr>
        <p:blipFill rotWithShape="1">
          <a:blip r:embed="rId2">
            <a:alphaModFix/>
          </a:blip>
          <a:srcRect b="0" l="0" r="0" t="0"/>
          <a:stretch/>
        </p:blipFill>
        <p:spPr>
          <a:xfrm>
            <a:off x="9840052" y="365126"/>
            <a:ext cx="1910948" cy="449072"/>
          </a:xfrm>
          <a:prstGeom prst="rect">
            <a:avLst/>
          </a:prstGeom>
          <a:noFill/>
          <a:ln>
            <a:noFill/>
          </a:ln>
        </p:spPr>
      </p:pic>
      <p:pic>
        <p:nvPicPr>
          <p:cNvPr id="353" name="Google Shape;353;p82"/>
          <p:cNvPicPr preferRelativeResize="0"/>
          <p:nvPr/>
        </p:nvPicPr>
        <p:blipFill rotWithShape="1">
          <a:blip r:embed="rId3">
            <a:alphaModFix/>
          </a:blip>
          <a:srcRect b="3809" l="75552" r="3438" t="60520"/>
          <a:stretch/>
        </p:blipFill>
        <p:spPr>
          <a:xfrm rot="10800000">
            <a:off x="-1" y="-2"/>
            <a:ext cx="2268187" cy="2166103"/>
          </a:xfrm>
          <a:prstGeom prst="rect">
            <a:avLst/>
          </a:prstGeom>
          <a:noFill/>
          <a:ln>
            <a:noFill/>
          </a:ln>
        </p:spPr>
      </p:pic>
      <p:sp>
        <p:nvSpPr>
          <p:cNvPr id="354" name="Google Shape;354;p82"/>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55" name="Google Shape;355;p82"/>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spTree>
      <p:nvGrpSpPr>
        <p:cNvPr id="356" name="Shape 356"/>
        <p:cNvGrpSpPr/>
        <p:nvPr/>
      </p:nvGrpSpPr>
      <p:grpSpPr>
        <a:xfrm>
          <a:off x="0" y="0"/>
          <a:ext cx="0" cy="0"/>
          <a:chOff x="0" y="0"/>
          <a:chExt cx="0" cy="0"/>
        </a:xfrm>
      </p:grpSpPr>
      <p:pic>
        <p:nvPicPr>
          <p:cNvPr id="357" name="Google Shape;357;p83"/>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358" name="Google Shape;358;p83"/>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59" name="Google Shape;359;p83"/>
          <p:cNvPicPr preferRelativeResize="0"/>
          <p:nvPr/>
        </p:nvPicPr>
        <p:blipFill rotWithShape="1">
          <a:blip r:embed="rId3">
            <a:alphaModFix/>
          </a:blip>
          <a:srcRect b="0" l="0" r="0" t="0"/>
          <a:stretch/>
        </p:blipFill>
        <p:spPr>
          <a:xfrm>
            <a:off x="9840052" y="365126"/>
            <a:ext cx="1910948" cy="449073"/>
          </a:xfrm>
          <a:prstGeom prst="rect">
            <a:avLst/>
          </a:prstGeom>
          <a:noFill/>
          <a:ln>
            <a:noFill/>
          </a:ln>
        </p:spPr>
      </p:pic>
      <p:sp>
        <p:nvSpPr>
          <p:cNvPr id="360" name="Google Shape;360;p83"/>
          <p:cNvSpPr txBox="1"/>
          <p:nvPr>
            <p:ph idx="12" type="sldNum"/>
          </p:nvPr>
        </p:nvSpPr>
        <p:spPr>
          <a:xfrm>
            <a:off x="9029700"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61" name="Google Shape;361;p83"/>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62" name="Shape 362"/>
        <p:cNvGrpSpPr/>
        <p:nvPr/>
      </p:nvGrpSpPr>
      <p:grpSpPr>
        <a:xfrm>
          <a:off x="0" y="0"/>
          <a:ext cx="0" cy="0"/>
          <a:chOff x="0" y="0"/>
          <a:chExt cx="0" cy="0"/>
        </a:xfrm>
      </p:grpSpPr>
      <p:pic>
        <p:nvPicPr>
          <p:cNvPr id="363" name="Google Shape;363;p84"/>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364" name="Google Shape;364;p84"/>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65" name="Google Shape;365;p84"/>
          <p:cNvPicPr preferRelativeResize="0"/>
          <p:nvPr/>
        </p:nvPicPr>
        <p:blipFill rotWithShape="1">
          <a:blip r:embed="rId3">
            <a:alphaModFix/>
          </a:blip>
          <a:srcRect b="0" l="0" r="0" t="0"/>
          <a:stretch/>
        </p:blipFill>
        <p:spPr>
          <a:xfrm>
            <a:off x="9840052" y="365125"/>
            <a:ext cx="1910948" cy="449073"/>
          </a:xfrm>
          <a:prstGeom prst="rect">
            <a:avLst/>
          </a:prstGeom>
          <a:noFill/>
          <a:ln>
            <a:noFill/>
          </a:ln>
        </p:spPr>
      </p:pic>
      <p:sp>
        <p:nvSpPr>
          <p:cNvPr id="366" name="Google Shape;366;p84"/>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67" name="Google Shape;367;p84"/>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Light">
  <p:cSld name="Title Only Light">
    <p:spTree>
      <p:nvGrpSpPr>
        <p:cNvPr id="368" name="Shape 368"/>
        <p:cNvGrpSpPr/>
        <p:nvPr/>
      </p:nvGrpSpPr>
      <p:grpSpPr>
        <a:xfrm>
          <a:off x="0" y="0"/>
          <a:ext cx="0" cy="0"/>
          <a:chOff x="0" y="0"/>
          <a:chExt cx="0" cy="0"/>
        </a:xfrm>
      </p:grpSpPr>
      <p:sp>
        <p:nvSpPr>
          <p:cNvPr id="369" name="Google Shape;369;p85"/>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4000"/>
              <a:buFont typeface="Arial"/>
              <a:buNone/>
              <a:defRPr sz="4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0" name="Google Shape;370;p85"/>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371" name="Google Shape;371;p85"/>
          <p:cNvPicPr preferRelativeResize="0"/>
          <p:nvPr/>
        </p:nvPicPr>
        <p:blipFill rotWithShape="1">
          <a:blip r:embed="rId2">
            <a:alphaModFix/>
          </a:blip>
          <a:srcRect b="0" l="0" r="0" t="0"/>
          <a:stretch/>
        </p:blipFill>
        <p:spPr>
          <a:xfrm>
            <a:off x="9840052" y="365125"/>
            <a:ext cx="1910948" cy="449072"/>
          </a:xfrm>
          <a:prstGeom prst="rect">
            <a:avLst/>
          </a:prstGeom>
          <a:noFill/>
          <a:ln>
            <a:noFill/>
          </a:ln>
        </p:spPr>
      </p:pic>
      <p:sp>
        <p:nvSpPr>
          <p:cNvPr id="372" name="Google Shape;372;p85"/>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gram">
  <p:cSld name="Diagram">
    <p:spTree>
      <p:nvGrpSpPr>
        <p:cNvPr id="373" name="Shape 373"/>
        <p:cNvGrpSpPr/>
        <p:nvPr/>
      </p:nvGrpSpPr>
      <p:grpSpPr>
        <a:xfrm>
          <a:off x="0" y="0"/>
          <a:ext cx="0" cy="0"/>
          <a:chOff x="0" y="0"/>
          <a:chExt cx="0" cy="0"/>
        </a:xfrm>
      </p:grpSpPr>
      <p:pic>
        <p:nvPicPr>
          <p:cNvPr id="374" name="Google Shape;374;p86"/>
          <p:cNvPicPr preferRelativeResize="0"/>
          <p:nvPr/>
        </p:nvPicPr>
        <p:blipFill rotWithShape="1">
          <a:blip r:embed="rId2">
            <a:alphaModFix/>
          </a:blip>
          <a:srcRect b="0" l="0" r="0" t="0"/>
          <a:stretch/>
        </p:blipFill>
        <p:spPr>
          <a:xfrm>
            <a:off x="10301048" y="6435724"/>
            <a:ext cx="878193" cy="206375"/>
          </a:xfrm>
          <a:prstGeom prst="rect">
            <a:avLst/>
          </a:prstGeom>
          <a:noFill/>
          <a:ln>
            <a:noFill/>
          </a:ln>
        </p:spPr>
      </p:pic>
      <p:sp>
        <p:nvSpPr>
          <p:cNvPr id="375" name="Google Shape;375;p86"/>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rgbClr val="888888"/>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6" name="Google Shape;376;p86"/>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p:cSld name="Case Study">
    <p:spTree>
      <p:nvGrpSpPr>
        <p:cNvPr id="377" name="Shape 377"/>
        <p:cNvGrpSpPr/>
        <p:nvPr/>
      </p:nvGrpSpPr>
      <p:grpSpPr>
        <a:xfrm>
          <a:off x="0" y="0"/>
          <a:ext cx="0" cy="0"/>
          <a:chOff x="0" y="0"/>
          <a:chExt cx="0" cy="0"/>
        </a:xfrm>
      </p:grpSpPr>
      <p:sp>
        <p:nvSpPr>
          <p:cNvPr id="378" name="Google Shape;378;p87"/>
          <p:cNvSpPr txBox="1"/>
          <p:nvPr>
            <p:ph type="title"/>
          </p:nvPr>
        </p:nvSpPr>
        <p:spPr>
          <a:xfrm>
            <a:off x="419100" y="365125"/>
            <a:ext cx="8298180"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4000"/>
              <a:buFont typeface="Arial"/>
              <a:buNone/>
              <a:defRPr sz="4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9" name="Google Shape;379;p87"/>
          <p:cNvSpPr txBox="1"/>
          <p:nvPr>
            <p:ph idx="12" type="sldNum"/>
          </p:nvPr>
        </p:nvSpPr>
        <p:spPr>
          <a:xfrm>
            <a:off x="9029700"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80" name="Google Shape;380;p87"/>
          <p:cNvSpPr txBox="1"/>
          <p:nvPr>
            <p:ph idx="1" type="body"/>
          </p:nvPr>
        </p:nvSpPr>
        <p:spPr>
          <a:xfrm>
            <a:off x="6076191" y="1803345"/>
            <a:ext cx="2656066" cy="199304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67"/>
              <a:buNone/>
              <a:defRPr sz="1867"/>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1" name="Google Shape;381;p87"/>
          <p:cNvSpPr txBox="1"/>
          <p:nvPr>
            <p:ph idx="2" type="body"/>
          </p:nvPr>
        </p:nvSpPr>
        <p:spPr>
          <a:xfrm>
            <a:off x="3251457" y="1803345"/>
            <a:ext cx="2656066" cy="199304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67"/>
              <a:buNone/>
              <a:defRPr sz="1867"/>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2" name="Google Shape;382;p87"/>
          <p:cNvSpPr txBox="1"/>
          <p:nvPr>
            <p:ph idx="3" type="body"/>
          </p:nvPr>
        </p:nvSpPr>
        <p:spPr>
          <a:xfrm>
            <a:off x="419100" y="1340942"/>
            <a:ext cx="2656067" cy="390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6C2B4"/>
              </a:buClr>
              <a:buSzPts val="2000"/>
              <a:buNone/>
              <a:defRPr b="0" sz="2000">
                <a:solidFill>
                  <a:srgbClr val="36C2B4"/>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3" name="Google Shape;383;p87"/>
          <p:cNvSpPr txBox="1"/>
          <p:nvPr>
            <p:ph idx="4" type="body"/>
          </p:nvPr>
        </p:nvSpPr>
        <p:spPr>
          <a:xfrm>
            <a:off x="419102" y="1803345"/>
            <a:ext cx="2656066" cy="199304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67"/>
              <a:buNone/>
              <a:defRPr sz="1867"/>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4" name="Google Shape;384;p87"/>
          <p:cNvSpPr/>
          <p:nvPr/>
        </p:nvSpPr>
        <p:spPr>
          <a:xfrm>
            <a:off x="9029701" y="0"/>
            <a:ext cx="3188474" cy="6875492"/>
          </a:xfrm>
          <a:prstGeom prst="rect">
            <a:avLst/>
          </a:prstGeom>
          <a:solidFill>
            <a:srgbClr val="232F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761"/>
              <a:buFont typeface="Arial"/>
              <a:buNone/>
            </a:pPr>
            <a:r>
              <a:t/>
            </a:r>
            <a:endParaRPr b="0" i="0" sz="1761" u="none" cap="none" strike="noStrike">
              <a:solidFill>
                <a:srgbClr val="FFFFFF"/>
              </a:solidFill>
              <a:latin typeface="Arial"/>
              <a:ea typeface="Arial"/>
              <a:cs typeface="Arial"/>
              <a:sym typeface="Arial"/>
            </a:endParaRPr>
          </a:p>
        </p:txBody>
      </p:sp>
      <p:sp>
        <p:nvSpPr>
          <p:cNvPr id="385" name="Google Shape;385;p87"/>
          <p:cNvSpPr/>
          <p:nvPr/>
        </p:nvSpPr>
        <p:spPr>
          <a:xfrm>
            <a:off x="0" y="4020640"/>
            <a:ext cx="9029700" cy="283736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761"/>
              <a:buFont typeface="Arial"/>
              <a:buNone/>
            </a:pPr>
            <a:r>
              <a:t/>
            </a:r>
            <a:endParaRPr b="0" i="0" sz="1761" u="none" cap="none" strike="noStrike">
              <a:solidFill>
                <a:srgbClr val="FFFFFF"/>
              </a:solidFill>
              <a:latin typeface="Arial"/>
              <a:ea typeface="Arial"/>
              <a:cs typeface="Arial"/>
              <a:sym typeface="Arial"/>
            </a:endParaRPr>
          </a:p>
        </p:txBody>
      </p:sp>
      <p:sp>
        <p:nvSpPr>
          <p:cNvPr id="386" name="Google Shape;386;p87"/>
          <p:cNvSpPr txBox="1"/>
          <p:nvPr>
            <p:ph idx="5" type="body"/>
          </p:nvPr>
        </p:nvSpPr>
        <p:spPr>
          <a:xfrm>
            <a:off x="9327146" y="365126"/>
            <a:ext cx="2445755" cy="951555"/>
          </a:xfrm>
          <a:prstGeom prst="rect">
            <a:avLst/>
          </a:prstGeom>
          <a:solidFill>
            <a:schemeClr val="lt1"/>
          </a:solid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2800"/>
              <a:buNone/>
              <a:defRPr>
                <a:solidFill>
                  <a:schemeClr val="lt2"/>
                </a:solidFill>
              </a:defRPr>
            </a:lvl1pPr>
            <a:lvl2pPr indent="-381000" lvl="1" marL="914400" algn="l">
              <a:lnSpc>
                <a:spcPct val="90000"/>
              </a:lnSpc>
              <a:spcBef>
                <a:spcPts val="500"/>
              </a:spcBef>
              <a:spcAft>
                <a:spcPts val="0"/>
              </a:spcAft>
              <a:buClr>
                <a:schemeClr val="lt2"/>
              </a:buClr>
              <a:buSzPts val="2400"/>
              <a:buChar char="•"/>
              <a:defRPr>
                <a:solidFill>
                  <a:schemeClr val="lt2"/>
                </a:solidFill>
              </a:defRPr>
            </a:lvl2pPr>
            <a:lvl3pPr indent="-355600" lvl="2" marL="1371600" algn="l">
              <a:lnSpc>
                <a:spcPct val="90000"/>
              </a:lnSpc>
              <a:spcBef>
                <a:spcPts val="500"/>
              </a:spcBef>
              <a:spcAft>
                <a:spcPts val="0"/>
              </a:spcAft>
              <a:buClr>
                <a:schemeClr val="lt2"/>
              </a:buClr>
              <a:buSzPts val="2000"/>
              <a:buChar char="•"/>
              <a:defRPr>
                <a:solidFill>
                  <a:schemeClr val="lt2"/>
                </a:solidFill>
              </a:defRPr>
            </a:lvl3pPr>
            <a:lvl4pPr indent="-342900" lvl="3" marL="1828800" algn="l">
              <a:lnSpc>
                <a:spcPct val="90000"/>
              </a:lnSpc>
              <a:spcBef>
                <a:spcPts val="500"/>
              </a:spcBef>
              <a:spcAft>
                <a:spcPts val="0"/>
              </a:spcAft>
              <a:buClr>
                <a:schemeClr val="lt2"/>
              </a:buClr>
              <a:buSzPts val="1800"/>
              <a:buChar char="•"/>
              <a:defRPr>
                <a:solidFill>
                  <a:schemeClr val="lt2"/>
                </a:solidFill>
              </a:defRPr>
            </a:lvl4pPr>
            <a:lvl5pPr indent="-342900" lvl="4" marL="2286000" algn="l">
              <a:lnSpc>
                <a:spcPct val="90000"/>
              </a:lnSpc>
              <a:spcBef>
                <a:spcPts val="500"/>
              </a:spcBef>
              <a:spcAft>
                <a:spcPts val="0"/>
              </a:spcAft>
              <a:buClr>
                <a:schemeClr val="lt2"/>
              </a:buClr>
              <a:buSzPts val="1800"/>
              <a:buChar char="•"/>
              <a:defRPr>
                <a:solidFill>
                  <a:schemeClr val="lt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7" name="Google Shape;387;p87"/>
          <p:cNvSpPr txBox="1"/>
          <p:nvPr>
            <p:ph idx="6" type="body"/>
          </p:nvPr>
        </p:nvSpPr>
        <p:spPr>
          <a:xfrm>
            <a:off x="3259838" y="1340942"/>
            <a:ext cx="2656067" cy="390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6C2B4"/>
              </a:buClr>
              <a:buSzPts val="2000"/>
              <a:buNone/>
              <a:defRPr b="0" sz="2000">
                <a:solidFill>
                  <a:srgbClr val="36C2B4"/>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8" name="Google Shape;388;p87"/>
          <p:cNvSpPr txBox="1"/>
          <p:nvPr>
            <p:ph idx="7" type="body"/>
          </p:nvPr>
        </p:nvSpPr>
        <p:spPr>
          <a:xfrm>
            <a:off x="6076190" y="1340942"/>
            <a:ext cx="2656067" cy="390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6C2B4"/>
              </a:buClr>
              <a:buSzPts val="2000"/>
              <a:buNone/>
              <a:defRPr b="0" sz="2000">
                <a:solidFill>
                  <a:srgbClr val="36C2B4"/>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9" name="Google Shape;389;p87"/>
          <p:cNvSpPr txBox="1"/>
          <p:nvPr>
            <p:ph idx="8" type="body"/>
          </p:nvPr>
        </p:nvSpPr>
        <p:spPr>
          <a:xfrm>
            <a:off x="790222" y="4444327"/>
            <a:ext cx="7455707" cy="1311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0" name="Google Shape;390;p87"/>
          <p:cNvSpPr txBox="1"/>
          <p:nvPr>
            <p:ph idx="9" type="body"/>
          </p:nvPr>
        </p:nvSpPr>
        <p:spPr>
          <a:xfrm>
            <a:off x="790222" y="5870446"/>
            <a:ext cx="7455707" cy="41370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b="0" sz="2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91" name="Google Shape;391;p87"/>
          <p:cNvPicPr preferRelativeResize="0"/>
          <p:nvPr/>
        </p:nvPicPr>
        <p:blipFill rotWithShape="1">
          <a:blip r:embed="rId2">
            <a:alphaModFix/>
          </a:blip>
          <a:srcRect b="0" l="0" r="0" t="0"/>
          <a:stretch/>
        </p:blipFill>
        <p:spPr>
          <a:xfrm>
            <a:off x="9327092" y="6089840"/>
            <a:ext cx="1910948" cy="449073"/>
          </a:xfrm>
          <a:prstGeom prst="rect">
            <a:avLst/>
          </a:prstGeom>
          <a:noFill/>
          <a:ln>
            <a:noFill/>
          </a:ln>
        </p:spPr>
      </p:pic>
      <p:sp>
        <p:nvSpPr>
          <p:cNvPr id="392" name="Google Shape;392;p87"/>
          <p:cNvSpPr txBox="1"/>
          <p:nvPr>
            <p:ph idx="13" type="body"/>
          </p:nvPr>
        </p:nvSpPr>
        <p:spPr>
          <a:xfrm>
            <a:off x="9327093" y="1564153"/>
            <a:ext cx="2445808" cy="121291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3" name="Google Shape;393;p87"/>
          <p:cNvSpPr txBox="1"/>
          <p:nvPr/>
        </p:nvSpPr>
        <p:spPr>
          <a:xfrm>
            <a:off x="290923" y="3889248"/>
            <a:ext cx="770467" cy="23084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aseline="30000" lang="en-US" sz="14400">
                <a:solidFill>
                  <a:schemeClr val="lt1"/>
                </a:solidFill>
                <a:latin typeface="Arial"/>
                <a:ea typeface="Arial"/>
                <a:cs typeface="Arial"/>
                <a:sym typeface="Arial"/>
              </a:rPr>
              <a:t>“</a:t>
            </a:r>
            <a:endParaRPr sz="14400">
              <a:solidFill>
                <a:schemeClr val="lt1"/>
              </a:solidFill>
              <a:latin typeface="Arial"/>
              <a:ea typeface="Arial"/>
              <a:cs typeface="Arial"/>
              <a:sym typeface="Arial"/>
            </a:endParaRPr>
          </a:p>
        </p:txBody>
      </p:sp>
      <p:sp>
        <p:nvSpPr>
          <p:cNvPr id="394" name="Google Shape;394;p87"/>
          <p:cNvSpPr txBox="1"/>
          <p:nvPr>
            <p:ph idx="14" type="body"/>
          </p:nvPr>
        </p:nvSpPr>
        <p:spPr>
          <a:xfrm>
            <a:off x="9327145" y="3177326"/>
            <a:ext cx="2445808" cy="275849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5" name="Google Shape;395;p87"/>
          <p:cNvSpPr txBox="1"/>
          <p:nvPr>
            <p:ph idx="15" type="body"/>
          </p:nvPr>
        </p:nvSpPr>
        <p:spPr>
          <a:xfrm>
            <a:off x="9327092" y="2880834"/>
            <a:ext cx="2445808" cy="29649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6" name="Google Shape;396;p87"/>
          <p:cNvSpPr txBox="1"/>
          <p:nvPr/>
        </p:nvSpPr>
        <p:spPr>
          <a:xfrm>
            <a:off x="8171365" y="5105029"/>
            <a:ext cx="770467" cy="23084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aseline="30000" lang="en-US" sz="14400">
                <a:solidFill>
                  <a:schemeClr val="lt1"/>
                </a:solidFill>
                <a:latin typeface="Arial"/>
                <a:ea typeface="Arial"/>
                <a:cs typeface="Arial"/>
                <a:sym typeface="Arial"/>
              </a:rPr>
              <a:t>“</a:t>
            </a:r>
            <a:endParaRPr sz="14400">
              <a:solidFill>
                <a:schemeClr val="lt1"/>
              </a:solidFill>
              <a:latin typeface="Arial"/>
              <a:ea typeface="Arial"/>
              <a:cs typeface="Arial"/>
              <a:sym typeface="Arial"/>
            </a:endParaRPr>
          </a:p>
        </p:txBody>
      </p:sp>
      <p:sp>
        <p:nvSpPr>
          <p:cNvPr id="397" name="Google Shape;397;p87"/>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ll Quote">
  <p:cSld name="Pull Quote">
    <p:bg>
      <p:bgPr>
        <a:solidFill>
          <a:srgbClr val="222E3C"/>
        </a:solidFill>
      </p:bgPr>
    </p:bg>
    <p:spTree>
      <p:nvGrpSpPr>
        <p:cNvPr id="398" name="Shape 398"/>
        <p:cNvGrpSpPr/>
        <p:nvPr/>
      </p:nvGrpSpPr>
      <p:grpSpPr>
        <a:xfrm>
          <a:off x="0" y="0"/>
          <a:ext cx="0" cy="0"/>
          <a:chOff x="0" y="0"/>
          <a:chExt cx="0" cy="0"/>
        </a:xfrm>
      </p:grpSpPr>
      <p:sp>
        <p:nvSpPr>
          <p:cNvPr id="399" name="Google Shape;399;p88"/>
          <p:cNvSpPr txBox="1"/>
          <p:nvPr>
            <p:ph type="title"/>
          </p:nvPr>
        </p:nvSpPr>
        <p:spPr>
          <a:xfrm>
            <a:off x="419100" y="1361287"/>
            <a:ext cx="11353800" cy="34163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0" name="Google Shape;400;p88"/>
          <p:cNvSpPr/>
          <p:nvPr/>
        </p:nvSpPr>
        <p:spPr>
          <a:xfrm>
            <a:off x="0" y="1444414"/>
            <a:ext cx="320634" cy="633768"/>
          </a:xfrm>
          <a:prstGeom prst="rect">
            <a:avLst/>
          </a:prstGeom>
          <a:solidFill>
            <a:srgbClr val="36C2B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401" name="Google Shape;401;p88"/>
          <p:cNvSpPr txBox="1"/>
          <p:nvPr>
            <p:ph idx="1" type="body"/>
          </p:nvPr>
        </p:nvSpPr>
        <p:spPr>
          <a:xfrm>
            <a:off x="419100" y="5024594"/>
            <a:ext cx="8059738" cy="4884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6C2B4"/>
              </a:buClr>
              <a:buSzPts val="2000"/>
              <a:buNone/>
              <a:defRPr b="0" sz="2000">
                <a:solidFill>
                  <a:srgbClr val="36C2B4"/>
                </a:solidFill>
                <a:latin typeface="Arial"/>
                <a:ea typeface="Arial"/>
                <a:cs typeface="Arial"/>
                <a:sym typeface="Aria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402" name="Google Shape;402;p88"/>
          <p:cNvPicPr preferRelativeResize="0"/>
          <p:nvPr/>
        </p:nvPicPr>
        <p:blipFill rotWithShape="1">
          <a:blip r:embed="rId2">
            <a:alphaModFix/>
          </a:blip>
          <a:srcRect b="0" l="0" r="0" t="0"/>
          <a:stretch/>
        </p:blipFill>
        <p:spPr>
          <a:xfrm>
            <a:off x="9861952" y="6089839"/>
            <a:ext cx="1910948" cy="449073"/>
          </a:xfrm>
          <a:prstGeom prst="rect">
            <a:avLst/>
          </a:prstGeom>
          <a:noFill/>
          <a:ln>
            <a:noFill/>
          </a:ln>
        </p:spPr>
      </p:pic>
      <p:sp>
        <p:nvSpPr>
          <p:cNvPr id="403" name="Google Shape;403;p88"/>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9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404" name="Shape 404"/>
        <p:cNvGrpSpPr/>
        <p:nvPr/>
      </p:nvGrpSpPr>
      <p:grpSpPr>
        <a:xfrm>
          <a:off x="0" y="0"/>
          <a:ext cx="0" cy="0"/>
          <a:chOff x="0" y="0"/>
          <a:chExt cx="0" cy="0"/>
        </a:xfrm>
      </p:grpSpPr>
      <p:pic>
        <p:nvPicPr>
          <p:cNvPr id="405" name="Google Shape;405;p89"/>
          <p:cNvPicPr preferRelativeResize="0"/>
          <p:nvPr/>
        </p:nvPicPr>
        <p:blipFill rotWithShape="1">
          <a:blip r:embed="rId2">
            <a:alphaModFix/>
          </a:blip>
          <a:srcRect b="0" l="0" r="0" t="0"/>
          <a:stretch/>
        </p:blipFill>
        <p:spPr>
          <a:xfrm>
            <a:off x="-81023" y="-47919"/>
            <a:ext cx="12361762" cy="6958182"/>
          </a:xfrm>
          <a:prstGeom prst="rect">
            <a:avLst/>
          </a:prstGeom>
          <a:noFill/>
          <a:ln>
            <a:noFill/>
          </a:ln>
        </p:spPr>
      </p:pic>
      <p:sp>
        <p:nvSpPr>
          <p:cNvPr id="406" name="Google Shape;406;p89"/>
          <p:cNvSpPr txBox="1"/>
          <p:nvPr/>
        </p:nvSpPr>
        <p:spPr>
          <a:xfrm>
            <a:off x="423968" y="6089839"/>
            <a:ext cx="8921913" cy="646331"/>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US" sz="900">
                <a:solidFill>
                  <a:schemeClr val="lt1"/>
                </a:solidFill>
                <a:latin typeface="Arial"/>
                <a:ea typeface="Arial"/>
                <a:cs typeface="Arial"/>
                <a:sym typeface="Arial"/>
              </a:rPr>
              <a:t>© 2020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a:solidFill>
                  <a:schemeClr val="lt1"/>
                </a:solidFill>
                <a:latin typeface="Arial"/>
                <a:ea typeface="Arial"/>
                <a:cs typeface="Arial"/>
                <a:sym typeface="Arial"/>
              </a:rPr>
              <a:t>aws-course-feedback@amazon.com</a:t>
            </a:r>
            <a:r>
              <a:rPr lang="en-US" sz="900">
                <a:solidFill>
                  <a:schemeClr val="lt1"/>
                </a:solidFill>
                <a:latin typeface="Arial"/>
                <a:ea typeface="Arial"/>
                <a:cs typeface="Arial"/>
                <a:sym typeface="Arial"/>
              </a:rPr>
              <a:t>. For all other questions, contact us at: </a:t>
            </a:r>
            <a:r>
              <a:rPr lang="en-US" sz="900" u="sng">
                <a:solidFill>
                  <a:schemeClr val="lt1"/>
                </a:solidFill>
                <a:latin typeface="Arial"/>
                <a:ea typeface="Arial"/>
                <a:cs typeface="Arial"/>
                <a:sym typeface="Arial"/>
              </a:rPr>
              <a:t>https://aws.amazon.com/contact-us/aws-training/</a:t>
            </a:r>
            <a:r>
              <a:rPr lang="en-US" sz="900">
                <a:solidFill>
                  <a:schemeClr val="lt1"/>
                </a:solidFill>
                <a:latin typeface="Arial"/>
                <a:ea typeface="Arial"/>
                <a:cs typeface="Arial"/>
                <a:sym typeface="Arial"/>
              </a:rPr>
              <a:t>. All trademarks are the property of their owners.</a:t>
            </a:r>
            <a:endParaRPr/>
          </a:p>
          <a:p>
            <a:pPr indent="0" lvl="0" marL="0" marR="0" rtl="0" algn="just">
              <a:spcBef>
                <a:spcPts val="0"/>
              </a:spcBef>
              <a:spcAft>
                <a:spcPts val="0"/>
              </a:spcAft>
              <a:buNone/>
            </a:pPr>
            <a:r>
              <a:t/>
            </a:r>
            <a:endParaRPr sz="900">
              <a:solidFill>
                <a:schemeClr val="dk1"/>
              </a:solidFill>
              <a:latin typeface="Arial"/>
              <a:ea typeface="Arial"/>
              <a:cs typeface="Arial"/>
              <a:sym typeface="Arial"/>
            </a:endParaRPr>
          </a:p>
        </p:txBody>
      </p:sp>
      <p:sp>
        <p:nvSpPr>
          <p:cNvPr id="407" name="Google Shape;407;p89"/>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08" name="Google Shape;408;p89"/>
          <p:cNvPicPr preferRelativeResize="0"/>
          <p:nvPr/>
        </p:nvPicPr>
        <p:blipFill rotWithShape="1">
          <a:blip r:embed="rId3">
            <a:alphaModFix/>
          </a:blip>
          <a:srcRect b="0" l="0" r="0" t="0"/>
          <a:stretch/>
        </p:blipFill>
        <p:spPr>
          <a:xfrm>
            <a:off x="9861952" y="6089839"/>
            <a:ext cx="1910948" cy="449073"/>
          </a:xfrm>
          <a:prstGeom prst="rect">
            <a:avLst/>
          </a:prstGeom>
          <a:noFill/>
          <a:ln>
            <a:noFill/>
          </a:ln>
        </p:spPr>
      </p:pic>
    </p:spTree>
  </p:cSld>
  <p:clrMapOvr>
    <a:masterClrMapping/>
  </p:clrMapOvr>
  <p:extLst>
    <p:ext uri="{DCECCB84-F9BA-43D5-87BE-67443E8EF086}">
      <p15:sldGuideLst>
        <p15:guide id="1" orient="horz" pos="21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p:cSld name="Transition Slide">
    <p:bg>
      <p:bgPr>
        <a:gradFill>
          <a:gsLst>
            <a:gs pos="0">
              <a:srgbClr val="36C2B4"/>
            </a:gs>
            <a:gs pos="100000">
              <a:srgbClr val="7EE5AA"/>
            </a:gs>
          </a:gsLst>
          <a:lin ang="16200000" scaled="0"/>
        </a:gradFill>
      </p:bgPr>
    </p:bg>
    <p:spTree>
      <p:nvGrpSpPr>
        <p:cNvPr id="409" name="Shape 409"/>
        <p:cNvGrpSpPr/>
        <p:nvPr/>
      </p:nvGrpSpPr>
      <p:grpSpPr>
        <a:xfrm>
          <a:off x="0" y="0"/>
          <a:ext cx="0" cy="0"/>
          <a:chOff x="0" y="0"/>
          <a:chExt cx="0" cy="0"/>
        </a:xfrm>
      </p:grpSpPr>
      <p:sp>
        <p:nvSpPr>
          <p:cNvPr id="410" name="Google Shape;410;p90"/>
          <p:cNvSpPr txBox="1"/>
          <p:nvPr>
            <p:ph type="title"/>
          </p:nvPr>
        </p:nvSpPr>
        <p:spPr>
          <a:xfrm>
            <a:off x="609601" y="2701346"/>
            <a:ext cx="10475057" cy="72765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4267"/>
              <a:buFont typeface="Arial"/>
              <a:buNone/>
              <a:defRPr b="0" i="0" sz="4267">
                <a:solidFill>
                  <a:srgbClr val="232F3E"/>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1" name="Google Shape;411;p90"/>
          <p:cNvSpPr/>
          <p:nvPr/>
        </p:nvSpPr>
        <p:spPr>
          <a:xfrm>
            <a:off x="1" y="2701345"/>
            <a:ext cx="373039" cy="72765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a:solidFill>
                <a:schemeClr val="lt1"/>
              </a:solidFill>
              <a:latin typeface="Arial"/>
              <a:ea typeface="Arial"/>
              <a:cs typeface="Arial"/>
              <a:sym typeface="Arial"/>
            </a:endParaRPr>
          </a:p>
        </p:txBody>
      </p:sp>
    </p:spTree>
  </p:cSld>
  <p:clrMapOvr>
    <a:masterClrMapping/>
  </p:clrMapOvr>
  <p:extLst>
    <p:ext uri="{DCECCB84-F9BA-43D5-87BE-67443E8EF086}">
      <p15:sldGuideLst>
        <p15:guide id="1" pos="2880">
          <p15:clr>
            <a:srgbClr val="FBAE40"/>
          </p15:clr>
        </p15:guide>
        <p15:guide id="2" pos="288">
          <p15:clr>
            <a:srgbClr val="FBAE40"/>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3.xml"/><Relationship Id="rId11" Type="http://schemas.openxmlformats.org/officeDocument/2006/relationships/slideLayout" Target="../slideLayouts/slideLayout34.xml"/><Relationship Id="rId22" Type="http://schemas.openxmlformats.org/officeDocument/2006/relationships/slideLayout" Target="../slideLayouts/slideLayout45.xml"/><Relationship Id="rId10" Type="http://schemas.openxmlformats.org/officeDocument/2006/relationships/slideLayout" Target="../slideLayouts/slideLayout33.xml"/><Relationship Id="rId21" Type="http://schemas.openxmlformats.org/officeDocument/2006/relationships/slideLayout" Target="../slideLayouts/slideLayout44.xml"/><Relationship Id="rId13" Type="http://schemas.openxmlformats.org/officeDocument/2006/relationships/slideLayout" Target="../slideLayouts/slideLayout36.xml"/><Relationship Id="rId24" Type="http://schemas.openxmlformats.org/officeDocument/2006/relationships/theme" Target="../theme/theme1.xml"/><Relationship Id="rId12" Type="http://schemas.openxmlformats.org/officeDocument/2006/relationships/slideLayout" Target="../slideLayouts/slideLayout35.xml"/><Relationship Id="rId23" Type="http://schemas.openxmlformats.org/officeDocument/2006/relationships/slideLayout" Target="../slideLayouts/slideLayout46.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5" Type="http://schemas.openxmlformats.org/officeDocument/2006/relationships/slideLayout" Target="../slideLayouts/slideLayout38.xml"/><Relationship Id="rId14" Type="http://schemas.openxmlformats.org/officeDocument/2006/relationships/slideLayout" Target="../slideLayouts/slideLayout37.xml"/><Relationship Id="rId17" Type="http://schemas.openxmlformats.org/officeDocument/2006/relationships/slideLayout" Target="../slideLayouts/slideLayout40.xml"/><Relationship Id="rId16" Type="http://schemas.openxmlformats.org/officeDocument/2006/relationships/slideLayout" Target="../slideLayouts/slideLayout39.xml"/><Relationship Id="rId5" Type="http://schemas.openxmlformats.org/officeDocument/2006/relationships/slideLayout" Target="../slideLayouts/slideLayout28.xml"/><Relationship Id="rId19" Type="http://schemas.openxmlformats.org/officeDocument/2006/relationships/slideLayout" Target="../slideLayouts/slideLayout42.xml"/><Relationship Id="rId6" Type="http://schemas.openxmlformats.org/officeDocument/2006/relationships/slideLayout" Target="../slideLayouts/slideLayout29.xml"/><Relationship Id="rId18" Type="http://schemas.openxmlformats.org/officeDocument/2006/relationships/slideLayout" Target="../slideLayouts/slideLayout41.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3"/>
          <p:cNvSpPr txBox="1"/>
          <p:nvPr>
            <p:ph type="title"/>
          </p:nvPr>
        </p:nvSpPr>
        <p:spPr>
          <a:xfrm>
            <a:off x="419100" y="365125"/>
            <a:ext cx="113538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Arial"/>
              <a:buNone/>
              <a:defRPr b="0" i="0" sz="40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3"/>
          <p:cNvSpPr txBox="1"/>
          <p:nvPr>
            <p:ph idx="1" type="body"/>
          </p:nvPr>
        </p:nvSpPr>
        <p:spPr>
          <a:xfrm>
            <a:off x="419100" y="1825625"/>
            <a:ext cx="113538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43"/>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3" name="Google Shape;13;p43"/>
          <p:cNvSpPr txBox="1"/>
          <p:nvPr>
            <p:ph idx="11" type="ftr"/>
          </p:nvPr>
        </p:nvSpPr>
        <p:spPr>
          <a:xfrm>
            <a:off x="419100" y="6356350"/>
            <a:ext cx="6871048"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9" name="Shape 209"/>
        <p:cNvGrpSpPr/>
        <p:nvPr/>
      </p:nvGrpSpPr>
      <p:grpSpPr>
        <a:xfrm>
          <a:off x="0" y="0"/>
          <a:ext cx="0" cy="0"/>
          <a:chOff x="0" y="0"/>
          <a:chExt cx="0" cy="0"/>
        </a:xfrm>
      </p:grpSpPr>
      <p:sp>
        <p:nvSpPr>
          <p:cNvPr id="210" name="Google Shape;210;p49"/>
          <p:cNvSpPr txBox="1"/>
          <p:nvPr>
            <p:ph type="title"/>
          </p:nvPr>
        </p:nvSpPr>
        <p:spPr>
          <a:xfrm>
            <a:off x="419100" y="365125"/>
            <a:ext cx="113538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Arial"/>
              <a:buNone/>
              <a:defRPr b="0" i="0" sz="40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1" name="Google Shape;211;p49"/>
          <p:cNvSpPr txBox="1"/>
          <p:nvPr>
            <p:ph idx="1" type="body"/>
          </p:nvPr>
        </p:nvSpPr>
        <p:spPr>
          <a:xfrm>
            <a:off x="419100" y="1825625"/>
            <a:ext cx="113538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12" name="Google Shape;212;p49"/>
          <p:cNvSpPr txBox="1"/>
          <p:nvPr>
            <p:ph idx="12" type="sldNum"/>
          </p:nvPr>
        </p:nvSpPr>
        <p:spPr>
          <a:xfrm>
            <a:off x="90297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a:solidFill>
                  <a:srgbClr val="888888"/>
                </a:solidFill>
                <a:latin typeface="Arial"/>
                <a:ea typeface="Arial"/>
                <a:cs typeface="Arial"/>
                <a:sym typeface="Arial"/>
              </a:defRPr>
            </a:lvl1pPr>
            <a:lvl2pPr indent="0" lvl="1" marL="0" marR="0" rtl="0" algn="r">
              <a:spcBef>
                <a:spcPts val="0"/>
              </a:spcBef>
              <a:buNone/>
              <a:defRPr b="0" i="0" sz="900">
                <a:solidFill>
                  <a:srgbClr val="888888"/>
                </a:solidFill>
                <a:latin typeface="Arial"/>
                <a:ea typeface="Arial"/>
                <a:cs typeface="Arial"/>
                <a:sym typeface="Arial"/>
              </a:defRPr>
            </a:lvl2pPr>
            <a:lvl3pPr indent="0" lvl="2" marL="0" marR="0" rtl="0" algn="r">
              <a:spcBef>
                <a:spcPts val="0"/>
              </a:spcBef>
              <a:buNone/>
              <a:defRPr b="0" i="0" sz="900">
                <a:solidFill>
                  <a:srgbClr val="888888"/>
                </a:solidFill>
                <a:latin typeface="Arial"/>
                <a:ea typeface="Arial"/>
                <a:cs typeface="Arial"/>
                <a:sym typeface="Arial"/>
              </a:defRPr>
            </a:lvl3pPr>
            <a:lvl4pPr indent="0" lvl="3" marL="0" marR="0" rtl="0" algn="r">
              <a:spcBef>
                <a:spcPts val="0"/>
              </a:spcBef>
              <a:buNone/>
              <a:defRPr b="0" i="0" sz="900">
                <a:solidFill>
                  <a:srgbClr val="888888"/>
                </a:solidFill>
                <a:latin typeface="Arial"/>
                <a:ea typeface="Arial"/>
                <a:cs typeface="Arial"/>
                <a:sym typeface="Arial"/>
              </a:defRPr>
            </a:lvl4pPr>
            <a:lvl5pPr indent="0" lvl="4" marL="0" marR="0" rtl="0" algn="r">
              <a:spcBef>
                <a:spcPts val="0"/>
              </a:spcBef>
              <a:buNone/>
              <a:defRPr b="0" i="0" sz="900">
                <a:solidFill>
                  <a:srgbClr val="888888"/>
                </a:solidFill>
                <a:latin typeface="Arial"/>
                <a:ea typeface="Arial"/>
                <a:cs typeface="Arial"/>
                <a:sym typeface="Arial"/>
              </a:defRPr>
            </a:lvl5pPr>
            <a:lvl6pPr indent="0" lvl="5" marL="0" marR="0" rtl="0" algn="r">
              <a:spcBef>
                <a:spcPts val="0"/>
              </a:spcBef>
              <a:buNone/>
              <a:defRPr b="0" i="0" sz="900">
                <a:solidFill>
                  <a:srgbClr val="888888"/>
                </a:solidFill>
                <a:latin typeface="Arial"/>
                <a:ea typeface="Arial"/>
                <a:cs typeface="Arial"/>
                <a:sym typeface="Arial"/>
              </a:defRPr>
            </a:lvl6pPr>
            <a:lvl7pPr indent="0" lvl="6" marL="0" marR="0" rtl="0" algn="r">
              <a:spcBef>
                <a:spcPts val="0"/>
              </a:spcBef>
              <a:buNone/>
              <a:defRPr b="0" i="0" sz="900">
                <a:solidFill>
                  <a:srgbClr val="888888"/>
                </a:solidFill>
                <a:latin typeface="Arial"/>
                <a:ea typeface="Arial"/>
                <a:cs typeface="Arial"/>
                <a:sym typeface="Arial"/>
              </a:defRPr>
            </a:lvl7pPr>
            <a:lvl8pPr indent="0" lvl="7" marL="0" marR="0" rtl="0" algn="r">
              <a:spcBef>
                <a:spcPts val="0"/>
              </a:spcBef>
              <a:buNone/>
              <a:defRPr b="0" i="0" sz="900">
                <a:solidFill>
                  <a:srgbClr val="888888"/>
                </a:solidFill>
                <a:latin typeface="Arial"/>
                <a:ea typeface="Arial"/>
                <a:cs typeface="Arial"/>
                <a:sym typeface="Arial"/>
              </a:defRPr>
            </a:lvl8pPr>
            <a:lvl9pPr indent="0" lvl="8" marL="0" marR="0" rtl="0" algn="r">
              <a:spcBef>
                <a:spcPts val="0"/>
              </a:spcBef>
              <a:buNone/>
              <a:defRPr b="0" i="0"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13" name="Google Shape;213;p49"/>
          <p:cNvSpPr txBox="1"/>
          <p:nvPr>
            <p:ph idx="11" type="ftr"/>
          </p:nvPr>
        </p:nvSpPr>
        <p:spPr>
          <a:xfrm>
            <a:off x="419100" y="6356350"/>
            <a:ext cx="6871048"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22.png"/><Relationship Id="rId7" Type="http://schemas.openxmlformats.org/officeDocument/2006/relationships/image" Target="../media/image15.png"/><Relationship Id="rId8"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22.png"/><Relationship Id="rId7" Type="http://schemas.openxmlformats.org/officeDocument/2006/relationships/image" Target="../media/image15.png"/><Relationship Id="rId8"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22.png"/><Relationship Id="rId7" Type="http://schemas.openxmlformats.org/officeDocument/2006/relationships/image" Target="../media/image15.png"/><Relationship Id="rId8"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22.png"/><Relationship Id="rId7" Type="http://schemas.openxmlformats.org/officeDocument/2006/relationships/image" Target="../media/image15.png"/><Relationship Id="rId8"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22.png"/><Relationship Id="rId7" Type="http://schemas.openxmlformats.org/officeDocument/2006/relationships/image" Target="../media/image15.png"/><Relationship Id="rId8"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22.png"/><Relationship Id="rId7" Type="http://schemas.openxmlformats.org/officeDocument/2006/relationships/image" Target="../media/image15.png"/><Relationship Id="rId8"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22.png"/><Relationship Id="rId7" Type="http://schemas.openxmlformats.org/officeDocument/2006/relationships/image" Target="../media/image15.png"/><Relationship Id="rId8"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1" Type="http://schemas.openxmlformats.org/officeDocument/2006/relationships/image" Target="../media/image28.png"/><Relationship Id="rId10" Type="http://schemas.openxmlformats.org/officeDocument/2006/relationships/image" Target="../media/image30.png"/><Relationship Id="rId13" Type="http://schemas.openxmlformats.org/officeDocument/2006/relationships/image" Target="../media/image32.png"/><Relationship Id="rId12" Type="http://schemas.openxmlformats.org/officeDocument/2006/relationships/image" Target="../media/image38.png"/><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31.png"/><Relationship Id="rId9" Type="http://schemas.openxmlformats.org/officeDocument/2006/relationships/image" Target="../media/image34.png"/><Relationship Id="rId15" Type="http://schemas.openxmlformats.org/officeDocument/2006/relationships/hyperlink" Target="https://aws.highspot.com/items/600b2f73998ae456afb30890" TargetMode="External"/><Relationship Id="rId14" Type="http://schemas.openxmlformats.org/officeDocument/2006/relationships/image" Target="../media/image42.png"/><Relationship Id="rId16" Type="http://schemas.openxmlformats.org/officeDocument/2006/relationships/image" Target="../media/image35.png"/><Relationship Id="rId5" Type="http://schemas.openxmlformats.org/officeDocument/2006/relationships/image" Target="../media/image33.png"/><Relationship Id="rId6" Type="http://schemas.openxmlformats.org/officeDocument/2006/relationships/image" Target="../media/image27.png"/><Relationship Id="rId7" Type="http://schemas.openxmlformats.org/officeDocument/2006/relationships/image" Target="../media/image40.png"/><Relationship Id="rId8"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39.png"/><Relationship Id="rId4" Type="http://schemas.openxmlformats.org/officeDocument/2006/relationships/image" Target="../media/image36.png"/><Relationship Id="rId5" Type="http://schemas.openxmlformats.org/officeDocument/2006/relationships/image" Target="../media/image4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4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4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4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1.xml"/><Relationship Id="rId3" Type="http://schemas.openxmlformats.org/officeDocument/2006/relationships/image" Target="../media/image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1"/>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FF"/>
              </a:buClr>
              <a:buSzPts val="6000"/>
              <a:buFont typeface="Arial"/>
              <a:buNone/>
            </a:pPr>
            <a:r>
              <a:rPr lang="en-US">
                <a:solidFill>
                  <a:srgbClr val="FFFFFF"/>
                </a:solidFill>
              </a:rPr>
              <a:t>Migration and Innovation</a:t>
            </a:r>
            <a:endParaRPr>
              <a:latin typeface="Arial"/>
              <a:ea typeface="Arial"/>
              <a:cs typeface="Arial"/>
              <a:sym typeface="Arial"/>
            </a:endParaRPr>
          </a:p>
        </p:txBody>
      </p:sp>
      <p:sp>
        <p:nvSpPr>
          <p:cNvPr id="417" name="Google Shape;417;p1"/>
          <p:cNvSpPr txBox="1"/>
          <p:nvPr>
            <p:ph idx="1" type="body"/>
          </p:nvPr>
        </p:nvSpPr>
        <p:spPr>
          <a:xfrm>
            <a:off x="419100" y="2554355"/>
            <a:ext cx="8059738" cy="175709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000"/>
              <a:buNone/>
            </a:pPr>
            <a:r>
              <a:rPr lang="en-US"/>
              <a:t>Module 9</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2"/>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Module 9 objectives</a:t>
            </a:r>
            <a:endParaRPr/>
          </a:p>
        </p:txBody>
      </p:sp>
      <p:sp>
        <p:nvSpPr>
          <p:cNvPr id="423" name="Google Shape;423;p2"/>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88888"/>
              </a:buClr>
              <a:buSzPts val="900"/>
              <a:buFont typeface="Arial"/>
              <a:buNone/>
            </a:pPr>
            <a:r>
              <a:rPr b="0" i="0" lang="en-US" sz="900" u="none" cap="none" strike="noStrike">
                <a:solidFill>
                  <a:srgbClr val="888888"/>
                </a:solidFill>
                <a:latin typeface="Arial"/>
                <a:ea typeface="Arial"/>
                <a:cs typeface="Arial"/>
                <a:sym typeface="Arial"/>
              </a:rPr>
              <a:t>© 2022 Amazon Web Services, Inc. or its affiliates. All rights reserved.</a:t>
            </a:r>
            <a:endParaRPr b="0" i="0" sz="900" u="none" cap="none" strike="noStrike">
              <a:solidFill>
                <a:srgbClr val="888888"/>
              </a:solidFill>
              <a:latin typeface="Arial"/>
              <a:ea typeface="Arial"/>
              <a:cs typeface="Arial"/>
              <a:sym typeface="Arial"/>
            </a:endParaRPr>
          </a:p>
        </p:txBody>
      </p:sp>
      <p:pic>
        <p:nvPicPr>
          <p:cNvPr id="424" name="Google Shape;424;p2"/>
          <p:cNvPicPr preferRelativeResize="0"/>
          <p:nvPr/>
        </p:nvPicPr>
        <p:blipFill rotWithShape="1">
          <a:blip r:embed="rId3">
            <a:alphaModFix/>
          </a:blip>
          <a:srcRect b="0" l="0" r="0" t="0"/>
          <a:stretch/>
        </p:blipFill>
        <p:spPr>
          <a:xfrm>
            <a:off x="8214359" y="2509255"/>
            <a:ext cx="3776029" cy="2507671"/>
          </a:xfrm>
          <a:prstGeom prst="rect">
            <a:avLst/>
          </a:prstGeom>
          <a:noFill/>
          <a:ln>
            <a:noFill/>
          </a:ln>
        </p:spPr>
      </p:pic>
      <p:sp>
        <p:nvSpPr>
          <p:cNvPr id="425" name="Google Shape;425;p2"/>
          <p:cNvSpPr txBox="1"/>
          <p:nvPr>
            <p:ph idx="1" type="body"/>
          </p:nvPr>
        </p:nvSpPr>
        <p:spPr>
          <a:xfrm>
            <a:off x="419101" y="1302171"/>
            <a:ext cx="7618344" cy="505417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600"/>
              <a:buNone/>
            </a:pPr>
            <a:r>
              <a:rPr lang="en-US" sz="2600"/>
              <a:t>In this module, you will learn how to:</a:t>
            </a:r>
            <a:endParaRPr/>
          </a:p>
          <a:p>
            <a:pPr indent="-228600" lvl="0" marL="228600" rtl="0" algn="l">
              <a:lnSpc>
                <a:spcPct val="90000"/>
              </a:lnSpc>
              <a:spcBef>
                <a:spcPts val="1200"/>
              </a:spcBef>
              <a:spcAft>
                <a:spcPts val="0"/>
              </a:spcAft>
              <a:buClr>
                <a:schemeClr val="dk1"/>
              </a:buClr>
              <a:buSzPts val="2400"/>
              <a:buChar char="•"/>
            </a:pPr>
            <a:r>
              <a:rPr lang="en-US" sz="2400"/>
              <a:t>Describe migration and innovation in the </a:t>
            </a:r>
            <a:br>
              <a:rPr lang="en-US" sz="2400"/>
            </a:br>
            <a:r>
              <a:rPr lang="en-US" sz="2400"/>
              <a:t>AWS Cloud</a:t>
            </a:r>
            <a:endParaRPr/>
          </a:p>
          <a:p>
            <a:pPr indent="-228600" lvl="0" marL="228600" rtl="0" algn="l">
              <a:lnSpc>
                <a:spcPct val="90000"/>
              </a:lnSpc>
              <a:spcBef>
                <a:spcPts val="600"/>
              </a:spcBef>
              <a:spcAft>
                <a:spcPts val="0"/>
              </a:spcAft>
              <a:buClr>
                <a:schemeClr val="dk1"/>
              </a:buClr>
              <a:buSzPts val="2400"/>
              <a:buChar char="•"/>
            </a:pPr>
            <a:r>
              <a:rPr lang="en-US" sz="2400"/>
              <a:t>Summarize the AWS Cloud Adoption Framework (AWS CAF)</a:t>
            </a:r>
            <a:endParaRPr/>
          </a:p>
          <a:p>
            <a:pPr indent="-228600" lvl="0" marL="228600" rtl="0" algn="l">
              <a:lnSpc>
                <a:spcPct val="90000"/>
              </a:lnSpc>
              <a:spcBef>
                <a:spcPts val="600"/>
              </a:spcBef>
              <a:spcAft>
                <a:spcPts val="0"/>
              </a:spcAft>
              <a:buClr>
                <a:schemeClr val="dk1"/>
              </a:buClr>
              <a:buSzPts val="2400"/>
              <a:buChar char="•"/>
            </a:pPr>
            <a:r>
              <a:rPr lang="en-US" sz="2400"/>
              <a:t>Summarize the seven key factors of a cloud migration strategy</a:t>
            </a:r>
            <a:endParaRPr/>
          </a:p>
          <a:p>
            <a:pPr indent="-228600" lvl="0" marL="228600" rtl="0" algn="l">
              <a:lnSpc>
                <a:spcPct val="90000"/>
              </a:lnSpc>
              <a:spcBef>
                <a:spcPts val="600"/>
              </a:spcBef>
              <a:spcAft>
                <a:spcPts val="0"/>
              </a:spcAft>
              <a:buClr>
                <a:schemeClr val="dk1"/>
              </a:buClr>
              <a:buSzPts val="2400"/>
              <a:buChar char="•"/>
            </a:pPr>
            <a:r>
              <a:rPr lang="en-US" sz="2400"/>
              <a:t>Describe the benefits of AWS data migration solutions</a:t>
            </a:r>
            <a:endParaRPr/>
          </a:p>
          <a:p>
            <a:pPr indent="-228600" lvl="0" marL="228600" rtl="0" algn="l">
              <a:lnSpc>
                <a:spcPct val="90000"/>
              </a:lnSpc>
              <a:spcBef>
                <a:spcPts val="600"/>
              </a:spcBef>
              <a:spcAft>
                <a:spcPts val="0"/>
              </a:spcAft>
              <a:buClr>
                <a:schemeClr val="dk1"/>
              </a:buClr>
              <a:buSzPts val="2400"/>
              <a:buChar char="•"/>
            </a:pPr>
            <a:r>
              <a:rPr lang="en-US" sz="2400"/>
              <a:t>Summarize the broad scope of innovative solutions that AWS offers</a:t>
            </a:r>
            <a:endParaRPr/>
          </a:p>
          <a:p>
            <a:pPr indent="-228600" lvl="0" marL="228600" rtl="0" algn="l">
              <a:lnSpc>
                <a:spcPct val="90000"/>
              </a:lnSpc>
              <a:spcBef>
                <a:spcPts val="600"/>
              </a:spcBef>
              <a:spcAft>
                <a:spcPts val="0"/>
              </a:spcAft>
              <a:buClr>
                <a:schemeClr val="dk1"/>
              </a:buClr>
              <a:buSzPts val="2400"/>
              <a:buChar char="•"/>
            </a:pPr>
            <a:r>
              <a:rPr lang="en-US" sz="2400"/>
              <a:t>Summarize the six pillars of the AWS Well-Architected Framework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6000"/>
              <a:buFont typeface="Arial"/>
              <a:buNone/>
            </a:pPr>
            <a:r>
              <a:rPr lang="en-US"/>
              <a:t>AWS Cloud Adoption Framework</a:t>
            </a:r>
            <a:endParaRPr/>
          </a:p>
        </p:txBody>
      </p:sp>
      <p:sp>
        <p:nvSpPr>
          <p:cNvPr id="431" name="Google Shape;431;p3"/>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AWS Cloud Adoption Framework</a:t>
            </a:r>
            <a:endParaRPr/>
          </a:p>
        </p:txBody>
      </p:sp>
      <p:sp>
        <p:nvSpPr>
          <p:cNvPr id="437" name="Google Shape;437;p4"/>
          <p:cNvSpPr txBox="1"/>
          <p:nvPr>
            <p:ph idx="1" type="body"/>
          </p:nvPr>
        </p:nvSpPr>
        <p:spPr>
          <a:xfrm>
            <a:off x="419100" y="2125890"/>
            <a:ext cx="7290238" cy="2943813"/>
          </a:xfrm>
          <a:prstGeom prst="rect">
            <a:avLst/>
          </a:prstGeom>
          <a:noFill/>
          <a:ln>
            <a:noFill/>
          </a:ln>
        </p:spPr>
        <p:txBody>
          <a:bodyPr anchorCtr="0" anchor="ctr"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800"/>
              <a:buChar char="•"/>
            </a:pPr>
            <a:r>
              <a:rPr lang="en-US"/>
              <a:t>Provides advice to your company to enable a quick and smooth migration to AWS</a:t>
            </a:r>
            <a:endParaRPr/>
          </a:p>
          <a:p>
            <a:pPr indent="-228600" lvl="0" marL="228600" rtl="0" algn="l">
              <a:lnSpc>
                <a:spcPct val="100000"/>
              </a:lnSpc>
              <a:spcBef>
                <a:spcPts val="2000"/>
              </a:spcBef>
              <a:spcAft>
                <a:spcPts val="0"/>
              </a:spcAft>
              <a:buClr>
                <a:schemeClr val="dk1"/>
              </a:buClr>
              <a:buSzPts val="2800"/>
              <a:buChar char="•"/>
            </a:pPr>
            <a:r>
              <a:rPr lang="en-US">
                <a:latin typeface="Arial"/>
                <a:ea typeface="Arial"/>
                <a:cs typeface="Arial"/>
                <a:sym typeface="Arial"/>
              </a:rPr>
              <a:t>Organizes guidance into six areas of focus, called perspectives</a:t>
            </a:r>
            <a:endParaRPr/>
          </a:p>
        </p:txBody>
      </p:sp>
      <p:pic>
        <p:nvPicPr>
          <p:cNvPr id="438" name="Google Shape;438;p4"/>
          <p:cNvPicPr preferRelativeResize="0"/>
          <p:nvPr/>
        </p:nvPicPr>
        <p:blipFill rotWithShape="1">
          <a:blip r:embed="rId3">
            <a:alphaModFix/>
          </a:blip>
          <a:srcRect b="0" l="0" r="0" t="0"/>
          <a:stretch/>
        </p:blipFill>
        <p:spPr>
          <a:xfrm>
            <a:off x="7917180" y="2582701"/>
            <a:ext cx="3072384" cy="2030192"/>
          </a:xfrm>
          <a:prstGeom prst="rect">
            <a:avLst/>
          </a:prstGeom>
          <a:noFill/>
          <a:ln>
            <a:noFill/>
          </a:ln>
        </p:spPr>
      </p:pic>
      <p:sp>
        <p:nvSpPr>
          <p:cNvPr id="439" name="Google Shape;439;p4"/>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latin typeface="Arial"/>
                <a:ea typeface="Arial"/>
                <a:cs typeface="Arial"/>
                <a:sym typeface="Arial"/>
              </a:rPr>
              <a:t>Perspectives</a:t>
            </a:r>
            <a:endParaRPr/>
          </a:p>
        </p:txBody>
      </p:sp>
      <p:sp>
        <p:nvSpPr>
          <p:cNvPr id="445" name="Google Shape;445;p5"/>
          <p:cNvSpPr/>
          <p:nvPr/>
        </p:nvSpPr>
        <p:spPr>
          <a:xfrm>
            <a:off x="807604"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Business</a:t>
            </a:r>
            <a:endParaRPr b="0" i="0" sz="2400" u="none" cap="none" strike="noStrike">
              <a:solidFill>
                <a:schemeClr val="dk1"/>
              </a:solidFill>
              <a:latin typeface="Arial"/>
              <a:ea typeface="Arial"/>
              <a:cs typeface="Arial"/>
              <a:sym typeface="Arial"/>
            </a:endParaRPr>
          </a:p>
        </p:txBody>
      </p:sp>
      <p:sp>
        <p:nvSpPr>
          <p:cNvPr id="446" name="Google Shape;446;p5"/>
          <p:cNvSpPr/>
          <p:nvPr/>
        </p:nvSpPr>
        <p:spPr>
          <a:xfrm>
            <a:off x="2978049"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People</a:t>
            </a:r>
            <a:endParaRPr b="0" i="0" sz="2400" u="none" cap="none" strike="noStrike">
              <a:solidFill>
                <a:srgbClr val="232F3E"/>
              </a:solidFill>
              <a:latin typeface="Arial"/>
              <a:ea typeface="Arial"/>
              <a:cs typeface="Arial"/>
              <a:sym typeface="Arial"/>
            </a:endParaRPr>
          </a:p>
        </p:txBody>
      </p:sp>
      <p:sp>
        <p:nvSpPr>
          <p:cNvPr id="447" name="Google Shape;447;p5"/>
          <p:cNvSpPr/>
          <p:nvPr/>
        </p:nvSpPr>
        <p:spPr>
          <a:xfrm>
            <a:off x="5157207"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Governance</a:t>
            </a:r>
            <a:endParaRPr b="0" i="0" sz="2400" u="none" cap="none" strike="noStrike">
              <a:solidFill>
                <a:srgbClr val="232F3E"/>
              </a:solidFill>
              <a:latin typeface="Arial"/>
              <a:ea typeface="Arial"/>
              <a:cs typeface="Arial"/>
              <a:sym typeface="Arial"/>
            </a:endParaRPr>
          </a:p>
        </p:txBody>
      </p:sp>
      <p:sp>
        <p:nvSpPr>
          <p:cNvPr id="448" name="Google Shape;448;p5"/>
          <p:cNvSpPr/>
          <p:nvPr/>
        </p:nvSpPr>
        <p:spPr>
          <a:xfrm>
            <a:off x="692370"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Platform</a:t>
            </a:r>
            <a:endParaRPr/>
          </a:p>
        </p:txBody>
      </p:sp>
      <p:sp>
        <p:nvSpPr>
          <p:cNvPr id="449" name="Google Shape;449;p5"/>
          <p:cNvSpPr/>
          <p:nvPr/>
        </p:nvSpPr>
        <p:spPr>
          <a:xfrm>
            <a:off x="2882697"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Security</a:t>
            </a:r>
            <a:endParaRPr/>
          </a:p>
        </p:txBody>
      </p:sp>
      <p:sp>
        <p:nvSpPr>
          <p:cNvPr id="450" name="Google Shape;450;p5"/>
          <p:cNvSpPr/>
          <p:nvPr/>
        </p:nvSpPr>
        <p:spPr>
          <a:xfrm>
            <a:off x="5041973"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Operations</a:t>
            </a:r>
            <a:endParaRPr/>
          </a:p>
        </p:txBody>
      </p:sp>
      <p:sp>
        <p:nvSpPr>
          <p:cNvPr id="451" name="Google Shape;451;p5"/>
          <p:cNvSpPr txBox="1"/>
          <p:nvPr/>
        </p:nvSpPr>
        <p:spPr>
          <a:xfrm>
            <a:off x="8815892" y="2192281"/>
            <a:ext cx="2117558"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rgbClr val="507EFF"/>
                </a:solidFill>
                <a:latin typeface="Arial"/>
                <a:ea typeface="Arial"/>
                <a:cs typeface="Arial"/>
                <a:sym typeface="Arial"/>
              </a:rPr>
              <a:t>Business</a:t>
            </a:r>
            <a:endParaRPr/>
          </a:p>
          <a:p>
            <a:pPr indent="0" lvl="0" marL="0" marR="0" rtl="0" algn="ctr">
              <a:spcBef>
                <a:spcPts val="0"/>
              </a:spcBef>
              <a:spcAft>
                <a:spcPts val="0"/>
              </a:spcAft>
              <a:buNone/>
            </a:pPr>
            <a:r>
              <a:rPr b="0" i="0" lang="en-US" sz="2800" u="none" cap="none" strike="noStrike">
                <a:solidFill>
                  <a:srgbClr val="507EFF"/>
                </a:solidFill>
                <a:latin typeface="Arial"/>
                <a:ea typeface="Arial"/>
                <a:cs typeface="Arial"/>
                <a:sym typeface="Arial"/>
              </a:rPr>
              <a:t>capabilities</a:t>
            </a:r>
            <a:endParaRPr/>
          </a:p>
        </p:txBody>
      </p:sp>
      <p:sp>
        <p:nvSpPr>
          <p:cNvPr id="452" name="Google Shape;452;p5"/>
          <p:cNvSpPr txBox="1"/>
          <p:nvPr/>
        </p:nvSpPr>
        <p:spPr>
          <a:xfrm>
            <a:off x="8742420" y="4150349"/>
            <a:ext cx="2264503"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rgbClr val="507EFF"/>
                </a:solidFill>
                <a:latin typeface="Arial"/>
                <a:ea typeface="Arial"/>
                <a:cs typeface="Arial"/>
                <a:sym typeface="Arial"/>
              </a:rPr>
              <a:t>Technical</a:t>
            </a:r>
            <a:endParaRPr/>
          </a:p>
          <a:p>
            <a:pPr indent="0" lvl="0" marL="0" marR="0" rtl="0" algn="ctr">
              <a:spcBef>
                <a:spcPts val="0"/>
              </a:spcBef>
              <a:spcAft>
                <a:spcPts val="0"/>
              </a:spcAft>
              <a:buNone/>
            </a:pPr>
            <a:r>
              <a:rPr b="0" i="0" lang="en-US" sz="2800" u="none" cap="none" strike="noStrike">
                <a:solidFill>
                  <a:srgbClr val="507EFF"/>
                </a:solidFill>
                <a:latin typeface="Arial"/>
                <a:ea typeface="Arial"/>
                <a:cs typeface="Arial"/>
                <a:sym typeface="Arial"/>
              </a:rPr>
              <a:t>capabilities</a:t>
            </a:r>
            <a:endParaRPr/>
          </a:p>
        </p:txBody>
      </p:sp>
      <p:grpSp>
        <p:nvGrpSpPr>
          <p:cNvPr id="453" name="Google Shape;453;p5"/>
          <p:cNvGrpSpPr/>
          <p:nvPr/>
        </p:nvGrpSpPr>
        <p:grpSpPr>
          <a:xfrm>
            <a:off x="3452633" y="3950341"/>
            <a:ext cx="1112988" cy="1065005"/>
            <a:chOff x="6089845" y="3221263"/>
            <a:chExt cx="1112988" cy="1065005"/>
          </a:xfrm>
        </p:grpSpPr>
        <p:sp>
          <p:nvSpPr>
            <p:cNvPr id="454" name="Google Shape;454;p5"/>
            <p:cNvSpPr/>
            <p:nvPr/>
          </p:nvSpPr>
          <p:spPr>
            <a:xfrm>
              <a:off x="6089845" y="3221263"/>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5" name="Google Shape;455;p5"/>
            <p:cNvPicPr preferRelativeResize="0"/>
            <p:nvPr/>
          </p:nvPicPr>
          <p:blipFill rotWithShape="1">
            <a:blip r:embed="rId3">
              <a:alphaModFix/>
            </a:blip>
            <a:srcRect b="0" l="0" r="0" t="0"/>
            <a:stretch/>
          </p:blipFill>
          <p:spPr>
            <a:xfrm>
              <a:off x="6140318" y="3223753"/>
              <a:ext cx="1062515" cy="1062515"/>
            </a:xfrm>
            <a:prstGeom prst="rect">
              <a:avLst/>
            </a:prstGeom>
            <a:noFill/>
            <a:ln>
              <a:noFill/>
            </a:ln>
          </p:spPr>
        </p:pic>
      </p:grpSp>
      <p:grpSp>
        <p:nvGrpSpPr>
          <p:cNvPr id="456" name="Google Shape;456;p5"/>
          <p:cNvGrpSpPr/>
          <p:nvPr/>
        </p:nvGrpSpPr>
        <p:grpSpPr>
          <a:xfrm>
            <a:off x="5612448" y="2262971"/>
            <a:ext cx="1058062" cy="1063537"/>
            <a:chOff x="4792341" y="4406849"/>
            <a:chExt cx="1058062" cy="1063537"/>
          </a:xfrm>
        </p:grpSpPr>
        <p:sp>
          <p:nvSpPr>
            <p:cNvPr id="457" name="Google Shape;457;p5"/>
            <p:cNvSpPr/>
            <p:nvPr/>
          </p:nvSpPr>
          <p:spPr>
            <a:xfrm>
              <a:off x="4792341" y="4406849"/>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8" name="Google Shape;458;p5"/>
            <p:cNvPicPr preferRelativeResize="0"/>
            <p:nvPr/>
          </p:nvPicPr>
          <p:blipFill rotWithShape="1">
            <a:blip r:embed="rId4">
              <a:alphaModFix/>
            </a:blip>
            <a:srcRect b="0" l="0" r="0" t="0"/>
            <a:stretch/>
          </p:blipFill>
          <p:spPr>
            <a:xfrm>
              <a:off x="4814117" y="4434100"/>
              <a:ext cx="1036286" cy="1036286"/>
            </a:xfrm>
            <a:prstGeom prst="rect">
              <a:avLst/>
            </a:prstGeom>
            <a:noFill/>
            <a:ln>
              <a:noFill/>
            </a:ln>
          </p:spPr>
        </p:pic>
      </p:grpSp>
      <p:grpSp>
        <p:nvGrpSpPr>
          <p:cNvPr id="459" name="Google Shape;459;p5"/>
          <p:cNvGrpSpPr/>
          <p:nvPr/>
        </p:nvGrpSpPr>
        <p:grpSpPr>
          <a:xfrm>
            <a:off x="5611627" y="3955605"/>
            <a:ext cx="1040409" cy="1051505"/>
            <a:chOff x="6089845" y="4406849"/>
            <a:chExt cx="1040409" cy="1051505"/>
          </a:xfrm>
        </p:grpSpPr>
        <p:sp>
          <p:nvSpPr>
            <p:cNvPr id="460" name="Google Shape;460;p5"/>
            <p:cNvSpPr/>
            <p:nvPr/>
          </p:nvSpPr>
          <p:spPr>
            <a:xfrm>
              <a:off x="6089845" y="4406849"/>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1" name="Google Shape;461;p5"/>
            <p:cNvPicPr preferRelativeResize="0"/>
            <p:nvPr/>
          </p:nvPicPr>
          <p:blipFill rotWithShape="1">
            <a:blip r:embed="rId5">
              <a:alphaModFix/>
            </a:blip>
            <a:srcRect b="0" l="0" r="0" t="0"/>
            <a:stretch/>
          </p:blipFill>
          <p:spPr>
            <a:xfrm>
              <a:off x="6123694" y="4451794"/>
              <a:ext cx="1006560" cy="1006560"/>
            </a:xfrm>
            <a:prstGeom prst="rect">
              <a:avLst/>
            </a:prstGeom>
            <a:noFill/>
            <a:ln>
              <a:noFill/>
            </a:ln>
          </p:spPr>
        </p:pic>
      </p:grpSp>
      <p:grpSp>
        <p:nvGrpSpPr>
          <p:cNvPr id="462" name="Google Shape;462;p5"/>
          <p:cNvGrpSpPr/>
          <p:nvPr/>
        </p:nvGrpSpPr>
        <p:grpSpPr>
          <a:xfrm>
            <a:off x="1249989" y="3947611"/>
            <a:ext cx="1036839" cy="1036839"/>
            <a:chOff x="6089845" y="2000207"/>
            <a:chExt cx="1036839" cy="1036839"/>
          </a:xfrm>
        </p:grpSpPr>
        <p:sp>
          <p:nvSpPr>
            <p:cNvPr id="463" name="Google Shape;463;p5"/>
            <p:cNvSpPr/>
            <p:nvPr/>
          </p:nvSpPr>
          <p:spPr>
            <a:xfrm>
              <a:off x="6089845" y="2000207"/>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4" name="Google Shape;464;p5"/>
            <p:cNvPicPr preferRelativeResize="0"/>
            <p:nvPr/>
          </p:nvPicPr>
          <p:blipFill rotWithShape="1">
            <a:blip r:embed="rId6">
              <a:alphaModFix/>
            </a:blip>
            <a:srcRect b="0" l="0" r="0" t="0"/>
            <a:stretch/>
          </p:blipFill>
          <p:spPr>
            <a:xfrm>
              <a:off x="6172173" y="2058139"/>
              <a:ext cx="909603" cy="909603"/>
            </a:xfrm>
            <a:prstGeom prst="rect">
              <a:avLst/>
            </a:prstGeom>
            <a:noFill/>
            <a:ln>
              <a:noFill/>
            </a:ln>
          </p:spPr>
        </p:pic>
      </p:grpSp>
      <p:grpSp>
        <p:nvGrpSpPr>
          <p:cNvPr id="465" name="Google Shape;465;p5"/>
          <p:cNvGrpSpPr/>
          <p:nvPr/>
        </p:nvGrpSpPr>
        <p:grpSpPr>
          <a:xfrm>
            <a:off x="1229448" y="2276320"/>
            <a:ext cx="1036839" cy="1036839"/>
            <a:chOff x="4792341" y="2000207"/>
            <a:chExt cx="1036839" cy="1036839"/>
          </a:xfrm>
        </p:grpSpPr>
        <p:sp>
          <p:nvSpPr>
            <p:cNvPr id="466" name="Google Shape;466;p5"/>
            <p:cNvSpPr/>
            <p:nvPr/>
          </p:nvSpPr>
          <p:spPr>
            <a:xfrm>
              <a:off x="4792341" y="2000207"/>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7" name="Google Shape;467;p5"/>
            <p:cNvPicPr preferRelativeResize="0"/>
            <p:nvPr/>
          </p:nvPicPr>
          <p:blipFill rotWithShape="1">
            <a:blip r:embed="rId7">
              <a:alphaModFix/>
            </a:blip>
            <a:srcRect b="0" l="0" r="0" t="0"/>
            <a:stretch/>
          </p:blipFill>
          <p:spPr>
            <a:xfrm>
              <a:off x="4897497" y="2098215"/>
              <a:ext cx="869527" cy="869527"/>
            </a:xfrm>
            <a:prstGeom prst="rect">
              <a:avLst/>
            </a:prstGeom>
            <a:noFill/>
            <a:ln>
              <a:noFill/>
            </a:ln>
          </p:spPr>
        </p:pic>
      </p:grpSp>
      <p:grpSp>
        <p:nvGrpSpPr>
          <p:cNvPr id="468" name="Google Shape;468;p5"/>
          <p:cNvGrpSpPr/>
          <p:nvPr/>
        </p:nvGrpSpPr>
        <p:grpSpPr>
          <a:xfrm>
            <a:off x="3420948" y="2276320"/>
            <a:ext cx="1036839" cy="1036839"/>
            <a:chOff x="4792341" y="3221263"/>
            <a:chExt cx="1036839" cy="1036839"/>
          </a:xfrm>
        </p:grpSpPr>
        <p:sp>
          <p:nvSpPr>
            <p:cNvPr id="469" name="Google Shape;469;p5"/>
            <p:cNvSpPr/>
            <p:nvPr/>
          </p:nvSpPr>
          <p:spPr>
            <a:xfrm>
              <a:off x="4792341" y="3221263"/>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0" name="Google Shape;470;p5"/>
            <p:cNvPicPr preferRelativeResize="0"/>
            <p:nvPr/>
          </p:nvPicPr>
          <p:blipFill rotWithShape="1">
            <a:blip r:embed="rId8">
              <a:alphaModFix/>
            </a:blip>
            <a:srcRect b="0" l="0" r="0" t="0"/>
            <a:stretch/>
          </p:blipFill>
          <p:spPr>
            <a:xfrm>
              <a:off x="4862762" y="3284536"/>
              <a:ext cx="938997" cy="938997"/>
            </a:xfrm>
            <a:prstGeom prst="rect">
              <a:avLst/>
            </a:prstGeom>
            <a:noFill/>
            <a:ln>
              <a:noFill/>
            </a:ln>
          </p:spPr>
        </p:pic>
      </p:grpSp>
      <p:sp>
        <p:nvSpPr>
          <p:cNvPr id="471" name="Google Shape;471;p5"/>
          <p:cNvSpPr/>
          <p:nvPr/>
        </p:nvSpPr>
        <p:spPr>
          <a:xfrm rot="10800000">
            <a:off x="7829517" y="1870915"/>
            <a:ext cx="406400" cy="1596840"/>
          </a:xfrm>
          <a:prstGeom prst="leftBrace">
            <a:avLst>
              <a:gd fmla="val 35000" name="adj1"/>
              <a:gd fmla="val 50000" name="adj2"/>
            </a:avLst>
          </a:prstGeom>
          <a:noFill/>
          <a:ln cap="flat" cmpd="sng" w="12700">
            <a:solidFill>
              <a:srgbClr val="507E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5"/>
          <p:cNvSpPr/>
          <p:nvPr/>
        </p:nvSpPr>
        <p:spPr>
          <a:xfrm rot="10800000">
            <a:off x="7829518" y="3828983"/>
            <a:ext cx="406400" cy="1596840"/>
          </a:xfrm>
          <a:prstGeom prst="leftBrace">
            <a:avLst>
              <a:gd fmla="val 35000" name="adj1"/>
              <a:gd fmla="val 50000" name="adj2"/>
            </a:avLst>
          </a:prstGeom>
          <a:noFill/>
          <a:ln cap="flat" cmpd="sng" w="12700">
            <a:solidFill>
              <a:srgbClr val="507E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5"/>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6"/>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latin typeface="Arial"/>
                <a:ea typeface="Arial"/>
                <a:cs typeface="Arial"/>
                <a:sym typeface="Arial"/>
              </a:rPr>
              <a:t>Business perspective</a:t>
            </a:r>
            <a:endParaRPr/>
          </a:p>
        </p:txBody>
      </p:sp>
      <p:sp>
        <p:nvSpPr>
          <p:cNvPr id="479" name="Google Shape;479;p6"/>
          <p:cNvSpPr/>
          <p:nvPr/>
        </p:nvSpPr>
        <p:spPr>
          <a:xfrm>
            <a:off x="807604"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Business</a:t>
            </a:r>
            <a:endParaRPr b="0" i="0" sz="2400" u="none" cap="none" strike="noStrike">
              <a:solidFill>
                <a:schemeClr val="dk1"/>
              </a:solidFill>
              <a:latin typeface="Arial"/>
              <a:ea typeface="Arial"/>
              <a:cs typeface="Arial"/>
              <a:sym typeface="Arial"/>
            </a:endParaRPr>
          </a:p>
        </p:txBody>
      </p:sp>
      <p:sp>
        <p:nvSpPr>
          <p:cNvPr id="480" name="Google Shape;480;p6"/>
          <p:cNvSpPr/>
          <p:nvPr/>
        </p:nvSpPr>
        <p:spPr>
          <a:xfrm>
            <a:off x="2978049"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People</a:t>
            </a:r>
            <a:endParaRPr b="0" i="0" sz="2400" u="none" cap="none" strike="noStrike">
              <a:solidFill>
                <a:srgbClr val="232F3E"/>
              </a:solidFill>
              <a:latin typeface="Arial"/>
              <a:ea typeface="Arial"/>
              <a:cs typeface="Arial"/>
              <a:sym typeface="Arial"/>
            </a:endParaRPr>
          </a:p>
        </p:txBody>
      </p:sp>
      <p:sp>
        <p:nvSpPr>
          <p:cNvPr id="481" name="Google Shape;481;p6"/>
          <p:cNvSpPr/>
          <p:nvPr/>
        </p:nvSpPr>
        <p:spPr>
          <a:xfrm>
            <a:off x="5157207"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Governance</a:t>
            </a:r>
            <a:endParaRPr b="0" i="0" sz="2400" u="none" cap="none" strike="noStrike">
              <a:solidFill>
                <a:srgbClr val="232F3E"/>
              </a:solidFill>
              <a:latin typeface="Arial"/>
              <a:ea typeface="Arial"/>
              <a:cs typeface="Arial"/>
              <a:sym typeface="Arial"/>
            </a:endParaRPr>
          </a:p>
        </p:txBody>
      </p:sp>
      <p:sp>
        <p:nvSpPr>
          <p:cNvPr id="482" name="Google Shape;482;p6"/>
          <p:cNvSpPr/>
          <p:nvPr/>
        </p:nvSpPr>
        <p:spPr>
          <a:xfrm>
            <a:off x="692370"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Platform</a:t>
            </a:r>
            <a:endParaRPr/>
          </a:p>
        </p:txBody>
      </p:sp>
      <p:sp>
        <p:nvSpPr>
          <p:cNvPr id="483" name="Google Shape;483;p6"/>
          <p:cNvSpPr/>
          <p:nvPr/>
        </p:nvSpPr>
        <p:spPr>
          <a:xfrm>
            <a:off x="2882697"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Security</a:t>
            </a:r>
            <a:endParaRPr/>
          </a:p>
        </p:txBody>
      </p:sp>
      <p:sp>
        <p:nvSpPr>
          <p:cNvPr id="484" name="Google Shape;484;p6"/>
          <p:cNvSpPr/>
          <p:nvPr/>
        </p:nvSpPr>
        <p:spPr>
          <a:xfrm>
            <a:off x="5041973"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Operations</a:t>
            </a:r>
            <a:endParaRPr/>
          </a:p>
        </p:txBody>
      </p:sp>
      <p:grpSp>
        <p:nvGrpSpPr>
          <p:cNvPr id="485" name="Google Shape;485;p6"/>
          <p:cNvGrpSpPr/>
          <p:nvPr/>
        </p:nvGrpSpPr>
        <p:grpSpPr>
          <a:xfrm>
            <a:off x="3452633" y="3950341"/>
            <a:ext cx="1112988" cy="1065005"/>
            <a:chOff x="6089845" y="3221263"/>
            <a:chExt cx="1112988" cy="1065005"/>
          </a:xfrm>
        </p:grpSpPr>
        <p:sp>
          <p:nvSpPr>
            <p:cNvPr id="486" name="Google Shape;486;p6"/>
            <p:cNvSpPr/>
            <p:nvPr/>
          </p:nvSpPr>
          <p:spPr>
            <a:xfrm>
              <a:off x="6089845" y="3221263"/>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7" name="Google Shape;487;p6"/>
            <p:cNvPicPr preferRelativeResize="0"/>
            <p:nvPr/>
          </p:nvPicPr>
          <p:blipFill rotWithShape="1">
            <a:blip r:embed="rId3">
              <a:alphaModFix/>
            </a:blip>
            <a:srcRect b="0" l="0" r="0" t="0"/>
            <a:stretch/>
          </p:blipFill>
          <p:spPr>
            <a:xfrm>
              <a:off x="6140318" y="3223753"/>
              <a:ext cx="1062515" cy="1062515"/>
            </a:xfrm>
            <a:prstGeom prst="rect">
              <a:avLst/>
            </a:prstGeom>
            <a:noFill/>
            <a:ln>
              <a:noFill/>
            </a:ln>
          </p:spPr>
        </p:pic>
      </p:grpSp>
      <p:grpSp>
        <p:nvGrpSpPr>
          <p:cNvPr id="488" name="Google Shape;488;p6"/>
          <p:cNvGrpSpPr/>
          <p:nvPr/>
        </p:nvGrpSpPr>
        <p:grpSpPr>
          <a:xfrm>
            <a:off x="5612448" y="2262971"/>
            <a:ext cx="1058062" cy="1063537"/>
            <a:chOff x="4792341" y="4406849"/>
            <a:chExt cx="1058062" cy="1063537"/>
          </a:xfrm>
        </p:grpSpPr>
        <p:sp>
          <p:nvSpPr>
            <p:cNvPr id="489" name="Google Shape;489;p6"/>
            <p:cNvSpPr/>
            <p:nvPr/>
          </p:nvSpPr>
          <p:spPr>
            <a:xfrm>
              <a:off x="4792341" y="4406849"/>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0" name="Google Shape;490;p6"/>
            <p:cNvPicPr preferRelativeResize="0"/>
            <p:nvPr/>
          </p:nvPicPr>
          <p:blipFill rotWithShape="1">
            <a:blip r:embed="rId4">
              <a:alphaModFix/>
            </a:blip>
            <a:srcRect b="0" l="0" r="0" t="0"/>
            <a:stretch/>
          </p:blipFill>
          <p:spPr>
            <a:xfrm>
              <a:off x="4814117" y="4434100"/>
              <a:ext cx="1036286" cy="1036286"/>
            </a:xfrm>
            <a:prstGeom prst="rect">
              <a:avLst/>
            </a:prstGeom>
            <a:noFill/>
            <a:ln>
              <a:noFill/>
            </a:ln>
          </p:spPr>
        </p:pic>
      </p:grpSp>
      <p:grpSp>
        <p:nvGrpSpPr>
          <p:cNvPr id="491" name="Google Shape;491;p6"/>
          <p:cNvGrpSpPr/>
          <p:nvPr/>
        </p:nvGrpSpPr>
        <p:grpSpPr>
          <a:xfrm>
            <a:off x="5611627" y="3955605"/>
            <a:ext cx="1040409" cy="1051505"/>
            <a:chOff x="6089845" y="4406849"/>
            <a:chExt cx="1040409" cy="1051505"/>
          </a:xfrm>
        </p:grpSpPr>
        <p:sp>
          <p:nvSpPr>
            <p:cNvPr id="492" name="Google Shape;492;p6"/>
            <p:cNvSpPr/>
            <p:nvPr/>
          </p:nvSpPr>
          <p:spPr>
            <a:xfrm>
              <a:off x="6089845" y="4406849"/>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3" name="Google Shape;493;p6"/>
            <p:cNvPicPr preferRelativeResize="0"/>
            <p:nvPr/>
          </p:nvPicPr>
          <p:blipFill rotWithShape="1">
            <a:blip r:embed="rId5">
              <a:alphaModFix/>
            </a:blip>
            <a:srcRect b="0" l="0" r="0" t="0"/>
            <a:stretch/>
          </p:blipFill>
          <p:spPr>
            <a:xfrm>
              <a:off x="6123694" y="4451794"/>
              <a:ext cx="1006560" cy="1006560"/>
            </a:xfrm>
            <a:prstGeom prst="rect">
              <a:avLst/>
            </a:prstGeom>
            <a:noFill/>
            <a:ln>
              <a:noFill/>
            </a:ln>
          </p:spPr>
        </p:pic>
      </p:grpSp>
      <p:grpSp>
        <p:nvGrpSpPr>
          <p:cNvPr id="494" name="Google Shape;494;p6"/>
          <p:cNvGrpSpPr/>
          <p:nvPr/>
        </p:nvGrpSpPr>
        <p:grpSpPr>
          <a:xfrm>
            <a:off x="1249989" y="3947611"/>
            <a:ext cx="1036839" cy="1036839"/>
            <a:chOff x="6089845" y="2000207"/>
            <a:chExt cx="1036839" cy="1036839"/>
          </a:xfrm>
        </p:grpSpPr>
        <p:sp>
          <p:nvSpPr>
            <p:cNvPr id="495" name="Google Shape;495;p6"/>
            <p:cNvSpPr/>
            <p:nvPr/>
          </p:nvSpPr>
          <p:spPr>
            <a:xfrm>
              <a:off x="6089845" y="2000207"/>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6" name="Google Shape;496;p6"/>
            <p:cNvPicPr preferRelativeResize="0"/>
            <p:nvPr/>
          </p:nvPicPr>
          <p:blipFill rotWithShape="1">
            <a:blip r:embed="rId6">
              <a:alphaModFix/>
            </a:blip>
            <a:srcRect b="0" l="0" r="0" t="0"/>
            <a:stretch/>
          </p:blipFill>
          <p:spPr>
            <a:xfrm>
              <a:off x="6172173" y="2058139"/>
              <a:ext cx="909603" cy="909603"/>
            </a:xfrm>
            <a:prstGeom prst="rect">
              <a:avLst/>
            </a:prstGeom>
            <a:noFill/>
            <a:ln>
              <a:noFill/>
            </a:ln>
          </p:spPr>
        </p:pic>
      </p:grpSp>
      <p:grpSp>
        <p:nvGrpSpPr>
          <p:cNvPr id="497" name="Google Shape;497;p6"/>
          <p:cNvGrpSpPr/>
          <p:nvPr/>
        </p:nvGrpSpPr>
        <p:grpSpPr>
          <a:xfrm>
            <a:off x="1229448" y="2276320"/>
            <a:ext cx="1036839" cy="1036839"/>
            <a:chOff x="4792341" y="2000207"/>
            <a:chExt cx="1036839" cy="1036839"/>
          </a:xfrm>
        </p:grpSpPr>
        <p:sp>
          <p:nvSpPr>
            <p:cNvPr id="498" name="Google Shape;498;p6"/>
            <p:cNvSpPr/>
            <p:nvPr/>
          </p:nvSpPr>
          <p:spPr>
            <a:xfrm>
              <a:off x="4792341" y="2000207"/>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9" name="Google Shape;499;p6"/>
            <p:cNvPicPr preferRelativeResize="0"/>
            <p:nvPr/>
          </p:nvPicPr>
          <p:blipFill rotWithShape="1">
            <a:blip r:embed="rId7">
              <a:alphaModFix/>
            </a:blip>
            <a:srcRect b="0" l="0" r="0" t="0"/>
            <a:stretch/>
          </p:blipFill>
          <p:spPr>
            <a:xfrm>
              <a:off x="4897497" y="2098215"/>
              <a:ext cx="869527" cy="869527"/>
            </a:xfrm>
            <a:prstGeom prst="rect">
              <a:avLst/>
            </a:prstGeom>
            <a:noFill/>
            <a:ln>
              <a:noFill/>
            </a:ln>
          </p:spPr>
        </p:pic>
      </p:grpSp>
      <p:grpSp>
        <p:nvGrpSpPr>
          <p:cNvPr id="500" name="Google Shape;500;p6"/>
          <p:cNvGrpSpPr/>
          <p:nvPr/>
        </p:nvGrpSpPr>
        <p:grpSpPr>
          <a:xfrm>
            <a:off x="3420948" y="2276320"/>
            <a:ext cx="1036839" cy="1036839"/>
            <a:chOff x="4792341" y="3221263"/>
            <a:chExt cx="1036839" cy="1036839"/>
          </a:xfrm>
        </p:grpSpPr>
        <p:sp>
          <p:nvSpPr>
            <p:cNvPr id="501" name="Google Shape;501;p6"/>
            <p:cNvSpPr/>
            <p:nvPr/>
          </p:nvSpPr>
          <p:spPr>
            <a:xfrm>
              <a:off x="4792341" y="3221263"/>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02" name="Google Shape;502;p6"/>
            <p:cNvPicPr preferRelativeResize="0"/>
            <p:nvPr/>
          </p:nvPicPr>
          <p:blipFill rotWithShape="1">
            <a:blip r:embed="rId8">
              <a:alphaModFix/>
            </a:blip>
            <a:srcRect b="0" l="0" r="0" t="0"/>
            <a:stretch/>
          </p:blipFill>
          <p:spPr>
            <a:xfrm>
              <a:off x="4862762" y="3284536"/>
              <a:ext cx="938997" cy="938997"/>
            </a:xfrm>
            <a:prstGeom prst="rect">
              <a:avLst/>
            </a:prstGeom>
            <a:noFill/>
            <a:ln>
              <a:noFill/>
            </a:ln>
          </p:spPr>
        </p:pic>
      </p:grpSp>
      <p:sp>
        <p:nvSpPr>
          <p:cNvPr id="503" name="Google Shape;503;p6"/>
          <p:cNvSpPr/>
          <p:nvPr/>
        </p:nvSpPr>
        <p:spPr>
          <a:xfrm>
            <a:off x="8477250" y="1883487"/>
            <a:ext cx="2926080" cy="378561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04" name="Google Shape;504;p6"/>
          <p:cNvSpPr/>
          <p:nvPr/>
        </p:nvSpPr>
        <p:spPr>
          <a:xfrm>
            <a:off x="8577330" y="2339567"/>
            <a:ext cx="2745735"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Ensures that IT aligns with business needs and IT investments link to key business results</a:t>
            </a:r>
            <a:br>
              <a:rPr b="0" i="0" lang="en-US" sz="1800" u="none" cap="none" strike="noStrike">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
        <p:nvSpPr>
          <p:cNvPr id="505" name="Google Shape;505;p6"/>
          <p:cNvSpPr/>
          <p:nvPr/>
        </p:nvSpPr>
        <p:spPr>
          <a:xfrm>
            <a:off x="8533706" y="4219258"/>
            <a:ext cx="2832981" cy="120032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Business managers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Finance managers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Budget owners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Strategy stakeholders</a:t>
            </a:r>
            <a:endParaRPr/>
          </a:p>
        </p:txBody>
      </p:sp>
      <p:sp>
        <p:nvSpPr>
          <p:cNvPr id="506" name="Google Shape;506;p6"/>
          <p:cNvSpPr txBox="1"/>
          <p:nvPr/>
        </p:nvSpPr>
        <p:spPr>
          <a:xfrm>
            <a:off x="8548481" y="1922832"/>
            <a:ext cx="143936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507EFF"/>
                </a:solidFill>
                <a:latin typeface="Arial"/>
                <a:ea typeface="Arial"/>
                <a:cs typeface="Arial"/>
                <a:sym typeface="Arial"/>
              </a:rPr>
              <a:t>Goal</a:t>
            </a:r>
            <a:endParaRPr/>
          </a:p>
        </p:txBody>
      </p:sp>
      <p:sp>
        <p:nvSpPr>
          <p:cNvPr id="507" name="Google Shape;507;p6"/>
          <p:cNvSpPr txBox="1"/>
          <p:nvPr/>
        </p:nvSpPr>
        <p:spPr>
          <a:xfrm>
            <a:off x="8556752" y="3809957"/>
            <a:ext cx="236327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507EFF"/>
                </a:solidFill>
                <a:latin typeface="Arial"/>
                <a:ea typeface="Arial"/>
                <a:cs typeface="Arial"/>
                <a:sym typeface="Arial"/>
              </a:rPr>
              <a:t>Common roles</a:t>
            </a:r>
            <a:endParaRPr/>
          </a:p>
        </p:txBody>
      </p:sp>
      <p:sp>
        <p:nvSpPr>
          <p:cNvPr id="508" name="Google Shape;508;p6"/>
          <p:cNvSpPr/>
          <p:nvPr/>
        </p:nvSpPr>
        <p:spPr>
          <a:xfrm>
            <a:off x="2884323" y="1517635"/>
            <a:ext cx="4246021" cy="2057574"/>
          </a:xfrm>
          <a:prstGeom prst="rect">
            <a:avLst/>
          </a:prstGeom>
          <a:solidFill>
            <a:srgbClr val="FFFFFF">
              <a:alpha val="6274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9" name="Google Shape;509;p6"/>
          <p:cNvSpPr/>
          <p:nvPr/>
        </p:nvSpPr>
        <p:spPr>
          <a:xfrm>
            <a:off x="1078426" y="3831499"/>
            <a:ext cx="6085526" cy="2057574"/>
          </a:xfrm>
          <a:prstGeom prst="rect">
            <a:avLst/>
          </a:prstGeom>
          <a:solidFill>
            <a:srgbClr val="FFFFFF">
              <a:alpha val="6274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10" name="Google Shape;510;p6"/>
          <p:cNvCxnSpPr>
            <a:stCxn id="498" idx="2"/>
          </p:cNvCxnSpPr>
          <p:nvPr/>
        </p:nvCxnSpPr>
        <p:spPr>
          <a:xfrm flipH="1" rot="-5400000">
            <a:off x="4902218" y="158809"/>
            <a:ext cx="420600" cy="6729300"/>
          </a:xfrm>
          <a:prstGeom prst="bentConnector2">
            <a:avLst/>
          </a:prstGeom>
          <a:noFill/>
          <a:ln cap="flat" cmpd="sng" w="9525">
            <a:solidFill>
              <a:schemeClr val="dk1"/>
            </a:solidFill>
            <a:prstDash val="solid"/>
            <a:miter lim="800000"/>
            <a:headEnd len="sm" w="sm" type="none"/>
            <a:tailEnd len="sm" w="sm" type="none"/>
          </a:ln>
        </p:spPr>
      </p:cxnSp>
      <p:sp>
        <p:nvSpPr>
          <p:cNvPr id="511" name="Google Shape;511;p6"/>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7"/>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latin typeface="Arial"/>
                <a:ea typeface="Arial"/>
                <a:cs typeface="Arial"/>
                <a:sym typeface="Arial"/>
              </a:rPr>
              <a:t>People perspective</a:t>
            </a:r>
            <a:endParaRPr/>
          </a:p>
        </p:txBody>
      </p:sp>
      <p:sp>
        <p:nvSpPr>
          <p:cNvPr id="517" name="Google Shape;517;p7"/>
          <p:cNvSpPr/>
          <p:nvPr/>
        </p:nvSpPr>
        <p:spPr>
          <a:xfrm>
            <a:off x="807604"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Business</a:t>
            </a:r>
            <a:endParaRPr b="0" i="0" sz="2400" u="none" cap="none" strike="noStrike">
              <a:solidFill>
                <a:schemeClr val="dk1"/>
              </a:solidFill>
              <a:latin typeface="Arial"/>
              <a:ea typeface="Arial"/>
              <a:cs typeface="Arial"/>
              <a:sym typeface="Arial"/>
            </a:endParaRPr>
          </a:p>
        </p:txBody>
      </p:sp>
      <p:sp>
        <p:nvSpPr>
          <p:cNvPr id="518" name="Google Shape;518;p7"/>
          <p:cNvSpPr/>
          <p:nvPr/>
        </p:nvSpPr>
        <p:spPr>
          <a:xfrm>
            <a:off x="2978049"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lang="en-US" sz="2400">
                <a:solidFill>
                  <a:srgbClr val="232F3E"/>
                </a:solidFill>
                <a:latin typeface="Arial"/>
                <a:ea typeface="Arial"/>
                <a:cs typeface="Arial"/>
                <a:sym typeface="Arial"/>
              </a:rPr>
              <a:t>People</a:t>
            </a:r>
            <a:endParaRPr b="0" i="0" sz="2400" u="none" cap="none" strike="noStrike">
              <a:solidFill>
                <a:srgbClr val="232F3E"/>
              </a:solidFill>
              <a:latin typeface="Arial"/>
              <a:ea typeface="Arial"/>
              <a:cs typeface="Arial"/>
              <a:sym typeface="Arial"/>
            </a:endParaRPr>
          </a:p>
        </p:txBody>
      </p:sp>
      <p:sp>
        <p:nvSpPr>
          <p:cNvPr id="519" name="Google Shape;519;p7"/>
          <p:cNvSpPr/>
          <p:nvPr/>
        </p:nvSpPr>
        <p:spPr>
          <a:xfrm>
            <a:off x="5157207"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lang="en-US" sz="2400">
                <a:solidFill>
                  <a:srgbClr val="232F3E"/>
                </a:solidFill>
                <a:latin typeface="Arial"/>
                <a:ea typeface="Arial"/>
                <a:cs typeface="Arial"/>
                <a:sym typeface="Arial"/>
              </a:rPr>
              <a:t>Governance</a:t>
            </a:r>
            <a:endParaRPr b="0" i="0" sz="2400" u="none" cap="none" strike="noStrike">
              <a:solidFill>
                <a:srgbClr val="232F3E"/>
              </a:solidFill>
              <a:latin typeface="Arial"/>
              <a:ea typeface="Arial"/>
              <a:cs typeface="Arial"/>
              <a:sym typeface="Arial"/>
            </a:endParaRPr>
          </a:p>
        </p:txBody>
      </p:sp>
      <p:sp>
        <p:nvSpPr>
          <p:cNvPr id="520" name="Google Shape;520;p7"/>
          <p:cNvSpPr/>
          <p:nvPr/>
        </p:nvSpPr>
        <p:spPr>
          <a:xfrm>
            <a:off x="692370"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Platform</a:t>
            </a:r>
            <a:endParaRPr/>
          </a:p>
        </p:txBody>
      </p:sp>
      <p:sp>
        <p:nvSpPr>
          <p:cNvPr id="521" name="Google Shape;521;p7"/>
          <p:cNvSpPr/>
          <p:nvPr/>
        </p:nvSpPr>
        <p:spPr>
          <a:xfrm>
            <a:off x="2882697"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Security</a:t>
            </a:r>
            <a:endParaRPr/>
          </a:p>
        </p:txBody>
      </p:sp>
      <p:sp>
        <p:nvSpPr>
          <p:cNvPr id="522" name="Google Shape;522;p7"/>
          <p:cNvSpPr/>
          <p:nvPr/>
        </p:nvSpPr>
        <p:spPr>
          <a:xfrm>
            <a:off x="5041973"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Operations</a:t>
            </a:r>
            <a:endParaRPr/>
          </a:p>
        </p:txBody>
      </p:sp>
      <p:grpSp>
        <p:nvGrpSpPr>
          <p:cNvPr id="523" name="Google Shape;523;p7"/>
          <p:cNvGrpSpPr/>
          <p:nvPr/>
        </p:nvGrpSpPr>
        <p:grpSpPr>
          <a:xfrm>
            <a:off x="3452633" y="3950341"/>
            <a:ext cx="1112988" cy="1065005"/>
            <a:chOff x="6089845" y="3221263"/>
            <a:chExt cx="1112988" cy="1065005"/>
          </a:xfrm>
        </p:grpSpPr>
        <p:sp>
          <p:nvSpPr>
            <p:cNvPr id="524" name="Google Shape;524;p7"/>
            <p:cNvSpPr/>
            <p:nvPr/>
          </p:nvSpPr>
          <p:spPr>
            <a:xfrm>
              <a:off x="6089845" y="3221263"/>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5" name="Google Shape;525;p7"/>
            <p:cNvPicPr preferRelativeResize="0"/>
            <p:nvPr/>
          </p:nvPicPr>
          <p:blipFill rotWithShape="1">
            <a:blip r:embed="rId3">
              <a:alphaModFix/>
            </a:blip>
            <a:srcRect b="0" l="0" r="0" t="0"/>
            <a:stretch/>
          </p:blipFill>
          <p:spPr>
            <a:xfrm>
              <a:off x="6140318" y="3223753"/>
              <a:ext cx="1062515" cy="1062515"/>
            </a:xfrm>
            <a:prstGeom prst="rect">
              <a:avLst/>
            </a:prstGeom>
            <a:noFill/>
            <a:ln>
              <a:noFill/>
            </a:ln>
          </p:spPr>
        </p:pic>
      </p:grpSp>
      <p:grpSp>
        <p:nvGrpSpPr>
          <p:cNvPr id="526" name="Google Shape;526;p7"/>
          <p:cNvGrpSpPr/>
          <p:nvPr/>
        </p:nvGrpSpPr>
        <p:grpSpPr>
          <a:xfrm>
            <a:off x="5612448" y="2262971"/>
            <a:ext cx="1058062" cy="1063537"/>
            <a:chOff x="4792341" y="4406849"/>
            <a:chExt cx="1058062" cy="1063537"/>
          </a:xfrm>
        </p:grpSpPr>
        <p:sp>
          <p:nvSpPr>
            <p:cNvPr id="527" name="Google Shape;527;p7"/>
            <p:cNvSpPr/>
            <p:nvPr/>
          </p:nvSpPr>
          <p:spPr>
            <a:xfrm>
              <a:off x="4792341" y="4406849"/>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8" name="Google Shape;528;p7"/>
            <p:cNvPicPr preferRelativeResize="0"/>
            <p:nvPr/>
          </p:nvPicPr>
          <p:blipFill rotWithShape="1">
            <a:blip r:embed="rId4">
              <a:alphaModFix/>
            </a:blip>
            <a:srcRect b="0" l="0" r="0" t="0"/>
            <a:stretch/>
          </p:blipFill>
          <p:spPr>
            <a:xfrm>
              <a:off x="4814117" y="4434100"/>
              <a:ext cx="1036286" cy="1036286"/>
            </a:xfrm>
            <a:prstGeom prst="rect">
              <a:avLst/>
            </a:prstGeom>
            <a:noFill/>
            <a:ln>
              <a:noFill/>
            </a:ln>
          </p:spPr>
        </p:pic>
      </p:grpSp>
      <p:grpSp>
        <p:nvGrpSpPr>
          <p:cNvPr id="529" name="Google Shape;529;p7"/>
          <p:cNvGrpSpPr/>
          <p:nvPr/>
        </p:nvGrpSpPr>
        <p:grpSpPr>
          <a:xfrm>
            <a:off x="5611627" y="3955605"/>
            <a:ext cx="1040409" cy="1051505"/>
            <a:chOff x="6089845" y="4406849"/>
            <a:chExt cx="1040409" cy="1051505"/>
          </a:xfrm>
        </p:grpSpPr>
        <p:sp>
          <p:nvSpPr>
            <p:cNvPr id="530" name="Google Shape;530;p7"/>
            <p:cNvSpPr/>
            <p:nvPr/>
          </p:nvSpPr>
          <p:spPr>
            <a:xfrm>
              <a:off x="6089845" y="4406849"/>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1" name="Google Shape;531;p7"/>
            <p:cNvPicPr preferRelativeResize="0"/>
            <p:nvPr/>
          </p:nvPicPr>
          <p:blipFill rotWithShape="1">
            <a:blip r:embed="rId5">
              <a:alphaModFix/>
            </a:blip>
            <a:srcRect b="0" l="0" r="0" t="0"/>
            <a:stretch/>
          </p:blipFill>
          <p:spPr>
            <a:xfrm>
              <a:off x="6123694" y="4451794"/>
              <a:ext cx="1006560" cy="1006560"/>
            </a:xfrm>
            <a:prstGeom prst="rect">
              <a:avLst/>
            </a:prstGeom>
            <a:noFill/>
            <a:ln>
              <a:noFill/>
            </a:ln>
          </p:spPr>
        </p:pic>
      </p:grpSp>
      <p:grpSp>
        <p:nvGrpSpPr>
          <p:cNvPr id="532" name="Google Shape;532;p7"/>
          <p:cNvGrpSpPr/>
          <p:nvPr/>
        </p:nvGrpSpPr>
        <p:grpSpPr>
          <a:xfrm>
            <a:off x="1249989" y="3947611"/>
            <a:ext cx="1036839" cy="1036839"/>
            <a:chOff x="6089845" y="2000207"/>
            <a:chExt cx="1036839" cy="1036839"/>
          </a:xfrm>
        </p:grpSpPr>
        <p:sp>
          <p:nvSpPr>
            <p:cNvPr id="533" name="Google Shape;533;p7"/>
            <p:cNvSpPr/>
            <p:nvPr/>
          </p:nvSpPr>
          <p:spPr>
            <a:xfrm>
              <a:off x="6089845" y="2000207"/>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4" name="Google Shape;534;p7"/>
            <p:cNvPicPr preferRelativeResize="0"/>
            <p:nvPr/>
          </p:nvPicPr>
          <p:blipFill rotWithShape="1">
            <a:blip r:embed="rId6">
              <a:alphaModFix/>
            </a:blip>
            <a:srcRect b="0" l="0" r="0" t="0"/>
            <a:stretch/>
          </p:blipFill>
          <p:spPr>
            <a:xfrm>
              <a:off x="6172173" y="2058139"/>
              <a:ext cx="909603" cy="909603"/>
            </a:xfrm>
            <a:prstGeom prst="rect">
              <a:avLst/>
            </a:prstGeom>
            <a:noFill/>
            <a:ln>
              <a:noFill/>
            </a:ln>
          </p:spPr>
        </p:pic>
      </p:grpSp>
      <p:grpSp>
        <p:nvGrpSpPr>
          <p:cNvPr id="535" name="Google Shape;535;p7"/>
          <p:cNvGrpSpPr/>
          <p:nvPr/>
        </p:nvGrpSpPr>
        <p:grpSpPr>
          <a:xfrm>
            <a:off x="1229448" y="2276320"/>
            <a:ext cx="1036839" cy="1036839"/>
            <a:chOff x="4792341" y="2000207"/>
            <a:chExt cx="1036839" cy="1036839"/>
          </a:xfrm>
        </p:grpSpPr>
        <p:sp>
          <p:nvSpPr>
            <p:cNvPr id="536" name="Google Shape;536;p7"/>
            <p:cNvSpPr/>
            <p:nvPr/>
          </p:nvSpPr>
          <p:spPr>
            <a:xfrm>
              <a:off x="4792341" y="2000207"/>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7" name="Google Shape;537;p7"/>
            <p:cNvPicPr preferRelativeResize="0"/>
            <p:nvPr/>
          </p:nvPicPr>
          <p:blipFill rotWithShape="1">
            <a:blip r:embed="rId7">
              <a:alphaModFix/>
            </a:blip>
            <a:srcRect b="0" l="0" r="0" t="0"/>
            <a:stretch/>
          </p:blipFill>
          <p:spPr>
            <a:xfrm>
              <a:off x="4897497" y="2098215"/>
              <a:ext cx="869527" cy="869527"/>
            </a:xfrm>
            <a:prstGeom prst="rect">
              <a:avLst/>
            </a:prstGeom>
            <a:noFill/>
            <a:ln>
              <a:noFill/>
            </a:ln>
          </p:spPr>
        </p:pic>
      </p:grpSp>
      <p:grpSp>
        <p:nvGrpSpPr>
          <p:cNvPr id="538" name="Google Shape;538;p7"/>
          <p:cNvGrpSpPr/>
          <p:nvPr/>
        </p:nvGrpSpPr>
        <p:grpSpPr>
          <a:xfrm>
            <a:off x="3420948" y="2276320"/>
            <a:ext cx="1036839" cy="1036839"/>
            <a:chOff x="4792341" y="3221263"/>
            <a:chExt cx="1036839" cy="1036839"/>
          </a:xfrm>
        </p:grpSpPr>
        <p:sp>
          <p:nvSpPr>
            <p:cNvPr id="539" name="Google Shape;539;p7"/>
            <p:cNvSpPr/>
            <p:nvPr/>
          </p:nvSpPr>
          <p:spPr>
            <a:xfrm>
              <a:off x="4792341" y="3221263"/>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0" name="Google Shape;540;p7"/>
            <p:cNvPicPr preferRelativeResize="0"/>
            <p:nvPr/>
          </p:nvPicPr>
          <p:blipFill rotWithShape="1">
            <a:blip r:embed="rId8">
              <a:alphaModFix/>
            </a:blip>
            <a:srcRect b="0" l="0" r="0" t="0"/>
            <a:stretch/>
          </p:blipFill>
          <p:spPr>
            <a:xfrm>
              <a:off x="4862762" y="3284536"/>
              <a:ext cx="938997" cy="938997"/>
            </a:xfrm>
            <a:prstGeom prst="rect">
              <a:avLst/>
            </a:prstGeom>
            <a:noFill/>
            <a:ln>
              <a:noFill/>
            </a:ln>
          </p:spPr>
        </p:pic>
      </p:grpSp>
      <p:sp>
        <p:nvSpPr>
          <p:cNvPr id="541" name="Google Shape;541;p7"/>
          <p:cNvSpPr/>
          <p:nvPr/>
        </p:nvSpPr>
        <p:spPr>
          <a:xfrm>
            <a:off x="8477250" y="1883488"/>
            <a:ext cx="2926080" cy="378561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2" name="Google Shape;542;p7"/>
          <p:cNvSpPr/>
          <p:nvPr/>
        </p:nvSpPr>
        <p:spPr>
          <a:xfrm>
            <a:off x="8577330" y="2339567"/>
            <a:ext cx="2745735"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Supports development of an organization-wide change management strategy for successful cloud adoption</a:t>
            </a:r>
            <a:endParaRPr/>
          </a:p>
          <a:p>
            <a:pPr indent="0" lvl="0" marL="0" marR="0" rtl="0" algn="l">
              <a:spcBef>
                <a:spcPts val="0"/>
              </a:spcBef>
              <a:spcAft>
                <a:spcPts val="0"/>
              </a:spcAft>
              <a:buNone/>
            </a:pP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
        <p:nvSpPr>
          <p:cNvPr id="543" name="Google Shape;543;p7"/>
          <p:cNvSpPr/>
          <p:nvPr/>
        </p:nvSpPr>
        <p:spPr>
          <a:xfrm>
            <a:off x="8533706" y="4219258"/>
            <a:ext cx="2832981" cy="92333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Human resources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Staffing</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People managers</a:t>
            </a:r>
            <a:endParaRPr/>
          </a:p>
        </p:txBody>
      </p:sp>
      <p:sp>
        <p:nvSpPr>
          <p:cNvPr id="544" name="Google Shape;544;p7"/>
          <p:cNvSpPr txBox="1"/>
          <p:nvPr/>
        </p:nvSpPr>
        <p:spPr>
          <a:xfrm>
            <a:off x="8548481" y="1922832"/>
            <a:ext cx="143936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507EFF"/>
                </a:solidFill>
                <a:latin typeface="Arial"/>
                <a:ea typeface="Arial"/>
                <a:cs typeface="Arial"/>
                <a:sym typeface="Arial"/>
              </a:rPr>
              <a:t>Goal</a:t>
            </a:r>
            <a:endParaRPr/>
          </a:p>
        </p:txBody>
      </p:sp>
      <p:sp>
        <p:nvSpPr>
          <p:cNvPr id="545" name="Google Shape;545;p7"/>
          <p:cNvSpPr txBox="1"/>
          <p:nvPr/>
        </p:nvSpPr>
        <p:spPr>
          <a:xfrm>
            <a:off x="8556752" y="3809957"/>
            <a:ext cx="236327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507EFF"/>
                </a:solidFill>
                <a:latin typeface="Arial"/>
                <a:ea typeface="Arial"/>
                <a:cs typeface="Arial"/>
                <a:sym typeface="Arial"/>
              </a:rPr>
              <a:t>Common roles</a:t>
            </a:r>
            <a:endParaRPr/>
          </a:p>
        </p:txBody>
      </p:sp>
      <p:sp>
        <p:nvSpPr>
          <p:cNvPr id="546" name="Google Shape;546;p7"/>
          <p:cNvSpPr/>
          <p:nvPr/>
        </p:nvSpPr>
        <p:spPr>
          <a:xfrm>
            <a:off x="5157207" y="1517635"/>
            <a:ext cx="1973137" cy="2057574"/>
          </a:xfrm>
          <a:prstGeom prst="rect">
            <a:avLst/>
          </a:prstGeom>
          <a:solidFill>
            <a:srgbClr val="FFFFFF">
              <a:alpha val="6274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7" name="Google Shape;547;p7"/>
          <p:cNvSpPr/>
          <p:nvPr/>
        </p:nvSpPr>
        <p:spPr>
          <a:xfrm>
            <a:off x="1078426" y="3831499"/>
            <a:ext cx="6085526" cy="2057574"/>
          </a:xfrm>
          <a:prstGeom prst="rect">
            <a:avLst/>
          </a:prstGeom>
          <a:solidFill>
            <a:srgbClr val="FFFFFF">
              <a:alpha val="6274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48" name="Google Shape;548;p7"/>
          <p:cNvCxnSpPr>
            <a:stCxn id="539" idx="2"/>
          </p:cNvCxnSpPr>
          <p:nvPr/>
        </p:nvCxnSpPr>
        <p:spPr>
          <a:xfrm flipH="1" rot="-5400000">
            <a:off x="5997968" y="1254559"/>
            <a:ext cx="420600" cy="4537800"/>
          </a:xfrm>
          <a:prstGeom prst="bentConnector2">
            <a:avLst/>
          </a:prstGeom>
          <a:noFill/>
          <a:ln cap="flat" cmpd="sng" w="9525">
            <a:solidFill>
              <a:schemeClr val="dk1"/>
            </a:solidFill>
            <a:prstDash val="solid"/>
            <a:miter lim="800000"/>
            <a:headEnd len="sm" w="sm" type="none"/>
            <a:tailEnd len="sm" w="sm" type="none"/>
          </a:ln>
        </p:spPr>
      </p:cxnSp>
      <p:sp>
        <p:nvSpPr>
          <p:cNvPr id="549" name="Google Shape;549;p7"/>
          <p:cNvSpPr/>
          <p:nvPr/>
        </p:nvSpPr>
        <p:spPr>
          <a:xfrm>
            <a:off x="903139" y="1484517"/>
            <a:ext cx="1973137" cy="2057574"/>
          </a:xfrm>
          <a:prstGeom prst="rect">
            <a:avLst/>
          </a:prstGeom>
          <a:solidFill>
            <a:srgbClr val="FFFFFF">
              <a:alpha val="6274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50" name="Google Shape;550;p7"/>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8"/>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latin typeface="Arial"/>
                <a:ea typeface="Arial"/>
                <a:cs typeface="Arial"/>
                <a:sym typeface="Arial"/>
              </a:rPr>
              <a:t>Governance perspective</a:t>
            </a:r>
            <a:endParaRPr/>
          </a:p>
        </p:txBody>
      </p:sp>
      <p:sp>
        <p:nvSpPr>
          <p:cNvPr id="556" name="Google Shape;556;p8"/>
          <p:cNvSpPr/>
          <p:nvPr/>
        </p:nvSpPr>
        <p:spPr>
          <a:xfrm>
            <a:off x="807604"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Business</a:t>
            </a:r>
            <a:endParaRPr b="0" i="0" sz="2400" u="none" cap="none" strike="noStrike">
              <a:solidFill>
                <a:schemeClr val="dk1"/>
              </a:solidFill>
              <a:latin typeface="Arial"/>
              <a:ea typeface="Arial"/>
              <a:cs typeface="Arial"/>
              <a:sym typeface="Arial"/>
            </a:endParaRPr>
          </a:p>
        </p:txBody>
      </p:sp>
      <p:sp>
        <p:nvSpPr>
          <p:cNvPr id="557" name="Google Shape;557;p8"/>
          <p:cNvSpPr/>
          <p:nvPr/>
        </p:nvSpPr>
        <p:spPr>
          <a:xfrm>
            <a:off x="2978049"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lang="en-US" sz="2400">
                <a:solidFill>
                  <a:srgbClr val="232F3E"/>
                </a:solidFill>
                <a:latin typeface="Arial"/>
                <a:ea typeface="Arial"/>
                <a:cs typeface="Arial"/>
                <a:sym typeface="Arial"/>
              </a:rPr>
              <a:t>People</a:t>
            </a:r>
            <a:endParaRPr b="0" i="0" sz="2400" u="none" cap="none" strike="noStrike">
              <a:solidFill>
                <a:srgbClr val="232F3E"/>
              </a:solidFill>
              <a:latin typeface="Arial"/>
              <a:ea typeface="Arial"/>
              <a:cs typeface="Arial"/>
              <a:sym typeface="Arial"/>
            </a:endParaRPr>
          </a:p>
        </p:txBody>
      </p:sp>
      <p:sp>
        <p:nvSpPr>
          <p:cNvPr id="558" name="Google Shape;558;p8"/>
          <p:cNvSpPr/>
          <p:nvPr/>
        </p:nvSpPr>
        <p:spPr>
          <a:xfrm>
            <a:off x="5157207"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lang="en-US" sz="2400">
                <a:solidFill>
                  <a:srgbClr val="232F3E"/>
                </a:solidFill>
                <a:latin typeface="Arial"/>
                <a:ea typeface="Arial"/>
                <a:cs typeface="Arial"/>
                <a:sym typeface="Arial"/>
              </a:rPr>
              <a:t>Governance</a:t>
            </a:r>
            <a:endParaRPr b="0" i="0" sz="2400" u="none" cap="none" strike="noStrike">
              <a:solidFill>
                <a:srgbClr val="232F3E"/>
              </a:solidFill>
              <a:latin typeface="Arial"/>
              <a:ea typeface="Arial"/>
              <a:cs typeface="Arial"/>
              <a:sym typeface="Arial"/>
            </a:endParaRPr>
          </a:p>
        </p:txBody>
      </p:sp>
      <p:sp>
        <p:nvSpPr>
          <p:cNvPr id="559" name="Google Shape;559;p8"/>
          <p:cNvSpPr/>
          <p:nvPr/>
        </p:nvSpPr>
        <p:spPr>
          <a:xfrm>
            <a:off x="692370"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Platform</a:t>
            </a:r>
            <a:endParaRPr/>
          </a:p>
        </p:txBody>
      </p:sp>
      <p:sp>
        <p:nvSpPr>
          <p:cNvPr id="560" name="Google Shape;560;p8"/>
          <p:cNvSpPr/>
          <p:nvPr/>
        </p:nvSpPr>
        <p:spPr>
          <a:xfrm>
            <a:off x="2882697"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Security</a:t>
            </a:r>
            <a:endParaRPr/>
          </a:p>
        </p:txBody>
      </p:sp>
      <p:sp>
        <p:nvSpPr>
          <p:cNvPr id="561" name="Google Shape;561;p8"/>
          <p:cNvSpPr/>
          <p:nvPr/>
        </p:nvSpPr>
        <p:spPr>
          <a:xfrm>
            <a:off x="5041973"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Operations</a:t>
            </a:r>
            <a:endParaRPr/>
          </a:p>
        </p:txBody>
      </p:sp>
      <p:grpSp>
        <p:nvGrpSpPr>
          <p:cNvPr id="562" name="Google Shape;562;p8"/>
          <p:cNvGrpSpPr/>
          <p:nvPr/>
        </p:nvGrpSpPr>
        <p:grpSpPr>
          <a:xfrm>
            <a:off x="3452633" y="3950341"/>
            <a:ext cx="1112988" cy="1065005"/>
            <a:chOff x="6089845" y="3221263"/>
            <a:chExt cx="1112988" cy="1065005"/>
          </a:xfrm>
        </p:grpSpPr>
        <p:sp>
          <p:nvSpPr>
            <p:cNvPr id="563" name="Google Shape;563;p8"/>
            <p:cNvSpPr/>
            <p:nvPr/>
          </p:nvSpPr>
          <p:spPr>
            <a:xfrm>
              <a:off x="6089845" y="3221263"/>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4" name="Google Shape;564;p8"/>
            <p:cNvPicPr preferRelativeResize="0"/>
            <p:nvPr/>
          </p:nvPicPr>
          <p:blipFill rotWithShape="1">
            <a:blip r:embed="rId3">
              <a:alphaModFix/>
            </a:blip>
            <a:srcRect b="0" l="0" r="0" t="0"/>
            <a:stretch/>
          </p:blipFill>
          <p:spPr>
            <a:xfrm>
              <a:off x="6140318" y="3223753"/>
              <a:ext cx="1062515" cy="1062515"/>
            </a:xfrm>
            <a:prstGeom prst="rect">
              <a:avLst/>
            </a:prstGeom>
            <a:noFill/>
            <a:ln>
              <a:noFill/>
            </a:ln>
          </p:spPr>
        </p:pic>
      </p:grpSp>
      <p:grpSp>
        <p:nvGrpSpPr>
          <p:cNvPr id="565" name="Google Shape;565;p8"/>
          <p:cNvGrpSpPr/>
          <p:nvPr/>
        </p:nvGrpSpPr>
        <p:grpSpPr>
          <a:xfrm>
            <a:off x="5612448" y="2262971"/>
            <a:ext cx="1058062" cy="1063537"/>
            <a:chOff x="4792341" y="4406849"/>
            <a:chExt cx="1058062" cy="1063537"/>
          </a:xfrm>
        </p:grpSpPr>
        <p:sp>
          <p:nvSpPr>
            <p:cNvPr id="566" name="Google Shape;566;p8"/>
            <p:cNvSpPr/>
            <p:nvPr/>
          </p:nvSpPr>
          <p:spPr>
            <a:xfrm>
              <a:off x="4792341" y="4406849"/>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7" name="Google Shape;567;p8"/>
            <p:cNvPicPr preferRelativeResize="0"/>
            <p:nvPr/>
          </p:nvPicPr>
          <p:blipFill rotWithShape="1">
            <a:blip r:embed="rId4">
              <a:alphaModFix/>
            </a:blip>
            <a:srcRect b="0" l="0" r="0" t="0"/>
            <a:stretch/>
          </p:blipFill>
          <p:spPr>
            <a:xfrm>
              <a:off x="4814117" y="4434100"/>
              <a:ext cx="1036286" cy="1036286"/>
            </a:xfrm>
            <a:prstGeom prst="rect">
              <a:avLst/>
            </a:prstGeom>
            <a:noFill/>
            <a:ln>
              <a:noFill/>
            </a:ln>
          </p:spPr>
        </p:pic>
      </p:grpSp>
      <p:grpSp>
        <p:nvGrpSpPr>
          <p:cNvPr id="568" name="Google Shape;568;p8"/>
          <p:cNvGrpSpPr/>
          <p:nvPr/>
        </p:nvGrpSpPr>
        <p:grpSpPr>
          <a:xfrm>
            <a:off x="5611627" y="3955605"/>
            <a:ext cx="1040409" cy="1051505"/>
            <a:chOff x="6089845" y="4406849"/>
            <a:chExt cx="1040409" cy="1051505"/>
          </a:xfrm>
        </p:grpSpPr>
        <p:sp>
          <p:nvSpPr>
            <p:cNvPr id="569" name="Google Shape;569;p8"/>
            <p:cNvSpPr/>
            <p:nvPr/>
          </p:nvSpPr>
          <p:spPr>
            <a:xfrm>
              <a:off x="6089845" y="4406849"/>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0" name="Google Shape;570;p8"/>
            <p:cNvPicPr preferRelativeResize="0"/>
            <p:nvPr/>
          </p:nvPicPr>
          <p:blipFill rotWithShape="1">
            <a:blip r:embed="rId5">
              <a:alphaModFix/>
            </a:blip>
            <a:srcRect b="0" l="0" r="0" t="0"/>
            <a:stretch/>
          </p:blipFill>
          <p:spPr>
            <a:xfrm>
              <a:off x="6123694" y="4451794"/>
              <a:ext cx="1006560" cy="1006560"/>
            </a:xfrm>
            <a:prstGeom prst="rect">
              <a:avLst/>
            </a:prstGeom>
            <a:noFill/>
            <a:ln>
              <a:noFill/>
            </a:ln>
          </p:spPr>
        </p:pic>
      </p:grpSp>
      <p:grpSp>
        <p:nvGrpSpPr>
          <p:cNvPr id="571" name="Google Shape;571;p8"/>
          <p:cNvGrpSpPr/>
          <p:nvPr/>
        </p:nvGrpSpPr>
        <p:grpSpPr>
          <a:xfrm>
            <a:off x="1249989" y="3947611"/>
            <a:ext cx="1036839" cy="1036839"/>
            <a:chOff x="6089845" y="2000207"/>
            <a:chExt cx="1036839" cy="1036839"/>
          </a:xfrm>
        </p:grpSpPr>
        <p:sp>
          <p:nvSpPr>
            <p:cNvPr id="572" name="Google Shape;572;p8"/>
            <p:cNvSpPr/>
            <p:nvPr/>
          </p:nvSpPr>
          <p:spPr>
            <a:xfrm>
              <a:off x="6089845" y="2000207"/>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3" name="Google Shape;573;p8"/>
            <p:cNvPicPr preferRelativeResize="0"/>
            <p:nvPr/>
          </p:nvPicPr>
          <p:blipFill rotWithShape="1">
            <a:blip r:embed="rId6">
              <a:alphaModFix/>
            </a:blip>
            <a:srcRect b="0" l="0" r="0" t="0"/>
            <a:stretch/>
          </p:blipFill>
          <p:spPr>
            <a:xfrm>
              <a:off x="6172173" y="2058139"/>
              <a:ext cx="909603" cy="909603"/>
            </a:xfrm>
            <a:prstGeom prst="rect">
              <a:avLst/>
            </a:prstGeom>
            <a:noFill/>
            <a:ln>
              <a:noFill/>
            </a:ln>
          </p:spPr>
        </p:pic>
      </p:grpSp>
      <p:grpSp>
        <p:nvGrpSpPr>
          <p:cNvPr id="574" name="Google Shape;574;p8"/>
          <p:cNvGrpSpPr/>
          <p:nvPr/>
        </p:nvGrpSpPr>
        <p:grpSpPr>
          <a:xfrm>
            <a:off x="1229448" y="2276320"/>
            <a:ext cx="1036839" cy="1036839"/>
            <a:chOff x="4792341" y="2000207"/>
            <a:chExt cx="1036839" cy="1036839"/>
          </a:xfrm>
        </p:grpSpPr>
        <p:sp>
          <p:nvSpPr>
            <p:cNvPr id="575" name="Google Shape;575;p8"/>
            <p:cNvSpPr/>
            <p:nvPr/>
          </p:nvSpPr>
          <p:spPr>
            <a:xfrm>
              <a:off x="4792341" y="2000207"/>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6" name="Google Shape;576;p8"/>
            <p:cNvPicPr preferRelativeResize="0"/>
            <p:nvPr/>
          </p:nvPicPr>
          <p:blipFill rotWithShape="1">
            <a:blip r:embed="rId7">
              <a:alphaModFix/>
            </a:blip>
            <a:srcRect b="0" l="0" r="0" t="0"/>
            <a:stretch/>
          </p:blipFill>
          <p:spPr>
            <a:xfrm>
              <a:off x="4897497" y="2098215"/>
              <a:ext cx="869527" cy="869527"/>
            </a:xfrm>
            <a:prstGeom prst="rect">
              <a:avLst/>
            </a:prstGeom>
            <a:noFill/>
            <a:ln>
              <a:noFill/>
            </a:ln>
          </p:spPr>
        </p:pic>
      </p:grpSp>
      <p:grpSp>
        <p:nvGrpSpPr>
          <p:cNvPr id="577" name="Google Shape;577;p8"/>
          <p:cNvGrpSpPr/>
          <p:nvPr/>
        </p:nvGrpSpPr>
        <p:grpSpPr>
          <a:xfrm>
            <a:off x="3420948" y="2276320"/>
            <a:ext cx="1036839" cy="1036839"/>
            <a:chOff x="4792341" y="3221263"/>
            <a:chExt cx="1036839" cy="1036839"/>
          </a:xfrm>
        </p:grpSpPr>
        <p:sp>
          <p:nvSpPr>
            <p:cNvPr id="578" name="Google Shape;578;p8"/>
            <p:cNvSpPr/>
            <p:nvPr/>
          </p:nvSpPr>
          <p:spPr>
            <a:xfrm>
              <a:off x="4792341" y="3221263"/>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9" name="Google Shape;579;p8"/>
            <p:cNvPicPr preferRelativeResize="0"/>
            <p:nvPr/>
          </p:nvPicPr>
          <p:blipFill rotWithShape="1">
            <a:blip r:embed="rId8">
              <a:alphaModFix/>
            </a:blip>
            <a:srcRect b="0" l="0" r="0" t="0"/>
            <a:stretch/>
          </p:blipFill>
          <p:spPr>
            <a:xfrm>
              <a:off x="4862762" y="3284536"/>
              <a:ext cx="938997" cy="938997"/>
            </a:xfrm>
            <a:prstGeom prst="rect">
              <a:avLst/>
            </a:prstGeom>
            <a:noFill/>
            <a:ln>
              <a:noFill/>
            </a:ln>
          </p:spPr>
        </p:pic>
      </p:grpSp>
      <p:sp>
        <p:nvSpPr>
          <p:cNvPr id="580" name="Google Shape;580;p8"/>
          <p:cNvSpPr/>
          <p:nvPr/>
        </p:nvSpPr>
        <p:spPr>
          <a:xfrm>
            <a:off x="8477250" y="1883488"/>
            <a:ext cx="2926080" cy="378529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1" name="Google Shape;581;p8"/>
          <p:cNvSpPr/>
          <p:nvPr/>
        </p:nvSpPr>
        <p:spPr>
          <a:xfrm>
            <a:off x="8577330" y="2339567"/>
            <a:ext cx="2745735"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Focuses on the skills and processes to align IT strategy with business strategy</a:t>
            </a: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
        <p:nvSpPr>
          <p:cNvPr id="582" name="Google Shape;582;p8"/>
          <p:cNvSpPr/>
          <p:nvPr/>
        </p:nvSpPr>
        <p:spPr>
          <a:xfrm>
            <a:off x="8533706" y="3914454"/>
            <a:ext cx="2832981" cy="1754326"/>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Chief information officer (CIO)</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Program managers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Enterprise architects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Business analysts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Portfolio managers</a:t>
            </a:r>
            <a:endParaRPr/>
          </a:p>
        </p:txBody>
      </p:sp>
      <p:sp>
        <p:nvSpPr>
          <p:cNvPr id="583" name="Google Shape;583;p8"/>
          <p:cNvSpPr txBox="1"/>
          <p:nvPr/>
        </p:nvSpPr>
        <p:spPr>
          <a:xfrm>
            <a:off x="8548481" y="1922832"/>
            <a:ext cx="143936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507EFF"/>
                </a:solidFill>
                <a:latin typeface="Arial"/>
                <a:ea typeface="Arial"/>
                <a:cs typeface="Arial"/>
                <a:sym typeface="Arial"/>
              </a:rPr>
              <a:t>Goal</a:t>
            </a:r>
            <a:endParaRPr/>
          </a:p>
        </p:txBody>
      </p:sp>
      <p:sp>
        <p:nvSpPr>
          <p:cNvPr id="584" name="Google Shape;584;p8"/>
          <p:cNvSpPr txBox="1"/>
          <p:nvPr/>
        </p:nvSpPr>
        <p:spPr>
          <a:xfrm>
            <a:off x="8556752" y="3505153"/>
            <a:ext cx="236327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507EFF"/>
                </a:solidFill>
                <a:latin typeface="Arial"/>
                <a:ea typeface="Arial"/>
                <a:cs typeface="Arial"/>
                <a:sym typeface="Arial"/>
              </a:rPr>
              <a:t>Common roles</a:t>
            </a:r>
            <a:endParaRPr/>
          </a:p>
        </p:txBody>
      </p:sp>
      <p:sp>
        <p:nvSpPr>
          <p:cNvPr id="585" name="Google Shape;585;p8"/>
          <p:cNvSpPr/>
          <p:nvPr/>
        </p:nvSpPr>
        <p:spPr>
          <a:xfrm>
            <a:off x="778208" y="1745759"/>
            <a:ext cx="4246021" cy="2057574"/>
          </a:xfrm>
          <a:prstGeom prst="rect">
            <a:avLst/>
          </a:prstGeom>
          <a:solidFill>
            <a:srgbClr val="FFFFFF">
              <a:alpha val="6274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6" name="Google Shape;586;p8"/>
          <p:cNvSpPr/>
          <p:nvPr/>
        </p:nvSpPr>
        <p:spPr>
          <a:xfrm>
            <a:off x="1078426" y="3831499"/>
            <a:ext cx="6085526" cy="2057574"/>
          </a:xfrm>
          <a:prstGeom prst="rect">
            <a:avLst/>
          </a:prstGeom>
          <a:solidFill>
            <a:srgbClr val="FFFFFF">
              <a:alpha val="6274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87" name="Google Shape;587;p8"/>
          <p:cNvCxnSpPr>
            <a:stCxn id="567" idx="2"/>
          </p:cNvCxnSpPr>
          <p:nvPr/>
        </p:nvCxnSpPr>
        <p:spPr>
          <a:xfrm flipH="1" rot="-5400000">
            <a:off x="7111167" y="2367708"/>
            <a:ext cx="407400" cy="2325000"/>
          </a:xfrm>
          <a:prstGeom prst="bentConnector2">
            <a:avLst/>
          </a:prstGeom>
          <a:noFill/>
          <a:ln cap="flat" cmpd="sng" w="9525">
            <a:solidFill>
              <a:schemeClr val="dk1"/>
            </a:solidFill>
            <a:prstDash val="solid"/>
            <a:miter lim="800000"/>
            <a:headEnd len="sm" w="sm" type="none"/>
            <a:tailEnd len="sm" w="sm" type="none"/>
          </a:ln>
        </p:spPr>
      </p:cxnSp>
      <p:sp>
        <p:nvSpPr>
          <p:cNvPr id="588" name="Google Shape;588;p8"/>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9"/>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latin typeface="Arial"/>
                <a:ea typeface="Arial"/>
                <a:cs typeface="Arial"/>
                <a:sym typeface="Arial"/>
              </a:rPr>
              <a:t>Platform perspective</a:t>
            </a:r>
            <a:endParaRPr/>
          </a:p>
        </p:txBody>
      </p:sp>
      <p:sp>
        <p:nvSpPr>
          <p:cNvPr id="594" name="Google Shape;594;p9"/>
          <p:cNvSpPr/>
          <p:nvPr/>
        </p:nvSpPr>
        <p:spPr>
          <a:xfrm>
            <a:off x="807604"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Business</a:t>
            </a:r>
            <a:endParaRPr b="0" i="0" sz="2400" u="none" cap="none" strike="noStrike">
              <a:solidFill>
                <a:schemeClr val="dk1"/>
              </a:solidFill>
              <a:latin typeface="Arial"/>
              <a:ea typeface="Arial"/>
              <a:cs typeface="Arial"/>
              <a:sym typeface="Arial"/>
            </a:endParaRPr>
          </a:p>
        </p:txBody>
      </p:sp>
      <p:sp>
        <p:nvSpPr>
          <p:cNvPr id="595" name="Google Shape;595;p9"/>
          <p:cNvSpPr/>
          <p:nvPr/>
        </p:nvSpPr>
        <p:spPr>
          <a:xfrm>
            <a:off x="2978049"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lang="en-US" sz="2400">
                <a:solidFill>
                  <a:srgbClr val="232F3E"/>
                </a:solidFill>
                <a:latin typeface="Arial"/>
                <a:ea typeface="Arial"/>
                <a:cs typeface="Arial"/>
                <a:sym typeface="Arial"/>
              </a:rPr>
              <a:t>People</a:t>
            </a:r>
            <a:endParaRPr b="0" i="0" sz="2400" u="none" cap="none" strike="noStrike">
              <a:solidFill>
                <a:srgbClr val="232F3E"/>
              </a:solidFill>
              <a:latin typeface="Arial"/>
              <a:ea typeface="Arial"/>
              <a:cs typeface="Arial"/>
              <a:sym typeface="Arial"/>
            </a:endParaRPr>
          </a:p>
        </p:txBody>
      </p:sp>
      <p:sp>
        <p:nvSpPr>
          <p:cNvPr id="596" name="Google Shape;596;p9"/>
          <p:cNvSpPr/>
          <p:nvPr/>
        </p:nvSpPr>
        <p:spPr>
          <a:xfrm>
            <a:off x="5157207"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lang="en-US" sz="2400">
                <a:solidFill>
                  <a:srgbClr val="232F3E"/>
                </a:solidFill>
                <a:latin typeface="Arial"/>
                <a:ea typeface="Arial"/>
                <a:cs typeface="Arial"/>
                <a:sym typeface="Arial"/>
              </a:rPr>
              <a:t>Governance</a:t>
            </a:r>
            <a:endParaRPr b="0" i="0" sz="2400" u="none" cap="none" strike="noStrike">
              <a:solidFill>
                <a:srgbClr val="232F3E"/>
              </a:solidFill>
              <a:latin typeface="Arial"/>
              <a:ea typeface="Arial"/>
              <a:cs typeface="Arial"/>
              <a:sym typeface="Arial"/>
            </a:endParaRPr>
          </a:p>
        </p:txBody>
      </p:sp>
      <p:sp>
        <p:nvSpPr>
          <p:cNvPr id="597" name="Google Shape;597;p9"/>
          <p:cNvSpPr/>
          <p:nvPr/>
        </p:nvSpPr>
        <p:spPr>
          <a:xfrm>
            <a:off x="692370"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Platform</a:t>
            </a:r>
            <a:endParaRPr/>
          </a:p>
        </p:txBody>
      </p:sp>
      <p:sp>
        <p:nvSpPr>
          <p:cNvPr id="598" name="Google Shape;598;p9"/>
          <p:cNvSpPr/>
          <p:nvPr/>
        </p:nvSpPr>
        <p:spPr>
          <a:xfrm>
            <a:off x="2882697"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Security</a:t>
            </a:r>
            <a:endParaRPr/>
          </a:p>
        </p:txBody>
      </p:sp>
      <p:sp>
        <p:nvSpPr>
          <p:cNvPr id="599" name="Google Shape;599;p9"/>
          <p:cNvSpPr/>
          <p:nvPr/>
        </p:nvSpPr>
        <p:spPr>
          <a:xfrm>
            <a:off x="5041973"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Operations</a:t>
            </a:r>
            <a:endParaRPr/>
          </a:p>
        </p:txBody>
      </p:sp>
      <p:grpSp>
        <p:nvGrpSpPr>
          <p:cNvPr id="600" name="Google Shape;600;p9"/>
          <p:cNvGrpSpPr/>
          <p:nvPr/>
        </p:nvGrpSpPr>
        <p:grpSpPr>
          <a:xfrm>
            <a:off x="3452633" y="3950341"/>
            <a:ext cx="1112988" cy="1065005"/>
            <a:chOff x="6089845" y="3221263"/>
            <a:chExt cx="1112988" cy="1065005"/>
          </a:xfrm>
        </p:grpSpPr>
        <p:sp>
          <p:nvSpPr>
            <p:cNvPr id="601" name="Google Shape;601;p9"/>
            <p:cNvSpPr/>
            <p:nvPr/>
          </p:nvSpPr>
          <p:spPr>
            <a:xfrm>
              <a:off x="6089845" y="3221263"/>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2" name="Google Shape;602;p9"/>
            <p:cNvPicPr preferRelativeResize="0"/>
            <p:nvPr/>
          </p:nvPicPr>
          <p:blipFill rotWithShape="1">
            <a:blip r:embed="rId3">
              <a:alphaModFix/>
            </a:blip>
            <a:srcRect b="0" l="0" r="0" t="0"/>
            <a:stretch/>
          </p:blipFill>
          <p:spPr>
            <a:xfrm>
              <a:off x="6140318" y="3223753"/>
              <a:ext cx="1062515" cy="1062515"/>
            </a:xfrm>
            <a:prstGeom prst="rect">
              <a:avLst/>
            </a:prstGeom>
            <a:noFill/>
            <a:ln>
              <a:noFill/>
            </a:ln>
          </p:spPr>
        </p:pic>
      </p:grpSp>
      <p:grpSp>
        <p:nvGrpSpPr>
          <p:cNvPr id="603" name="Google Shape;603;p9"/>
          <p:cNvGrpSpPr/>
          <p:nvPr/>
        </p:nvGrpSpPr>
        <p:grpSpPr>
          <a:xfrm>
            <a:off x="5612448" y="2262971"/>
            <a:ext cx="1058062" cy="1063537"/>
            <a:chOff x="4792341" y="4406849"/>
            <a:chExt cx="1058062" cy="1063537"/>
          </a:xfrm>
        </p:grpSpPr>
        <p:sp>
          <p:nvSpPr>
            <p:cNvPr id="604" name="Google Shape;604;p9"/>
            <p:cNvSpPr/>
            <p:nvPr/>
          </p:nvSpPr>
          <p:spPr>
            <a:xfrm>
              <a:off x="4792341" y="4406849"/>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5" name="Google Shape;605;p9"/>
            <p:cNvPicPr preferRelativeResize="0"/>
            <p:nvPr/>
          </p:nvPicPr>
          <p:blipFill rotWithShape="1">
            <a:blip r:embed="rId4">
              <a:alphaModFix/>
            </a:blip>
            <a:srcRect b="0" l="0" r="0" t="0"/>
            <a:stretch/>
          </p:blipFill>
          <p:spPr>
            <a:xfrm>
              <a:off x="4814117" y="4434100"/>
              <a:ext cx="1036286" cy="1036286"/>
            </a:xfrm>
            <a:prstGeom prst="rect">
              <a:avLst/>
            </a:prstGeom>
            <a:noFill/>
            <a:ln>
              <a:noFill/>
            </a:ln>
          </p:spPr>
        </p:pic>
      </p:grpSp>
      <p:grpSp>
        <p:nvGrpSpPr>
          <p:cNvPr id="606" name="Google Shape;606;p9"/>
          <p:cNvGrpSpPr/>
          <p:nvPr/>
        </p:nvGrpSpPr>
        <p:grpSpPr>
          <a:xfrm>
            <a:off x="5611627" y="3955605"/>
            <a:ext cx="1040409" cy="1051505"/>
            <a:chOff x="6089845" y="4406849"/>
            <a:chExt cx="1040409" cy="1051505"/>
          </a:xfrm>
        </p:grpSpPr>
        <p:sp>
          <p:nvSpPr>
            <p:cNvPr id="607" name="Google Shape;607;p9"/>
            <p:cNvSpPr/>
            <p:nvPr/>
          </p:nvSpPr>
          <p:spPr>
            <a:xfrm>
              <a:off x="6089845" y="4406849"/>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8" name="Google Shape;608;p9"/>
            <p:cNvPicPr preferRelativeResize="0"/>
            <p:nvPr/>
          </p:nvPicPr>
          <p:blipFill rotWithShape="1">
            <a:blip r:embed="rId5">
              <a:alphaModFix/>
            </a:blip>
            <a:srcRect b="0" l="0" r="0" t="0"/>
            <a:stretch/>
          </p:blipFill>
          <p:spPr>
            <a:xfrm>
              <a:off x="6123694" y="4451794"/>
              <a:ext cx="1006560" cy="1006560"/>
            </a:xfrm>
            <a:prstGeom prst="rect">
              <a:avLst/>
            </a:prstGeom>
            <a:noFill/>
            <a:ln>
              <a:noFill/>
            </a:ln>
          </p:spPr>
        </p:pic>
      </p:grpSp>
      <p:grpSp>
        <p:nvGrpSpPr>
          <p:cNvPr id="609" name="Google Shape;609;p9"/>
          <p:cNvGrpSpPr/>
          <p:nvPr/>
        </p:nvGrpSpPr>
        <p:grpSpPr>
          <a:xfrm>
            <a:off x="1249989" y="3947611"/>
            <a:ext cx="1036839" cy="1036839"/>
            <a:chOff x="6089845" y="2000207"/>
            <a:chExt cx="1036839" cy="1036839"/>
          </a:xfrm>
        </p:grpSpPr>
        <p:sp>
          <p:nvSpPr>
            <p:cNvPr id="610" name="Google Shape;610;p9"/>
            <p:cNvSpPr/>
            <p:nvPr/>
          </p:nvSpPr>
          <p:spPr>
            <a:xfrm>
              <a:off x="6089845" y="2000207"/>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1" name="Google Shape;611;p9"/>
            <p:cNvPicPr preferRelativeResize="0"/>
            <p:nvPr/>
          </p:nvPicPr>
          <p:blipFill rotWithShape="1">
            <a:blip r:embed="rId6">
              <a:alphaModFix/>
            </a:blip>
            <a:srcRect b="0" l="0" r="0" t="0"/>
            <a:stretch/>
          </p:blipFill>
          <p:spPr>
            <a:xfrm>
              <a:off x="6172173" y="2058139"/>
              <a:ext cx="909603" cy="909603"/>
            </a:xfrm>
            <a:prstGeom prst="rect">
              <a:avLst/>
            </a:prstGeom>
            <a:noFill/>
            <a:ln>
              <a:noFill/>
            </a:ln>
          </p:spPr>
        </p:pic>
      </p:grpSp>
      <p:grpSp>
        <p:nvGrpSpPr>
          <p:cNvPr id="612" name="Google Shape;612;p9"/>
          <p:cNvGrpSpPr/>
          <p:nvPr/>
        </p:nvGrpSpPr>
        <p:grpSpPr>
          <a:xfrm>
            <a:off x="1229448" y="2276320"/>
            <a:ext cx="1036839" cy="1036839"/>
            <a:chOff x="4792341" y="2000207"/>
            <a:chExt cx="1036839" cy="1036839"/>
          </a:xfrm>
        </p:grpSpPr>
        <p:sp>
          <p:nvSpPr>
            <p:cNvPr id="613" name="Google Shape;613;p9"/>
            <p:cNvSpPr/>
            <p:nvPr/>
          </p:nvSpPr>
          <p:spPr>
            <a:xfrm>
              <a:off x="4792341" y="2000207"/>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4" name="Google Shape;614;p9"/>
            <p:cNvPicPr preferRelativeResize="0"/>
            <p:nvPr/>
          </p:nvPicPr>
          <p:blipFill rotWithShape="1">
            <a:blip r:embed="rId7">
              <a:alphaModFix/>
            </a:blip>
            <a:srcRect b="0" l="0" r="0" t="0"/>
            <a:stretch/>
          </p:blipFill>
          <p:spPr>
            <a:xfrm>
              <a:off x="4897497" y="2098215"/>
              <a:ext cx="869527" cy="869527"/>
            </a:xfrm>
            <a:prstGeom prst="rect">
              <a:avLst/>
            </a:prstGeom>
            <a:noFill/>
            <a:ln>
              <a:noFill/>
            </a:ln>
          </p:spPr>
        </p:pic>
      </p:grpSp>
      <p:grpSp>
        <p:nvGrpSpPr>
          <p:cNvPr id="615" name="Google Shape;615;p9"/>
          <p:cNvGrpSpPr/>
          <p:nvPr/>
        </p:nvGrpSpPr>
        <p:grpSpPr>
          <a:xfrm>
            <a:off x="3420948" y="2276320"/>
            <a:ext cx="1036839" cy="1036839"/>
            <a:chOff x="4792341" y="3221263"/>
            <a:chExt cx="1036839" cy="1036839"/>
          </a:xfrm>
        </p:grpSpPr>
        <p:sp>
          <p:nvSpPr>
            <p:cNvPr id="616" name="Google Shape;616;p9"/>
            <p:cNvSpPr/>
            <p:nvPr/>
          </p:nvSpPr>
          <p:spPr>
            <a:xfrm>
              <a:off x="4792341" y="3221263"/>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7" name="Google Shape;617;p9"/>
            <p:cNvPicPr preferRelativeResize="0"/>
            <p:nvPr/>
          </p:nvPicPr>
          <p:blipFill rotWithShape="1">
            <a:blip r:embed="rId8">
              <a:alphaModFix/>
            </a:blip>
            <a:srcRect b="0" l="0" r="0" t="0"/>
            <a:stretch/>
          </p:blipFill>
          <p:spPr>
            <a:xfrm>
              <a:off x="4862762" y="3284536"/>
              <a:ext cx="938997" cy="938997"/>
            </a:xfrm>
            <a:prstGeom prst="rect">
              <a:avLst/>
            </a:prstGeom>
            <a:noFill/>
            <a:ln>
              <a:noFill/>
            </a:ln>
          </p:spPr>
        </p:pic>
      </p:grpSp>
      <p:sp>
        <p:nvSpPr>
          <p:cNvPr id="618" name="Google Shape;618;p9"/>
          <p:cNvSpPr/>
          <p:nvPr/>
        </p:nvSpPr>
        <p:spPr>
          <a:xfrm>
            <a:off x="8477250" y="1883487"/>
            <a:ext cx="2926080" cy="378561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9" name="Google Shape;619;p9"/>
          <p:cNvSpPr/>
          <p:nvPr/>
        </p:nvSpPr>
        <p:spPr>
          <a:xfrm>
            <a:off x="8577330" y="2339567"/>
            <a:ext cx="2868858"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Includes principles and patterns for implementing new solutions in the cloud, and migrating on-premises workloads to the cloud</a:t>
            </a:r>
            <a:endParaRPr/>
          </a:p>
          <a:p>
            <a:pPr indent="0" lvl="0" marL="0" marR="0" rtl="0" algn="l">
              <a:spcBef>
                <a:spcPts val="0"/>
              </a:spcBef>
              <a:spcAft>
                <a:spcPts val="0"/>
              </a:spcAft>
              <a:buNone/>
            </a:pP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
        <p:nvSpPr>
          <p:cNvPr id="620" name="Google Shape;620;p9"/>
          <p:cNvSpPr/>
          <p:nvPr/>
        </p:nvSpPr>
        <p:spPr>
          <a:xfrm>
            <a:off x="8533706" y="4436972"/>
            <a:ext cx="2832981" cy="120032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Chief technology officer (CTO)</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IT managers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Solutions architects</a:t>
            </a:r>
            <a:endParaRPr/>
          </a:p>
        </p:txBody>
      </p:sp>
      <p:sp>
        <p:nvSpPr>
          <p:cNvPr id="621" name="Google Shape;621;p9"/>
          <p:cNvSpPr txBox="1"/>
          <p:nvPr/>
        </p:nvSpPr>
        <p:spPr>
          <a:xfrm>
            <a:off x="8548481" y="1922832"/>
            <a:ext cx="143936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507EFF"/>
                </a:solidFill>
                <a:latin typeface="Arial"/>
                <a:ea typeface="Arial"/>
                <a:cs typeface="Arial"/>
                <a:sym typeface="Arial"/>
              </a:rPr>
              <a:t>Goal</a:t>
            </a:r>
            <a:endParaRPr/>
          </a:p>
        </p:txBody>
      </p:sp>
      <p:sp>
        <p:nvSpPr>
          <p:cNvPr id="622" name="Google Shape;622;p9"/>
          <p:cNvSpPr txBox="1"/>
          <p:nvPr/>
        </p:nvSpPr>
        <p:spPr>
          <a:xfrm>
            <a:off x="8556752" y="4027671"/>
            <a:ext cx="236327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507EFF"/>
                </a:solidFill>
                <a:latin typeface="Arial"/>
                <a:ea typeface="Arial"/>
                <a:cs typeface="Arial"/>
                <a:sym typeface="Arial"/>
              </a:rPr>
              <a:t>Common roles</a:t>
            </a:r>
            <a:endParaRPr/>
          </a:p>
        </p:txBody>
      </p:sp>
      <p:sp>
        <p:nvSpPr>
          <p:cNvPr id="623" name="Google Shape;623;p9"/>
          <p:cNvSpPr/>
          <p:nvPr/>
        </p:nvSpPr>
        <p:spPr>
          <a:xfrm>
            <a:off x="2960526" y="3803038"/>
            <a:ext cx="4246021" cy="2057574"/>
          </a:xfrm>
          <a:prstGeom prst="rect">
            <a:avLst/>
          </a:prstGeom>
          <a:solidFill>
            <a:srgbClr val="FFFFFF">
              <a:alpha val="6274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4" name="Google Shape;624;p9"/>
          <p:cNvSpPr/>
          <p:nvPr/>
        </p:nvSpPr>
        <p:spPr>
          <a:xfrm>
            <a:off x="1185397" y="1732116"/>
            <a:ext cx="6085526" cy="2057574"/>
          </a:xfrm>
          <a:prstGeom prst="rect">
            <a:avLst/>
          </a:prstGeom>
          <a:solidFill>
            <a:srgbClr val="FFFFFF">
              <a:alpha val="6274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25" name="Google Shape;625;p9"/>
          <p:cNvCxnSpPr>
            <a:stCxn id="610" idx="0"/>
          </p:cNvCxnSpPr>
          <p:nvPr/>
        </p:nvCxnSpPr>
        <p:spPr>
          <a:xfrm rot="-5400000">
            <a:off x="5015909" y="486211"/>
            <a:ext cx="213900" cy="6708900"/>
          </a:xfrm>
          <a:prstGeom prst="bentConnector2">
            <a:avLst/>
          </a:prstGeom>
          <a:noFill/>
          <a:ln cap="flat" cmpd="sng" w="9525">
            <a:solidFill>
              <a:schemeClr val="dk1"/>
            </a:solidFill>
            <a:prstDash val="solid"/>
            <a:miter lim="800000"/>
            <a:headEnd len="sm" w="sm" type="none"/>
            <a:tailEnd len="sm" w="sm" type="none"/>
          </a:ln>
        </p:spPr>
      </p:cxnSp>
      <p:sp>
        <p:nvSpPr>
          <p:cNvPr id="626" name="Google Shape;626;p9"/>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10"/>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latin typeface="Arial"/>
                <a:ea typeface="Arial"/>
                <a:cs typeface="Arial"/>
                <a:sym typeface="Arial"/>
              </a:rPr>
              <a:t>Security perspective</a:t>
            </a:r>
            <a:endParaRPr/>
          </a:p>
        </p:txBody>
      </p:sp>
      <p:sp>
        <p:nvSpPr>
          <p:cNvPr id="632" name="Google Shape;632;p10"/>
          <p:cNvSpPr/>
          <p:nvPr/>
        </p:nvSpPr>
        <p:spPr>
          <a:xfrm>
            <a:off x="807604"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Business</a:t>
            </a:r>
            <a:endParaRPr b="0" i="0" sz="2400" u="none" cap="none" strike="noStrike">
              <a:solidFill>
                <a:schemeClr val="dk1"/>
              </a:solidFill>
              <a:latin typeface="Arial"/>
              <a:ea typeface="Arial"/>
              <a:cs typeface="Arial"/>
              <a:sym typeface="Arial"/>
            </a:endParaRPr>
          </a:p>
        </p:txBody>
      </p:sp>
      <p:sp>
        <p:nvSpPr>
          <p:cNvPr id="633" name="Google Shape;633;p10"/>
          <p:cNvSpPr/>
          <p:nvPr/>
        </p:nvSpPr>
        <p:spPr>
          <a:xfrm>
            <a:off x="2978049"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lang="en-US" sz="2400">
                <a:solidFill>
                  <a:srgbClr val="232F3E"/>
                </a:solidFill>
                <a:latin typeface="Arial"/>
                <a:ea typeface="Arial"/>
                <a:cs typeface="Arial"/>
                <a:sym typeface="Arial"/>
              </a:rPr>
              <a:t>People</a:t>
            </a:r>
            <a:endParaRPr b="0" i="0" sz="2400" u="none" cap="none" strike="noStrike">
              <a:solidFill>
                <a:srgbClr val="232F3E"/>
              </a:solidFill>
              <a:latin typeface="Arial"/>
              <a:ea typeface="Arial"/>
              <a:cs typeface="Arial"/>
              <a:sym typeface="Arial"/>
            </a:endParaRPr>
          </a:p>
        </p:txBody>
      </p:sp>
      <p:sp>
        <p:nvSpPr>
          <p:cNvPr id="634" name="Google Shape;634;p10"/>
          <p:cNvSpPr/>
          <p:nvPr/>
        </p:nvSpPr>
        <p:spPr>
          <a:xfrm>
            <a:off x="5157207"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lang="en-US" sz="2400">
                <a:solidFill>
                  <a:srgbClr val="232F3E"/>
                </a:solidFill>
                <a:latin typeface="Arial"/>
                <a:ea typeface="Arial"/>
                <a:cs typeface="Arial"/>
                <a:sym typeface="Arial"/>
              </a:rPr>
              <a:t>Governance</a:t>
            </a:r>
            <a:endParaRPr b="0" i="0" sz="2400" u="none" cap="none" strike="noStrike">
              <a:solidFill>
                <a:srgbClr val="232F3E"/>
              </a:solidFill>
              <a:latin typeface="Arial"/>
              <a:ea typeface="Arial"/>
              <a:cs typeface="Arial"/>
              <a:sym typeface="Arial"/>
            </a:endParaRPr>
          </a:p>
        </p:txBody>
      </p:sp>
      <p:sp>
        <p:nvSpPr>
          <p:cNvPr id="635" name="Google Shape;635;p10"/>
          <p:cNvSpPr/>
          <p:nvPr/>
        </p:nvSpPr>
        <p:spPr>
          <a:xfrm>
            <a:off x="692370"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Platform</a:t>
            </a:r>
            <a:endParaRPr/>
          </a:p>
        </p:txBody>
      </p:sp>
      <p:sp>
        <p:nvSpPr>
          <p:cNvPr id="636" name="Google Shape;636;p10"/>
          <p:cNvSpPr/>
          <p:nvPr/>
        </p:nvSpPr>
        <p:spPr>
          <a:xfrm>
            <a:off x="2882697"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Security</a:t>
            </a:r>
            <a:endParaRPr/>
          </a:p>
        </p:txBody>
      </p:sp>
      <p:sp>
        <p:nvSpPr>
          <p:cNvPr id="637" name="Google Shape;637;p10"/>
          <p:cNvSpPr/>
          <p:nvPr/>
        </p:nvSpPr>
        <p:spPr>
          <a:xfrm>
            <a:off x="5041973"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Operations</a:t>
            </a:r>
            <a:endParaRPr/>
          </a:p>
        </p:txBody>
      </p:sp>
      <p:grpSp>
        <p:nvGrpSpPr>
          <p:cNvPr id="638" name="Google Shape;638;p10"/>
          <p:cNvGrpSpPr/>
          <p:nvPr/>
        </p:nvGrpSpPr>
        <p:grpSpPr>
          <a:xfrm>
            <a:off x="3452633" y="3950341"/>
            <a:ext cx="1120197" cy="1062974"/>
            <a:chOff x="6089845" y="3221263"/>
            <a:chExt cx="1120197" cy="1062974"/>
          </a:xfrm>
        </p:grpSpPr>
        <p:sp>
          <p:nvSpPr>
            <p:cNvPr id="639" name="Google Shape;639;p10"/>
            <p:cNvSpPr/>
            <p:nvPr/>
          </p:nvSpPr>
          <p:spPr>
            <a:xfrm>
              <a:off x="6089845" y="3221263"/>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0" name="Google Shape;640;p10"/>
            <p:cNvPicPr preferRelativeResize="0"/>
            <p:nvPr/>
          </p:nvPicPr>
          <p:blipFill rotWithShape="1">
            <a:blip r:embed="rId3">
              <a:alphaModFix/>
            </a:blip>
            <a:srcRect b="0" l="0" r="0" t="0"/>
            <a:stretch/>
          </p:blipFill>
          <p:spPr>
            <a:xfrm>
              <a:off x="6147527" y="3221722"/>
              <a:ext cx="1062515" cy="1062515"/>
            </a:xfrm>
            <a:prstGeom prst="rect">
              <a:avLst/>
            </a:prstGeom>
            <a:noFill/>
            <a:ln>
              <a:noFill/>
            </a:ln>
          </p:spPr>
        </p:pic>
      </p:grpSp>
      <p:grpSp>
        <p:nvGrpSpPr>
          <p:cNvPr id="641" name="Google Shape;641;p10"/>
          <p:cNvGrpSpPr/>
          <p:nvPr/>
        </p:nvGrpSpPr>
        <p:grpSpPr>
          <a:xfrm>
            <a:off x="5612448" y="2262971"/>
            <a:ext cx="1058062" cy="1063537"/>
            <a:chOff x="4792341" y="4406849"/>
            <a:chExt cx="1058062" cy="1063537"/>
          </a:xfrm>
        </p:grpSpPr>
        <p:sp>
          <p:nvSpPr>
            <p:cNvPr id="642" name="Google Shape;642;p10"/>
            <p:cNvSpPr/>
            <p:nvPr/>
          </p:nvSpPr>
          <p:spPr>
            <a:xfrm>
              <a:off x="4792341" y="4406849"/>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3" name="Google Shape;643;p10"/>
            <p:cNvPicPr preferRelativeResize="0"/>
            <p:nvPr/>
          </p:nvPicPr>
          <p:blipFill rotWithShape="1">
            <a:blip r:embed="rId4">
              <a:alphaModFix/>
            </a:blip>
            <a:srcRect b="0" l="0" r="0" t="0"/>
            <a:stretch/>
          </p:blipFill>
          <p:spPr>
            <a:xfrm>
              <a:off x="4814117" y="4434100"/>
              <a:ext cx="1036286" cy="1036286"/>
            </a:xfrm>
            <a:prstGeom prst="rect">
              <a:avLst/>
            </a:prstGeom>
            <a:noFill/>
            <a:ln>
              <a:noFill/>
            </a:ln>
          </p:spPr>
        </p:pic>
      </p:grpSp>
      <p:grpSp>
        <p:nvGrpSpPr>
          <p:cNvPr id="644" name="Google Shape;644;p10"/>
          <p:cNvGrpSpPr/>
          <p:nvPr/>
        </p:nvGrpSpPr>
        <p:grpSpPr>
          <a:xfrm>
            <a:off x="5611627" y="3955605"/>
            <a:ext cx="1040409" cy="1051505"/>
            <a:chOff x="6089845" y="4406849"/>
            <a:chExt cx="1040409" cy="1051505"/>
          </a:xfrm>
        </p:grpSpPr>
        <p:sp>
          <p:nvSpPr>
            <p:cNvPr id="645" name="Google Shape;645;p10"/>
            <p:cNvSpPr/>
            <p:nvPr/>
          </p:nvSpPr>
          <p:spPr>
            <a:xfrm>
              <a:off x="6089845" y="4406849"/>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6" name="Google Shape;646;p10"/>
            <p:cNvPicPr preferRelativeResize="0"/>
            <p:nvPr/>
          </p:nvPicPr>
          <p:blipFill rotWithShape="1">
            <a:blip r:embed="rId5">
              <a:alphaModFix/>
            </a:blip>
            <a:srcRect b="0" l="0" r="0" t="0"/>
            <a:stretch/>
          </p:blipFill>
          <p:spPr>
            <a:xfrm>
              <a:off x="6123694" y="4451794"/>
              <a:ext cx="1006560" cy="1006560"/>
            </a:xfrm>
            <a:prstGeom prst="rect">
              <a:avLst/>
            </a:prstGeom>
            <a:noFill/>
            <a:ln>
              <a:noFill/>
            </a:ln>
          </p:spPr>
        </p:pic>
      </p:grpSp>
      <p:grpSp>
        <p:nvGrpSpPr>
          <p:cNvPr id="647" name="Google Shape;647;p10"/>
          <p:cNvGrpSpPr/>
          <p:nvPr/>
        </p:nvGrpSpPr>
        <p:grpSpPr>
          <a:xfrm>
            <a:off x="1249989" y="3947611"/>
            <a:ext cx="1036839" cy="1036839"/>
            <a:chOff x="6089845" y="2000207"/>
            <a:chExt cx="1036839" cy="1036839"/>
          </a:xfrm>
        </p:grpSpPr>
        <p:sp>
          <p:nvSpPr>
            <p:cNvPr id="648" name="Google Shape;648;p10"/>
            <p:cNvSpPr/>
            <p:nvPr/>
          </p:nvSpPr>
          <p:spPr>
            <a:xfrm>
              <a:off x="6089845" y="2000207"/>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9" name="Google Shape;649;p10"/>
            <p:cNvPicPr preferRelativeResize="0"/>
            <p:nvPr/>
          </p:nvPicPr>
          <p:blipFill rotWithShape="1">
            <a:blip r:embed="rId6">
              <a:alphaModFix/>
            </a:blip>
            <a:srcRect b="0" l="0" r="0" t="0"/>
            <a:stretch/>
          </p:blipFill>
          <p:spPr>
            <a:xfrm>
              <a:off x="6172173" y="2058139"/>
              <a:ext cx="909603" cy="909603"/>
            </a:xfrm>
            <a:prstGeom prst="rect">
              <a:avLst/>
            </a:prstGeom>
            <a:noFill/>
            <a:ln>
              <a:noFill/>
            </a:ln>
          </p:spPr>
        </p:pic>
      </p:grpSp>
      <p:grpSp>
        <p:nvGrpSpPr>
          <p:cNvPr id="650" name="Google Shape;650;p10"/>
          <p:cNvGrpSpPr/>
          <p:nvPr/>
        </p:nvGrpSpPr>
        <p:grpSpPr>
          <a:xfrm>
            <a:off x="1229448" y="2276320"/>
            <a:ext cx="1036839" cy="1036839"/>
            <a:chOff x="4792341" y="2000207"/>
            <a:chExt cx="1036839" cy="1036839"/>
          </a:xfrm>
        </p:grpSpPr>
        <p:sp>
          <p:nvSpPr>
            <p:cNvPr id="651" name="Google Shape;651;p10"/>
            <p:cNvSpPr/>
            <p:nvPr/>
          </p:nvSpPr>
          <p:spPr>
            <a:xfrm>
              <a:off x="4792341" y="2000207"/>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2" name="Google Shape;652;p10"/>
            <p:cNvPicPr preferRelativeResize="0"/>
            <p:nvPr/>
          </p:nvPicPr>
          <p:blipFill rotWithShape="1">
            <a:blip r:embed="rId7">
              <a:alphaModFix/>
            </a:blip>
            <a:srcRect b="0" l="0" r="0" t="0"/>
            <a:stretch/>
          </p:blipFill>
          <p:spPr>
            <a:xfrm>
              <a:off x="4897497" y="2098215"/>
              <a:ext cx="869527" cy="869527"/>
            </a:xfrm>
            <a:prstGeom prst="rect">
              <a:avLst/>
            </a:prstGeom>
            <a:noFill/>
            <a:ln>
              <a:noFill/>
            </a:ln>
          </p:spPr>
        </p:pic>
      </p:grpSp>
      <p:grpSp>
        <p:nvGrpSpPr>
          <p:cNvPr id="653" name="Google Shape;653;p10"/>
          <p:cNvGrpSpPr/>
          <p:nvPr/>
        </p:nvGrpSpPr>
        <p:grpSpPr>
          <a:xfrm>
            <a:off x="3420948" y="2276320"/>
            <a:ext cx="1036839" cy="1036839"/>
            <a:chOff x="4792341" y="3221263"/>
            <a:chExt cx="1036839" cy="1036839"/>
          </a:xfrm>
        </p:grpSpPr>
        <p:sp>
          <p:nvSpPr>
            <p:cNvPr id="654" name="Google Shape;654;p10"/>
            <p:cNvSpPr/>
            <p:nvPr/>
          </p:nvSpPr>
          <p:spPr>
            <a:xfrm>
              <a:off x="4792341" y="3221263"/>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5" name="Google Shape;655;p10"/>
            <p:cNvPicPr preferRelativeResize="0"/>
            <p:nvPr/>
          </p:nvPicPr>
          <p:blipFill rotWithShape="1">
            <a:blip r:embed="rId8">
              <a:alphaModFix/>
            </a:blip>
            <a:srcRect b="0" l="0" r="0" t="0"/>
            <a:stretch/>
          </p:blipFill>
          <p:spPr>
            <a:xfrm>
              <a:off x="4862762" y="3284536"/>
              <a:ext cx="938997" cy="938997"/>
            </a:xfrm>
            <a:prstGeom prst="rect">
              <a:avLst/>
            </a:prstGeom>
            <a:noFill/>
            <a:ln>
              <a:noFill/>
            </a:ln>
          </p:spPr>
        </p:pic>
      </p:grpSp>
      <p:sp>
        <p:nvSpPr>
          <p:cNvPr id="656" name="Google Shape;656;p10"/>
          <p:cNvSpPr/>
          <p:nvPr/>
        </p:nvSpPr>
        <p:spPr>
          <a:xfrm>
            <a:off x="8477250" y="1883487"/>
            <a:ext cx="2926080" cy="378561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7" name="Google Shape;657;p10"/>
          <p:cNvSpPr/>
          <p:nvPr/>
        </p:nvSpPr>
        <p:spPr>
          <a:xfrm>
            <a:off x="8577330" y="2339567"/>
            <a:ext cx="2905502"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Ensures that the organization meets security objectives for visibility, auditability, control, and agility</a:t>
            </a: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
        <p:nvSpPr>
          <p:cNvPr id="658" name="Google Shape;658;p10"/>
          <p:cNvSpPr/>
          <p:nvPr/>
        </p:nvSpPr>
        <p:spPr>
          <a:xfrm>
            <a:off x="8533706" y="4219258"/>
            <a:ext cx="2832981" cy="120032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Chief information security officer (CISO)</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IT security managers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IT security analysts</a:t>
            </a:r>
            <a:endParaRPr/>
          </a:p>
        </p:txBody>
      </p:sp>
      <p:sp>
        <p:nvSpPr>
          <p:cNvPr id="659" name="Google Shape;659;p10"/>
          <p:cNvSpPr txBox="1"/>
          <p:nvPr/>
        </p:nvSpPr>
        <p:spPr>
          <a:xfrm>
            <a:off x="8548481" y="1922832"/>
            <a:ext cx="143936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507EFF"/>
                </a:solidFill>
                <a:latin typeface="Arial"/>
                <a:ea typeface="Arial"/>
                <a:cs typeface="Arial"/>
                <a:sym typeface="Arial"/>
              </a:rPr>
              <a:t>Goal</a:t>
            </a:r>
            <a:endParaRPr/>
          </a:p>
        </p:txBody>
      </p:sp>
      <p:sp>
        <p:nvSpPr>
          <p:cNvPr id="660" name="Google Shape;660;p10"/>
          <p:cNvSpPr txBox="1"/>
          <p:nvPr/>
        </p:nvSpPr>
        <p:spPr>
          <a:xfrm>
            <a:off x="8556752" y="3809957"/>
            <a:ext cx="236327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507EFF"/>
                </a:solidFill>
                <a:latin typeface="Arial"/>
                <a:ea typeface="Arial"/>
                <a:cs typeface="Arial"/>
                <a:sym typeface="Arial"/>
              </a:rPr>
              <a:t>Common roles</a:t>
            </a:r>
            <a:endParaRPr/>
          </a:p>
        </p:txBody>
      </p:sp>
      <p:sp>
        <p:nvSpPr>
          <p:cNvPr id="661" name="Google Shape;661;p10"/>
          <p:cNvSpPr/>
          <p:nvPr/>
        </p:nvSpPr>
        <p:spPr>
          <a:xfrm>
            <a:off x="723733" y="3714042"/>
            <a:ext cx="1981850" cy="2057574"/>
          </a:xfrm>
          <a:prstGeom prst="rect">
            <a:avLst/>
          </a:prstGeom>
          <a:solidFill>
            <a:srgbClr val="FFFFFF">
              <a:alpha val="6274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62" name="Google Shape;662;p10"/>
          <p:cNvSpPr/>
          <p:nvPr/>
        </p:nvSpPr>
        <p:spPr>
          <a:xfrm>
            <a:off x="1084884" y="1735262"/>
            <a:ext cx="6085526" cy="2057574"/>
          </a:xfrm>
          <a:prstGeom prst="rect">
            <a:avLst/>
          </a:prstGeom>
          <a:solidFill>
            <a:srgbClr val="FFFFFF">
              <a:alpha val="6274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63" name="Google Shape;663;p10"/>
          <p:cNvCxnSpPr>
            <a:stCxn id="639" idx="0"/>
            <a:endCxn id="656" idx="1"/>
          </p:cNvCxnSpPr>
          <p:nvPr/>
        </p:nvCxnSpPr>
        <p:spPr>
          <a:xfrm rot="-5400000">
            <a:off x="6137203" y="1610191"/>
            <a:ext cx="174000" cy="4506300"/>
          </a:xfrm>
          <a:prstGeom prst="bentConnector2">
            <a:avLst/>
          </a:prstGeom>
          <a:noFill/>
          <a:ln cap="flat" cmpd="sng" w="9525">
            <a:solidFill>
              <a:schemeClr val="dk1"/>
            </a:solidFill>
            <a:prstDash val="solid"/>
            <a:miter lim="800000"/>
            <a:headEnd len="sm" w="sm" type="none"/>
            <a:tailEnd len="sm" w="sm" type="none"/>
          </a:ln>
        </p:spPr>
      </p:cxnSp>
      <p:sp>
        <p:nvSpPr>
          <p:cNvPr id="664" name="Google Shape;664;p10"/>
          <p:cNvSpPr/>
          <p:nvPr/>
        </p:nvSpPr>
        <p:spPr>
          <a:xfrm>
            <a:off x="5188560" y="3824438"/>
            <a:ext cx="1981850" cy="2057574"/>
          </a:xfrm>
          <a:prstGeom prst="rect">
            <a:avLst/>
          </a:prstGeom>
          <a:solidFill>
            <a:srgbClr val="FFFFFF">
              <a:alpha val="6274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65" name="Google Shape;665;p10"/>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11"/>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latin typeface="Arial"/>
                <a:ea typeface="Arial"/>
                <a:cs typeface="Arial"/>
                <a:sym typeface="Arial"/>
              </a:rPr>
              <a:t>Operations perspective</a:t>
            </a:r>
            <a:endParaRPr/>
          </a:p>
        </p:txBody>
      </p:sp>
      <p:sp>
        <p:nvSpPr>
          <p:cNvPr id="671" name="Google Shape;671;p11"/>
          <p:cNvSpPr/>
          <p:nvPr/>
        </p:nvSpPr>
        <p:spPr>
          <a:xfrm>
            <a:off x="807604"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Business</a:t>
            </a:r>
            <a:endParaRPr b="0" i="0" sz="2400" u="none" cap="none" strike="noStrike">
              <a:solidFill>
                <a:schemeClr val="dk1"/>
              </a:solidFill>
              <a:latin typeface="Arial"/>
              <a:ea typeface="Arial"/>
              <a:cs typeface="Arial"/>
              <a:sym typeface="Arial"/>
            </a:endParaRPr>
          </a:p>
        </p:txBody>
      </p:sp>
      <p:sp>
        <p:nvSpPr>
          <p:cNvPr id="672" name="Google Shape;672;p11"/>
          <p:cNvSpPr/>
          <p:nvPr/>
        </p:nvSpPr>
        <p:spPr>
          <a:xfrm>
            <a:off x="2978049"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lang="en-US" sz="2400">
                <a:solidFill>
                  <a:srgbClr val="232F3E"/>
                </a:solidFill>
                <a:latin typeface="Arial"/>
                <a:ea typeface="Arial"/>
                <a:cs typeface="Arial"/>
                <a:sym typeface="Arial"/>
              </a:rPr>
              <a:t>People</a:t>
            </a:r>
            <a:endParaRPr b="0" i="0" sz="2400" u="none" cap="none" strike="noStrike">
              <a:solidFill>
                <a:srgbClr val="232F3E"/>
              </a:solidFill>
              <a:latin typeface="Arial"/>
              <a:ea typeface="Arial"/>
              <a:cs typeface="Arial"/>
              <a:sym typeface="Arial"/>
            </a:endParaRPr>
          </a:p>
        </p:txBody>
      </p:sp>
      <p:sp>
        <p:nvSpPr>
          <p:cNvPr id="673" name="Google Shape;673;p11"/>
          <p:cNvSpPr/>
          <p:nvPr/>
        </p:nvSpPr>
        <p:spPr>
          <a:xfrm>
            <a:off x="5157207" y="1705554"/>
            <a:ext cx="1958187"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lang="en-US" sz="2400">
                <a:solidFill>
                  <a:srgbClr val="232F3E"/>
                </a:solidFill>
                <a:latin typeface="Arial"/>
                <a:ea typeface="Arial"/>
                <a:cs typeface="Arial"/>
                <a:sym typeface="Arial"/>
              </a:rPr>
              <a:t>Governance</a:t>
            </a:r>
            <a:endParaRPr b="0" i="0" sz="2400" u="none" cap="none" strike="noStrike">
              <a:solidFill>
                <a:srgbClr val="232F3E"/>
              </a:solidFill>
              <a:latin typeface="Arial"/>
              <a:ea typeface="Arial"/>
              <a:cs typeface="Arial"/>
              <a:sym typeface="Arial"/>
            </a:endParaRPr>
          </a:p>
        </p:txBody>
      </p:sp>
      <p:sp>
        <p:nvSpPr>
          <p:cNvPr id="674" name="Google Shape;674;p11"/>
          <p:cNvSpPr/>
          <p:nvPr/>
        </p:nvSpPr>
        <p:spPr>
          <a:xfrm>
            <a:off x="692370"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Platform</a:t>
            </a:r>
            <a:endParaRPr/>
          </a:p>
        </p:txBody>
      </p:sp>
      <p:sp>
        <p:nvSpPr>
          <p:cNvPr id="675" name="Google Shape;675;p11"/>
          <p:cNvSpPr/>
          <p:nvPr/>
        </p:nvSpPr>
        <p:spPr>
          <a:xfrm>
            <a:off x="2882697"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Security</a:t>
            </a:r>
            <a:endParaRPr/>
          </a:p>
        </p:txBody>
      </p:sp>
      <p:sp>
        <p:nvSpPr>
          <p:cNvPr id="676" name="Google Shape;676;p11"/>
          <p:cNvSpPr/>
          <p:nvPr/>
        </p:nvSpPr>
        <p:spPr>
          <a:xfrm>
            <a:off x="5041973" y="5119203"/>
            <a:ext cx="2188654" cy="462583"/>
          </a:xfrm>
          <a:custGeom>
            <a:rect b="b" l="l" r="r" t="t"/>
            <a:pathLst>
              <a:path extrusionOk="0" h="655747" w="5671973">
                <a:moveTo>
                  <a:pt x="0" y="109313"/>
                </a:moveTo>
                <a:cubicBezTo>
                  <a:pt x="0" y="48941"/>
                  <a:pt x="48941" y="0"/>
                  <a:pt x="109313" y="0"/>
                </a:cubicBezTo>
                <a:lnTo>
                  <a:pt x="5562660" y="0"/>
                </a:lnTo>
                <a:cubicBezTo>
                  <a:pt x="5623032" y="0"/>
                  <a:pt x="5671973" y="48941"/>
                  <a:pt x="5671973" y="109313"/>
                </a:cubicBezTo>
                <a:lnTo>
                  <a:pt x="5671973" y="546434"/>
                </a:lnTo>
                <a:cubicBezTo>
                  <a:pt x="5671973" y="606806"/>
                  <a:pt x="5623032" y="655747"/>
                  <a:pt x="5562660" y="655747"/>
                </a:cubicBezTo>
                <a:lnTo>
                  <a:pt x="109313" y="655747"/>
                </a:lnTo>
                <a:cubicBezTo>
                  <a:pt x="48941" y="655747"/>
                  <a:pt x="0" y="606806"/>
                  <a:pt x="0" y="546434"/>
                </a:cubicBezTo>
                <a:lnTo>
                  <a:pt x="0" y="109313"/>
                </a:lnTo>
                <a:close/>
              </a:path>
            </a:pathLst>
          </a:custGeom>
          <a:noFill/>
          <a:ln>
            <a:noFill/>
          </a:ln>
        </p:spPr>
        <p:txBody>
          <a:bodyPr anchorCtr="0" anchor="ctr" bIns="160025" lIns="160025" spcFirstLastPara="1" rIns="160025" wrap="square" tIns="160025">
            <a:noAutofit/>
          </a:bodyPr>
          <a:lstStyle/>
          <a:p>
            <a:pPr indent="0" lvl="0" marL="0" marR="0" rtl="0" algn="ctr">
              <a:lnSpc>
                <a:spcPct val="90000"/>
              </a:lnSpc>
              <a:spcBef>
                <a:spcPts val="0"/>
              </a:spcBef>
              <a:spcAft>
                <a:spcPts val="0"/>
              </a:spcAft>
              <a:buClr>
                <a:srgbClr val="232F3E"/>
              </a:buClr>
              <a:buSzPts val="2400"/>
              <a:buFont typeface="Arial"/>
              <a:buNone/>
            </a:pPr>
            <a:r>
              <a:rPr b="0" i="0" lang="en-US" sz="2400" u="none" cap="none" strike="noStrike">
                <a:solidFill>
                  <a:srgbClr val="232F3E"/>
                </a:solidFill>
                <a:latin typeface="Arial"/>
                <a:ea typeface="Arial"/>
                <a:cs typeface="Arial"/>
                <a:sym typeface="Arial"/>
              </a:rPr>
              <a:t>Operations</a:t>
            </a:r>
            <a:endParaRPr/>
          </a:p>
        </p:txBody>
      </p:sp>
      <p:grpSp>
        <p:nvGrpSpPr>
          <p:cNvPr id="677" name="Google Shape;677;p11"/>
          <p:cNvGrpSpPr/>
          <p:nvPr/>
        </p:nvGrpSpPr>
        <p:grpSpPr>
          <a:xfrm>
            <a:off x="3452633" y="3950341"/>
            <a:ext cx="1112988" cy="1065005"/>
            <a:chOff x="6089845" y="3221263"/>
            <a:chExt cx="1112988" cy="1065005"/>
          </a:xfrm>
        </p:grpSpPr>
        <p:sp>
          <p:nvSpPr>
            <p:cNvPr id="678" name="Google Shape;678;p11"/>
            <p:cNvSpPr/>
            <p:nvPr/>
          </p:nvSpPr>
          <p:spPr>
            <a:xfrm>
              <a:off x="6089845" y="3221263"/>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9" name="Google Shape;679;p11"/>
            <p:cNvPicPr preferRelativeResize="0"/>
            <p:nvPr/>
          </p:nvPicPr>
          <p:blipFill rotWithShape="1">
            <a:blip r:embed="rId3">
              <a:alphaModFix/>
            </a:blip>
            <a:srcRect b="0" l="0" r="0" t="0"/>
            <a:stretch/>
          </p:blipFill>
          <p:spPr>
            <a:xfrm>
              <a:off x="6140318" y="3223753"/>
              <a:ext cx="1062515" cy="1062515"/>
            </a:xfrm>
            <a:prstGeom prst="rect">
              <a:avLst/>
            </a:prstGeom>
            <a:noFill/>
            <a:ln>
              <a:noFill/>
            </a:ln>
          </p:spPr>
        </p:pic>
      </p:grpSp>
      <p:grpSp>
        <p:nvGrpSpPr>
          <p:cNvPr id="680" name="Google Shape;680;p11"/>
          <p:cNvGrpSpPr/>
          <p:nvPr/>
        </p:nvGrpSpPr>
        <p:grpSpPr>
          <a:xfrm>
            <a:off x="5612448" y="2262971"/>
            <a:ext cx="1058062" cy="1063537"/>
            <a:chOff x="4792341" y="4406849"/>
            <a:chExt cx="1058062" cy="1063537"/>
          </a:xfrm>
        </p:grpSpPr>
        <p:sp>
          <p:nvSpPr>
            <p:cNvPr id="681" name="Google Shape;681;p11"/>
            <p:cNvSpPr/>
            <p:nvPr/>
          </p:nvSpPr>
          <p:spPr>
            <a:xfrm>
              <a:off x="4792341" y="4406849"/>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2" name="Google Shape;682;p11"/>
            <p:cNvPicPr preferRelativeResize="0"/>
            <p:nvPr/>
          </p:nvPicPr>
          <p:blipFill rotWithShape="1">
            <a:blip r:embed="rId4">
              <a:alphaModFix/>
            </a:blip>
            <a:srcRect b="0" l="0" r="0" t="0"/>
            <a:stretch/>
          </p:blipFill>
          <p:spPr>
            <a:xfrm>
              <a:off x="4814117" y="4434100"/>
              <a:ext cx="1036286" cy="1036286"/>
            </a:xfrm>
            <a:prstGeom prst="rect">
              <a:avLst/>
            </a:prstGeom>
            <a:noFill/>
            <a:ln>
              <a:noFill/>
            </a:ln>
          </p:spPr>
        </p:pic>
      </p:grpSp>
      <p:grpSp>
        <p:nvGrpSpPr>
          <p:cNvPr id="683" name="Google Shape;683;p11"/>
          <p:cNvGrpSpPr/>
          <p:nvPr/>
        </p:nvGrpSpPr>
        <p:grpSpPr>
          <a:xfrm>
            <a:off x="5611627" y="3955605"/>
            <a:ext cx="1040409" cy="1051505"/>
            <a:chOff x="6089845" y="4406849"/>
            <a:chExt cx="1040409" cy="1051505"/>
          </a:xfrm>
        </p:grpSpPr>
        <p:sp>
          <p:nvSpPr>
            <p:cNvPr id="684" name="Google Shape;684;p11"/>
            <p:cNvSpPr/>
            <p:nvPr/>
          </p:nvSpPr>
          <p:spPr>
            <a:xfrm>
              <a:off x="6089845" y="4406849"/>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5" name="Google Shape;685;p11"/>
            <p:cNvPicPr preferRelativeResize="0"/>
            <p:nvPr/>
          </p:nvPicPr>
          <p:blipFill rotWithShape="1">
            <a:blip r:embed="rId5">
              <a:alphaModFix/>
            </a:blip>
            <a:srcRect b="0" l="0" r="0" t="0"/>
            <a:stretch/>
          </p:blipFill>
          <p:spPr>
            <a:xfrm>
              <a:off x="6123694" y="4451794"/>
              <a:ext cx="1006560" cy="1006560"/>
            </a:xfrm>
            <a:prstGeom prst="rect">
              <a:avLst/>
            </a:prstGeom>
            <a:noFill/>
            <a:ln>
              <a:noFill/>
            </a:ln>
          </p:spPr>
        </p:pic>
      </p:grpSp>
      <p:grpSp>
        <p:nvGrpSpPr>
          <p:cNvPr id="686" name="Google Shape;686;p11"/>
          <p:cNvGrpSpPr/>
          <p:nvPr/>
        </p:nvGrpSpPr>
        <p:grpSpPr>
          <a:xfrm>
            <a:off x="1249989" y="3947611"/>
            <a:ext cx="1036839" cy="1036839"/>
            <a:chOff x="6089845" y="2000207"/>
            <a:chExt cx="1036839" cy="1036839"/>
          </a:xfrm>
        </p:grpSpPr>
        <p:sp>
          <p:nvSpPr>
            <p:cNvPr id="687" name="Google Shape;687;p11"/>
            <p:cNvSpPr/>
            <p:nvPr/>
          </p:nvSpPr>
          <p:spPr>
            <a:xfrm>
              <a:off x="6089845" y="2000207"/>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8" name="Google Shape;688;p11"/>
            <p:cNvPicPr preferRelativeResize="0"/>
            <p:nvPr/>
          </p:nvPicPr>
          <p:blipFill rotWithShape="1">
            <a:blip r:embed="rId6">
              <a:alphaModFix/>
            </a:blip>
            <a:srcRect b="0" l="0" r="0" t="0"/>
            <a:stretch/>
          </p:blipFill>
          <p:spPr>
            <a:xfrm>
              <a:off x="6172173" y="2058139"/>
              <a:ext cx="909603" cy="909603"/>
            </a:xfrm>
            <a:prstGeom prst="rect">
              <a:avLst/>
            </a:prstGeom>
            <a:noFill/>
            <a:ln>
              <a:noFill/>
            </a:ln>
          </p:spPr>
        </p:pic>
      </p:grpSp>
      <p:grpSp>
        <p:nvGrpSpPr>
          <p:cNvPr id="689" name="Google Shape;689;p11"/>
          <p:cNvGrpSpPr/>
          <p:nvPr/>
        </p:nvGrpSpPr>
        <p:grpSpPr>
          <a:xfrm>
            <a:off x="1229448" y="2276320"/>
            <a:ext cx="1036839" cy="1036839"/>
            <a:chOff x="4792341" y="2000207"/>
            <a:chExt cx="1036839" cy="1036839"/>
          </a:xfrm>
        </p:grpSpPr>
        <p:sp>
          <p:nvSpPr>
            <p:cNvPr id="690" name="Google Shape;690;p11"/>
            <p:cNvSpPr/>
            <p:nvPr/>
          </p:nvSpPr>
          <p:spPr>
            <a:xfrm>
              <a:off x="4792341" y="2000207"/>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1" name="Google Shape;691;p11"/>
            <p:cNvPicPr preferRelativeResize="0"/>
            <p:nvPr/>
          </p:nvPicPr>
          <p:blipFill rotWithShape="1">
            <a:blip r:embed="rId7">
              <a:alphaModFix/>
            </a:blip>
            <a:srcRect b="0" l="0" r="0" t="0"/>
            <a:stretch/>
          </p:blipFill>
          <p:spPr>
            <a:xfrm>
              <a:off x="4897497" y="2098215"/>
              <a:ext cx="869527" cy="869527"/>
            </a:xfrm>
            <a:prstGeom prst="rect">
              <a:avLst/>
            </a:prstGeom>
            <a:noFill/>
            <a:ln>
              <a:noFill/>
            </a:ln>
          </p:spPr>
        </p:pic>
      </p:grpSp>
      <p:grpSp>
        <p:nvGrpSpPr>
          <p:cNvPr id="692" name="Google Shape;692;p11"/>
          <p:cNvGrpSpPr/>
          <p:nvPr/>
        </p:nvGrpSpPr>
        <p:grpSpPr>
          <a:xfrm>
            <a:off x="3420948" y="2276320"/>
            <a:ext cx="1036839" cy="1036839"/>
            <a:chOff x="4792341" y="3221263"/>
            <a:chExt cx="1036839" cy="1036839"/>
          </a:xfrm>
        </p:grpSpPr>
        <p:sp>
          <p:nvSpPr>
            <p:cNvPr id="693" name="Google Shape;693;p11"/>
            <p:cNvSpPr/>
            <p:nvPr/>
          </p:nvSpPr>
          <p:spPr>
            <a:xfrm>
              <a:off x="4792341" y="3221263"/>
              <a:ext cx="1036839" cy="1036839"/>
            </a:xfrm>
            <a:prstGeom prst="roundRect">
              <a:avLst>
                <a:gd fmla="val 16670" name="adj"/>
              </a:avLst>
            </a:prstGeom>
            <a:solidFill>
              <a:schemeClr val="lt2"/>
            </a:solidFill>
            <a:ln cap="flat" cmpd="sng" w="12700">
              <a:solidFill>
                <a:srgbClr val="BFBFB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4" name="Google Shape;694;p11"/>
            <p:cNvPicPr preferRelativeResize="0"/>
            <p:nvPr/>
          </p:nvPicPr>
          <p:blipFill rotWithShape="1">
            <a:blip r:embed="rId8">
              <a:alphaModFix/>
            </a:blip>
            <a:srcRect b="0" l="0" r="0" t="0"/>
            <a:stretch/>
          </p:blipFill>
          <p:spPr>
            <a:xfrm>
              <a:off x="4862762" y="3284536"/>
              <a:ext cx="938997" cy="938997"/>
            </a:xfrm>
            <a:prstGeom prst="rect">
              <a:avLst/>
            </a:prstGeom>
            <a:noFill/>
            <a:ln>
              <a:noFill/>
            </a:ln>
          </p:spPr>
        </p:pic>
      </p:grpSp>
      <p:sp>
        <p:nvSpPr>
          <p:cNvPr id="695" name="Google Shape;695;p11"/>
          <p:cNvSpPr/>
          <p:nvPr/>
        </p:nvSpPr>
        <p:spPr>
          <a:xfrm>
            <a:off x="8477250" y="1883487"/>
            <a:ext cx="2926080" cy="378561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6" name="Google Shape;696;p11"/>
          <p:cNvSpPr/>
          <p:nvPr/>
        </p:nvSpPr>
        <p:spPr>
          <a:xfrm>
            <a:off x="8577330" y="2339567"/>
            <a:ext cx="2745735"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Helps you to enable, run, use, operate, and recover IT workloads to the level agreed on with your business stakeholders</a:t>
            </a: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
        <p:nvSpPr>
          <p:cNvPr id="697" name="Google Shape;697;p11"/>
          <p:cNvSpPr/>
          <p:nvPr/>
        </p:nvSpPr>
        <p:spPr>
          <a:xfrm>
            <a:off x="8533706" y="4219258"/>
            <a:ext cx="2832981" cy="64633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IT operations managers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IT support managers</a:t>
            </a:r>
            <a:endParaRPr/>
          </a:p>
        </p:txBody>
      </p:sp>
      <p:sp>
        <p:nvSpPr>
          <p:cNvPr id="698" name="Google Shape;698;p11"/>
          <p:cNvSpPr txBox="1"/>
          <p:nvPr/>
        </p:nvSpPr>
        <p:spPr>
          <a:xfrm>
            <a:off x="8548481" y="1922832"/>
            <a:ext cx="143936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507EFF"/>
                </a:solidFill>
                <a:latin typeface="Arial"/>
                <a:ea typeface="Arial"/>
                <a:cs typeface="Arial"/>
                <a:sym typeface="Arial"/>
              </a:rPr>
              <a:t>Goal</a:t>
            </a:r>
            <a:endParaRPr/>
          </a:p>
        </p:txBody>
      </p:sp>
      <p:sp>
        <p:nvSpPr>
          <p:cNvPr id="699" name="Google Shape;699;p11"/>
          <p:cNvSpPr txBox="1"/>
          <p:nvPr/>
        </p:nvSpPr>
        <p:spPr>
          <a:xfrm>
            <a:off x="8556752" y="3809957"/>
            <a:ext cx="236327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507EFF"/>
                </a:solidFill>
                <a:latin typeface="Arial"/>
                <a:ea typeface="Arial"/>
                <a:cs typeface="Arial"/>
                <a:sym typeface="Arial"/>
              </a:rPr>
              <a:t>Common roles</a:t>
            </a:r>
            <a:endParaRPr/>
          </a:p>
        </p:txBody>
      </p:sp>
      <p:sp>
        <p:nvSpPr>
          <p:cNvPr id="700" name="Google Shape;700;p11"/>
          <p:cNvSpPr/>
          <p:nvPr/>
        </p:nvSpPr>
        <p:spPr>
          <a:xfrm>
            <a:off x="642780" y="3790635"/>
            <a:ext cx="4246021" cy="2057574"/>
          </a:xfrm>
          <a:prstGeom prst="rect">
            <a:avLst/>
          </a:prstGeom>
          <a:solidFill>
            <a:srgbClr val="FFFFFF">
              <a:alpha val="6274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1" name="Google Shape;701;p11"/>
          <p:cNvSpPr/>
          <p:nvPr/>
        </p:nvSpPr>
        <p:spPr>
          <a:xfrm>
            <a:off x="1029868" y="1378498"/>
            <a:ext cx="6085526" cy="2057574"/>
          </a:xfrm>
          <a:prstGeom prst="rect">
            <a:avLst/>
          </a:prstGeom>
          <a:solidFill>
            <a:srgbClr val="FFFFFF">
              <a:alpha val="6274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702" name="Google Shape;702;p11"/>
          <p:cNvCxnSpPr>
            <a:stCxn id="684" idx="0"/>
          </p:cNvCxnSpPr>
          <p:nvPr/>
        </p:nvCxnSpPr>
        <p:spPr>
          <a:xfrm rot="-5400000">
            <a:off x="7192797" y="2671155"/>
            <a:ext cx="221700" cy="2347200"/>
          </a:xfrm>
          <a:prstGeom prst="bentConnector2">
            <a:avLst/>
          </a:prstGeom>
          <a:noFill/>
          <a:ln cap="flat" cmpd="sng" w="9525">
            <a:solidFill>
              <a:schemeClr val="dk1"/>
            </a:solidFill>
            <a:prstDash val="solid"/>
            <a:miter lim="800000"/>
            <a:headEnd len="sm" w="sm" type="none"/>
            <a:tailEnd len="sm" w="sm" type="none"/>
          </a:ln>
        </p:spPr>
      </p:cxnSp>
      <p:sp>
        <p:nvSpPr>
          <p:cNvPr id="703" name="Google Shape;703;p11"/>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12"/>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709" name="Google Shape;709;p12"/>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question</a:t>
            </a:r>
            <a:endParaRPr/>
          </a:p>
        </p:txBody>
      </p:sp>
      <p:sp>
        <p:nvSpPr>
          <p:cNvPr id="710" name="Google Shape;710;p12"/>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AWS Cloud Adoption Framework perspective helps customers design, implement, and optimize their AWS solution based on their business goals and perspectives?</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Business perspective</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Platform perspective</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Operations perspective</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People perspective</a:t>
            </a:r>
            <a:endParaRPr/>
          </a:p>
        </p:txBody>
      </p:sp>
      <p:pic>
        <p:nvPicPr>
          <p:cNvPr id="711" name="Google Shape;711;p12"/>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13"/>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717" name="Google Shape;717;p13"/>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answer</a:t>
            </a:r>
            <a:endParaRPr/>
          </a:p>
        </p:txBody>
      </p:sp>
      <p:sp>
        <p:nvSpPr>
          <p:cNvPr id="718" name="Google Shape;718;p13"/>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AWS Cloud Adoption Framework perspective helps customers design, implement, and optimize their AWS solution based on their business goals and perspectives?</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Business perspective</a:t>
            </a:r>
            <a:endParaRPr/>
          </a:p>
          <a:p>
            <a:pPr indent="-514350" lvl="0" marL="514350" rtl="0" algn="l">
              <a:lnSpc>
                <a:spcPct val="90000"/>
              </a:lnSpc>
              <a:spcBef>
                <a:spcPts val="1000"/>
              </a:spcBef>
              <a:spcAft>
                <a:spcPts val="0"/>
              </a:spcAft>
              <a:buClr>
                <a:schemeClr val="dk2"/>
              </a:buClr>
              <a:buSzPts val="2400"/>
              <a:buFont typeface="Arial"/>
              <a:buAutoNum type="alphaUcPeriod"/>
            </a:pPr>
            <a:r>
              <a:rPr lang="en-US" sz="2400">
                <a:solidFill>
                  <a:schemeClr val="dk2"/>
                </a:solidFill>
                <a:latin typeface="Arial"/>
                <a:ea typeface="Arial"/>
                <a:cs typeface="Arial"/>
                <a:sym typeface="Arial"/>
              </a:rPr>
              <a:t>Platform perspective (correct)</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Operations perspective</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People perspective</a:t>
            </a:r>
            <a:endParaRPr/>
          </a:p>
        </p:txBody>
      </p:sp>
      <p:pic>
        <p:nvPicPr>
          <p:cNvPr id="719" name="Google Shape;719;p13"/>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14"/>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6000"/>
              <a:buFont typeface="Arial"/>
              <a:buNone/>
            </a:pPr>
            <a:r>
              <a:rPr lang="en-US"/>
              <a:t>Migration strategies</a:t>
            </a:r>
            <a:endParaRPr/>
          </a:p>
        </p:txBody>
      </p:sp>
      <p:sp>
        <p:nvSpPr>
          <p:cNvPr id="725" name="Google Shape;725;p14"/>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15"/>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Seven migration strategies</a:t>
            </a:r>
            <a:endParaRPr/>
          </a:p>
        </p:txBody>
      </p:sp>
      <p:sp>
        <p:nvSpPr>
          <p:cNvPr id="731" name="Google Shape;731;p15"/>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grpSp>
        <p:nvGrpSpPr>
          <p:cNvPr id="732" name="Google Shape;732;p15"/>
          <p:cNvGrpSpPr/>
          <p:nvPr/>
        </p:nvGrpSpPr>
        <p:grpSpPr>
          <a:xfrm>
            <a:off x="252436" y="1335909"/>
            <a:ext cx="11457171" cy="5468073"/>
            <a:chOff x="22465" y="855366"/>
            <a:chExt cx="11457171" cy="5468073"/>
          </a:xfrm>
        </p:grpSpPr>
        <p:pic>
          <p:nvPicPr>
            <p:cNvPr id="733" name="Google Shape;733;p15"/>
            <p:cNvPicPr preferRelativeResize="0"/>
            <p:nvPr/>
          </p:nvPicPr>
          <p:blipFill rotWithShape="1">
            <a:blip r:embed="rId3">
              <a:alphaModFix/>
            </a:blip>
            <a:srcRect b="0" l="0" r="0" t="0"/>
            <a:stretch/>
          </p:blipFill>
          <p:spPr>
            <a:xfrm>
              <a:off x="4875515" y="1556548"/>
              <a:ext cx="656567" cy="656567"/>
            </a:xfrm>
            <a:prstGeom prst="rect">
              <a:avLst/>
            </a:prstGeom>
            <a:noFill/>
            <a:ln>
              <a:noFill/>
            </a:ln>
          </p:spPr>
        </p:pic>
        <p:pic>
          <p:nvPicPr>
            <p:cNvPr id="734" name="Google Shape;734;p15"/>
            <p:cNvPicPr preferRelativeResize="0"/>
            <p:nvPr/>
          </p:nvPicPr>
          <p:blipFill rotWithShape="1">
            <a:blip r:embed="rId4">
              <a:alphaModFix/>
            </a:blip>
            <a:srcRect b="0" l="0" r="0" t="0"/>
            <a:stretch/>
          </p:blipFill>
          <p:spPr>
            <a:xfrm>
              <a:off x="4885500" y="2351097"/>
              <a:ext cx="658368" cy="658368"/>
            </a:xfrm>
            <a:prstGeom prst="rect">
              <a:avLst/>
            </a:prstGeom>
            <a:noFill/>
            <a:ln>
              <a:noFill/>
            </a:ln>
          </p:spPr>
        </p:pic>
        <p:pic>
          <p:nvPicPr>
            <p:cNvPr id="735" name="Google Shape;735;p15"/>
            <p:cNvPicPr preferRelativeResize="0"/>
            <p:nvPr/>
          </p:nvPicPr>
          <p:blipFill rotWithShape="1">
            <a:blip r:embed="rId5">
              <a:alphaModFix/>
            </a:blip>
            <a:srcRect b="0" l="0" r="0" t="0"/>
            <a:stretch/>
          </p:blipFill>
          <p:spPr>
            <a:xfrm>
              <a:off x="4907272" y="3156167"/>
              <a:ext cx="658368" cy="658368"/>
            </a:xfrm>
            <a:prstGeom prst="rect">
              <a:avLst/>
            </a:prstGeom>
            <a:noFill/>
            <a:ln>
              <a:noFill/>
            </a:ln>
          </p:spPr>
        </p:pic>
        <p:pic>
          <p:nvPicPr>
            <p:cNvPr id="736" name="Google Shape;736;p15"/>
            <p:cNvPicPr preferRelativeResize="0"/>
            <p:nvPr/>
          </p:nvPicPr>
          <p:blipFill rotWithShape="1">
            <a:blip r:embed="rId6">
              <a:alphaModFix/>
            </a:blip>
            <a:srcRect b="0" l="0" r="0" t="0"/>
            <a:stretch/>
          </p:blipFill>
          <p:spPr>
            <a:xfrm>
              <a:off x="222176" y="3399670"/>
              <a:ext cx="1061371" cy="1061371"/>
            </a:xfrm>
            <a:prstGeom prst="rect">
              <a:avLst/>
            </a:prstGeom>
            <a:noFill/>
            <a:ln>
              <a:noFill/>
            </a:ln>
          </p:spPr>
        </p:pic>
        <p:pic>
          <p:nvPicPr>
            <p:cNvPr id="737" name="Google Shape;737;p15"/>
            <p:cNvPicPr preferRelativeResize="0"/>
            <p:nvPr/>
          </p:nvPicPr>
          <p:blipFill rotWithShape="1">
            <a:blip r:embed="rId7">
              <a:alphaModFix/>
            </a:blip>
            <a:srcRect b="0" l="0" r="0" t="0"/>
            <a:stretch/>
          </p:blipFill>
          <p:spPr>
            <a:xfrm>
              <a:off x="10131133" y="4725141"/>
              <a:ext cx="895095" cy="895095"/>
            </a:xfrm>
            <a:prstGeom prst="rect">
              <a:avLst/>
            </a:prstGeom>
            <a:noFill/>
            <a:ln>
              <a:noFill/>
            </a:ln>
          </p:spPr>
        </p:pic>
        <p:pic>
          <p:nvPicPr>
            <p:cNvPr id="738" name="Google Shape;738;p15"/>
            <p:cNvPicPr preferRelativeResize="0"/>
            <p:nvPr/>
          </p:nvPicPr>
          <p:blipFill rotWithShape="1">
            <a:blip r:embed="rId8">
              <a:alphaModFix/>
            </a:blip>
            <a:srcRect b="0" l="0" r="0" t="0"/>
            <a:stretch/>
          </p:blipFill>
          <p:spPr>
            <a:xfrm>
              <a:off x="9582164" y="1744034"/>
              <a:ext cx="1741122" cy="1741122"/>
            </a:xfrm>
            <a:prstGeom prst="rect">
              <a:avLst/>
            </a:prstGeom>
            <a:noFill/>
            <a:ln>
              <a:noFill/>
            </a:ln>
          </p:spPr>
        </p:pic>
        <p:grpSp>
          <p:nvGrpSpPr>
            <p:cNvPr id="739" name="Google Shape;739;p15"/>
            <p:cNvGrpSpPr/>
            <p:nvPr/>
          </p:nvGrpSpPr>
          <p:grpSpPr>
            <a:xfrm>
              <a:off x="4802756" y="3930483"/>
              <a:ext cx="780313" cy="786616"/>
              <a:chOff x="7310061" y="1551628"/>
              <a:chExt cx="1324412" cy="1345477"/>
            </a:xfrm>
          </p:grpSpPr>
          <p:pic>
            <p:nvPicPr>
              <p:cNvPr id="740" name="Google Shape;740;p15"/>
              <p:cNvPicPr preferRelativeResize="0"/>
              <p:nvPr/>
            </p:nvPicPr>
            <p:blipFill rotWithShape="1">
              <a:blip r:embed="rId9">
                <a:alphaModFix/>
              </a:blip>
              <a:srcRect b="0" l="0" r="0" t="0"/>
              <a:stretch/>
            </p:blipFill>
            <p:spPr>
              <a:xfrm>
                <a:off x="7310061" y="1551628"/>
                <a:ext cx="1324412" cy="1324412"/>
              </a:xfrm>
              <a:prstGeom prst="rect">
                <a:avLst/>
              </a:prstGeom>
              <a:noFill/>
              <a:ln>
                <a:noFill/>
              </a:ln>
            </p:spPr>
          </p:pic>
          <p:grpSp>
            <p:nvGrpSpPr>
              <p:cNvPr id="741" name="Google Shape;741;p15"/>
              <p:cNvGrpSpPr/>
              <p:nvPr/>
            </p:nvGrpSpPr>
            <p:grpSpPr>
              <a:xfrm>
                <a:off x="7809727" y="2159013"/>
                <a:ext cx="738092" cy="738092"/>
                <a:chOff x="7775789" y="3169376"/>
                <a:chExt cx="738092" cy="738092"/>
              </a:xfrm>
            </p:grpSpPr>
            <p:sp>
              <p:nvSpPr>
                <p:cNvPr id="742" name="Google Shape;742;p15"/>
                <p:cNvSpPr/>
                <p:nvPr/>
              </p:nvSpPr>
              <p:spPr>
                <a:xfrm>
                  <a:off x="7859997" y="3253584"/>
                  <a:ext cx="569676" cy="569676"/>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43" name="Google Shape;743;p15"/>
                <p:cNvPicPr preferRelativeResize="0"/>
                <p:nvPr/>
              </p:nvPicPr>
              <p:blipFill rotWithShape="1">
                <a:blip r:embed="rId10">
                  <a:alphaModFix/>
                </a:blip>
                <a:srcRect b="0" l="0" r="0" t="0"/>
                <a:stretch/>
              </p:blipFill>
              <p:spPr>
                <a:xfrm>
                  <a:off x="7775789" y="3169376"/>
                  <a:ext cx="738092" cy="738092"/>
                </a:xfrm>
                <a:prstGeom prst="rect">
                  <a:avLst/>
                </a:prstGeom>
                <a:noFill/>
                <a:ln>
                  <a:noFill/>
                </a:ln>
              </p:spPr>
            </p:pic>
          </p:grpSp>
        </p:grpSp>
        <p:pic>
          <p:nvPicPr>
            <p:cNvPr id="744" name="Google Shape;744;p15"/>
            <p:cNvPicPr preferRelativeResize="0"/>
            <p:nvPr/>
          </p:nvPicPr>
          <p:blipFill rotWithShape="1">
            <a:blip r:embed="rId11">
              <a:alphaModFix/>
            </a:blip>
            <a:srcRect b="0" l="0" r="0" t="0"/>
            <a:stretch/>
          </p:blipFill>
          <p:spPr>
            <a:xfrm>
              <a:off x="4827759" y="5493573"/>
              <a:ext cx="728142" cy="728142"/>
            </a:xfrm>
            <a:prstGeom prst="rect">
              <a:avLst/>
            </a:prstGeom>
            <a:noFill/>
            <a:ln>
              <a:noFill/>
            </a:ln>
          </p:spPr>
        </p:pic>
        <p:pic>
          <p:nvPicPr>
            <p:cNvPr id="745" name="Google Shape;745;p15"/>
            <p:cNvPicPr preferRelativeResize="0"/>
            <p:nvPr/>
          </p:nvPicPr>
          <p:blipFill rotWithShape="1">
            <a:blip r:embed="rId12">
              <a:alphaModFix/>
            </a:blip>
            <a:srcRect b="0" l="0" r="0" t="0"/>
            <a:stretch/>
          </p:blipFill>
          <p:spPr>
            <a:xfrm>
              <a:off x="10095925" y="5428344"/>
              <a:ext cx="895095" cy="895095"/>
            </a:xfrm>
            <a:prstGeom prst="rect">
              <a:avLst/>
            </a:prstGeom>
            <a:noFill/>
            <a:ln>
              <a:noFill/>
            </a:ln>
          </p:spPr>
        </p:pic>
        <p:sp>
          <p:nvSpPr>
            <p:cNvPr id="746" name="Google Shape;746;p15"/>
            <p:cNvSpPr txBox="1"/>
            <p:nvPr/>
          </p:nvSpPr>
          <p:spPr>
            <a:xfrm>
              <a:off x="22465" y="4296321"/>
              <a:ext cx="1633220"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Applications to migrate</a:t>
              </a:r>
              <a:endParaRPr/>
            </a:p>
          </p:txBody>
        </p:sp>
        <p:pic>
          <p:nvPicPr>
            <p:cNvPr id="747" name="Google Shape;747;p15"/>
            <p:cNvPicPr preferRelativeResize="0"/>
            <p:nvPr/>
          </p:nvPicPr>
          <p:blipFill rotWithShape="1">
            <a:blip r:embed="rId13">
              <a:alphaModFix/>
            </a:blip>
            <a:srcRect b="0" l="0" r="0" t="0"/>
            <a:stretch/>
          </p:blipFill>
          <p:spPr>
            <a:xfrm>
              <a:off x="4932741" y="4913528"/>
              <a:ext cx="658368" cy="658368"/>
            </a:xfrm>
            <a:prstGeom prst="rect">
              <a:avLst/>
            </a:prstGeom>
            <a:noFill/>
            <a:ln>
              <a:noFill/>
            </a:ln>
          </p:spPr>
        </p:pic>
        <p:sp>
          <p:nvSpPr>
            <p:cNvPr id="748" name="Google Shape;748;p15"/>
            <p:cNvSpPr txBox="1"/>
            <p:nvPr/>
          </p:nvSpPr>
          <p:spPr>
            <a:xfrm>
              <a:off x="5649085" y="1685978"/>
              <a:ext cx="163322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Rehost</a:t>
              </a:r>
              <a:endParaRPr/>
            </a:p>
          </p:txBody>
        </p:sp>
        <p:sp>
          <p:nvSpPr>
            <p:cNvPr id="749" name="Google Shape;749;p15"/>
            <p:cNvSpPr txBox="1"/>
            <p:nvPr/>
          </p:nvSpPr>
          <p:spPr>
            <a:xfrm>
              <a:off x="5649085" y="2504379"/>
              <a:ext cx="163322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Replatform</a:t>
              </a:r>
              <a:endParaRPr/>
            </a:p>
          </p:txBody>
        </p:sp>
        <p:sp>
          <p:nvSpPr>
            <p:cNvPr id="750" name="Google Shape;750;p15"/>
            <p:cNvSpPr txBox="1"/>
            <p:nvPr/>
          </p:nvSpPr>
          <p:spPr>
            <a:xfrm>
              <a:off x="5649085" y="3322780"/>
              <a:ext cx="277011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Refactor/Rearchitect</a:t>
              </a:r>
              <a:endParaRPr/>
            </a:p>
          </p:txBody>
        </p:sp>
        <p:sp>
          <p:nvSpPr>
            <p:cNvPr id="751" name="Google Shape;751;p15"/>
            <p:cNvSpPr txBox="1"/>
            <p:nvPr/>
          </p:nvSpPr>
          <p:spPr>
            <a:xfrm>
              <a:off x="5649085" y="4141181"/>
              <a:ext cx="215901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Repurchase</a:t>
              </a:r>
              <a:endParaRPr/>
            </a:p>
          </p:txBody>
        </p:sp>
        <p:sp>
          <p:nvSpPr>
            <p:cNvPr id="752" name="Google Shape;752;p15"/>
            <p:cNvSpPr txBox="1"/>
            <p:nvPr/>
          </p:nvSpPr>
          <p:spPr>
            <a:xfrm>
              <a:off x="5649085" y="5046670"/>
              <a:ext cx="102027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Retain</a:t>
              </a:r>
              <a:endParaRPr/>
            </a:p>
          </p:txBody>
        </p:sp>
        <p:sp>
          <p:nvSpPr>
            <p:cNvPr id="753" name="Google Shape;753;p15"/>
            <p:cNvSpPr txBox="1"/>
            <p:nvPr/>
          </p:nvSpPr>
          <p:spPr>
            <a:xfrm>
              <a:off x="5700688" y="5702351"/>
              <a:ext cx="102027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Retire</a:t>
              </a:r>
              <a:endParaRPr/>
            </a:p>
          </p:txBody>
        </p:sp>
        <p:pic>
          <p:nvPicPr>
            <p:cNvPr id="754" name="Google Shape;754;p15"/>
            <p:cNvPicPr preferRelativeResize="0"/>
            <p:nvPr/>
          </p:nvPicPr>
          <p:blipFill rotWithShape="1">
            <a:blip r:embed="rId14">
              <a:alphaModFix/>
            </a:blip>
            <a:srcRect b="0" l="0" r="0" t="0"/>
            <a:stretch/>
          </p:blipFill>
          <p:spPr>
            <a:xfrm>
              <a:off x="2059949" y="3448222"/>
              <a:ext cx="969211" cy="969211"/>
            </a:xfrm>
            <a:prstGeom prst="rect">
              <a:avLst/>
            </a:prstGeom>
            <a:noFill/>
            <a:ln>
              <a:noFill/>
            </a:ln>
          </p:spPr>
        </p:pic>
        <p:sp>
          <p:nvSpPr>
            <p:cNvPr id="755" name="Google Shape;755;p15"/>
            <p:cNvSpPr txBox="1"/>
            <p:nvPr/>
          </p:nvSpPr>
          <p:spPr>
            <a:xfrm>
              <a:off x="1680481" y="4297060"/>
              <a:ext cx="1633220"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Discovery phase</a:t>
              </a:r>
              <a:endParaRPr/>
            </a:p>
          </p:txBody>
        </p:sp>
        <p:cxnSp>
          <p:nvCxnSpPr>
            <p:cNvPr id="756" name="Google Shape;756;p15"/>
            <p:cNvCxnSpPr/>
            <p:nvPr/>
          </p:nvCxnSpPr>
          <p:spPr>
            <a:xfrm>
              <a:off x="6607631" y="1886033"/>
              <a:ext cx="3103488" cy="406291"/>
            </a:xfrm>
            <a:prstGeom prst="straightConnector1">
              <a:avLst/>
            </a:prstGeom>
            <a:noFill/>
            <a:ln cap="flat" cmpd="sng" w="9525">
              <a:solidFill>
                <a:schemeClr val="accent1"/>
              </a:solidFill>
              <a:prstDash val="solid"/>
              <a:miter lim="800000"/>
              <a:headEnd len="sm" w="sm" type="none"/>
              <a:tailEnd len="med" w="med" type="triangle"/>
            </a:ln>
          </p:spPr>
        </p:cxnSp>
        <p:cxnSp>
          <p:nvCxnSpPr>
            <p:cNvPr id="757" name="Google Shape;757;p15"/>
            <p:cNvCxnSpPr/>
            <p:nvPr/>
          </p:nvCxnSpPr>
          <p:spPr>
            <a:xfrm flipH="1" rot="10800000">
              <a:off x="7184455" y="2698790"/>
              <a:ext cx="2405861" cy="23497"/>
            </a:xfrm>
            <a:prstGeom prst="straightConnector1">
              <a:avLst/>
            </a:prstGeom>
            <a:noFill/>
            <a:ln cap="flat" cmpd="sng" w="9525">
              <a:solidFill>
                <a:schemeClr val="accent1"/>
              </a:solidFill>
              <a:prstDash val="solid"/>
              <a:miter lim="800000"/>
              <a:headEnd len="sm" w="sm" type="none"/>
              <a:tailEnd len="med" w="med" type="triangle"/>
            </a:ln>
          </p:spPr>
        </p:cxnSp>
        <p:cxnSp>
          <p:nvCxnSpPr>
            <p:cNvPr id="758" name="Google Shape;758;p15"/>
            <p:cNvCxnSpPr/>
            <p:nvPr/>
          </p:nvCxnSpPr>
          <p:spPr>
            <a:xfrm flipH="1" rot="10800000">
              <a:off x="8215590" y="3105605"/>
              <a:ext cx="1374726" cy="367446"/>
            </a:xfrm>
            <a:prstGeom prst="straightConnector1">
              <a:avLst/>
            </a:prstGeom>
            <a:noFill/>
            <a:ln cap="flat" cmpd="sng" w="9525">
              <a:solidFill>
                <a:schemeClr val="accent1"/>
              </a:solidFill>
              <a:prstDash val="solid"/>
              <a:miter lim="800000"/>
              <a:headEnd len="sm" w="sm" type="none"/>
              <a:tailEnd len="med" w="med" type="triangle"/>
            </a:ln>
          </p:spPr>
        </p:cxnSp>
        <p:cxnSp>
          <p:nvCxnSpPr>
            <p:cNvPr id="759" name="Google Shape;759;p15"/>
            <p:cNvCxnSpPr/>
            <p:nvPr/>
          </p:nvCxnSpPr>
          <p:spPr>
            <a:xfrm flipH="1" rot="10800000">
              <a:off x="7129240" y="3414642"/>
              <a:ext cx="2812144" cy="938988"/>
            </a:xfrm>
            <a:prstGeom prst="straightConnector1">
              <a:avLst/>
            </a:prstGeom>
            <a:noFill/>
            <a:ln cap="flat" cmpd="sng" w="9525">
              <a:solidFill>
                <a:schemeClr val="accent1"/>
              </a:solidFill>
              <a:prstDash val="solid"/>
              <a:miter lim="800000"/>
              <a:headEnd len="sm" w="sm" type="none"/>
              <a:tailEnd len="med" w="med" type="triangle"/>
            </a:ln>
          </p:spPr>
        </p:cxnSp>
        <p:cxnSp>
          <p:nvCxnSpPr>
            <p:cNvPr id="760" name="Google Shape;760;p15"/>
            <p:cNvCxnSpPr>
              <a:stCxn id="752" idx="3"/>
            </p:cNvCxnSpPr>
            <p:nvPr/>
          </p:nvCxnSpPr>
          <p:spPr>
            <a:xfrm>
              <a:off x="6669357" y="5246725"/>
              <a:ext cx="33552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761" name="Google Shape;761;p15"/>
            <p:cNvCxnSpPr>
              <a:stCxn id="753" idx="3"/>
            </p:cNvCxnSpPr>
            <p:nvPr/>
          </p:nvCxnSpPr>
          <p:spPr>
            <a:xfrm flipH="1" rot="10800000">
              <a:off x="6720960" y="5901206"/>
              <a:ext cx="3355200" cy="1200"/>
            </a:xfrm>
            <a:prstGeom prst="straightConnector1">
              <a:avLst/>
            </a:prstGeom>
            <a:noFill/>
            <a:ln cap="flat" cmpd="sng" w="9525">
              <a:solidFill>
                <a:schemeClr val="accent1"/>
              </a:solidFill>
              <a:prstDash val="solid"/>
              <a:miter lim="800000"/>
              <a:headEnd len="sm" w="sm" type="none"/>
              <a:tailEnd len="med" w="med" type="triangle"/>
            </a:ln>
          </p:spPr>
        </p:cxnSp>
        <p:sp>
          <p:nvSpPr>
            <p:cNvPr id="762" name="Google Shape;762;p15"/>
            <p:cNvSpPr/>
            <p:nvPr/>
          </p:nvSpPr>
          <p:spPr>
            <a:xfrm>
              <a:off x="4648200" y="1797744"/>
              <a:ext cx="150214" cy="150214"/>
            </a:xfrm>
            <a:prstGeom prst="ellipse">
              <a:avLst/>
            </a:prstGeom>
            <a:solidFill>
              <a:schemeClr val="dk2"/>
            </a:solidFill>
            <a:ln cap="flat" cmpd="sng" w="12700">
              <a:solidFill>
                <a:srgbClr val="19222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763" name="Google Shape;763;p15"/>
            <p:cNvCxnSpPr>
              <a:stCxn id="754" idx="3"/>
              <a:endCxn id="762" idx="3"/>
            </p:cNvCxnSpPr>
            <p:nvPr/>
          </p:nvCxnSpPr>
          <p:spPr>
            <a:xfrm flipH="1" rot="10800000">
              <a:off x="3029160" y="1925828"/>
              <a:ext cx="1641000" cy="2007000"/>
            </a:xfrm>
            <a:prstGeom prst="straightConnector1">
              <a:avLst/>
            </a:prstGeom>
            <a:noFill/>
            <a:ln cap="flat" cmpd="sng" w="9525">
              <a:solidFill>
                <a:schemeClr val="accent1"/>
              </a:solidFill>
              <a:prstDash val="solid"/>
              <a:miter lim="800000"/>
              <a:headEnd len="sm" w="sm" type="none"/>
              <a:tailEnd len="sm" w="sm" type="none"/>
            </a:ln>
          </p:spPr>
        </p:cxnSp>
        <p:sp>
          <p:nvSpPr>
            <p:cNvPr id="764" name="Google Shape;764;p15"/>
            <p:cNvSpPr/>
            <p:nvPr/>
          </p:nvSpPr>
          <p:spPr>
            <a:xfrm>
              <a:off x="4648200" y="2625056"/>
              <a:ext cx="150214" cy="150214"/>
            </a:xfrm>
            <a:prstGeom prst="ellipse">
              <a:avLst/>
            </a:prstGeom>
            <a:solidFill>
              <a:schemeClr val="dk2"/>
            </a:solidFill>
            <a:ln cap="flat" cmpd="sng" w="12700">
              <a:solidFill>
                <a:srgbClr val="19222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65" name="Google Shape;765;p15"/>
            <p:cNvSpPr/>
            <p:nvPr/>
          </p:nvSpPr>
          <p:spPr>
            <a:xfrm>
              <a:off x="4648200" y="3397942"/>
              <a:ext cx="150214" cy="150214"/>
            </a:xfrm>
            <a:prstGeom prst="ellipse">
              <a:avLst/>
            </a:prstGeom>
            <a:solidFill>
              <a:schemeClr val="dk2"/>
            </a:solidFill>
            <a:ln cap="flat" cmpd="sng" w="12700">
              <a:solidFill>
                <a:srgbClr val="19222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66" name="Google Shape;766;p15"/>
            <p:cNvSpPr/>
            <p:nvPr/>
          </p:nvSpPr>
          <p:spPr>
            <a:xfrm>
              <a:off x="4648200" y="4257916"/>
              <a:ext cx="150214" cy="150214"/>
            </a:xfrm>
            <a:prstGeom prst="ellipse">
              <a:avLst/>
            </a:prstGeom>
            <a:solidFill>
              <a:schemeClr val="dk2"/>
            </a:solidFill>
            <a:ln cap="flat" cmpd="sng" w="12700">
              <a:solidFill>
                <a:srgbClr val="19222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67" name="Google Shape;767;p15"/>
            <p:cNvSpPr/>
            <p:nvPr/>
          </p:nvSpPr>
          <p:spPr>
            <a:xfrm>
              <a:off x="4648200" y="5041681"/>
              <a:ext cx="150214" cy="150214"/>
            </a:xfrm>
            <a:prstGeom prst="ellipse">
              <a:avLst/>
            </a:prstGeom>
            <a:solidFill>
              <a:srgbClr val="BFBFBF"/>
            </a:solidFill>
            <a:ln cap="flat" cmpd="sng" w="12700">
              <a:solidFill>
                <a:srgbClr val="19222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68" name="Google Shape;768;p15"/>
            <p:cNvSpPr/>
            <p:nvPr/>
          </p:nvSpPr>
          <p:spPr>
            <a:xfrm>
              <a:off x="4670198" y="5741522"/>
              <a:ext cx="150214" cy="150214"/>
            </a:xfrm>
            <a:prstGeom prst="ellipse">
              <a:avLst/>
            </a:prstGeom>
            <a:solidFill>
              <a:srgbClr val="BFBFBF"/>
            </a:solidFill>
            <a:ln cap="flat" cmpd="sng" w="12700">
              <a:solidFill>
                <a:srgbClr val="19222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769" name="Google Shape;769;p15"/>
            <p:cNvCxnSpPr>
              <a:stCxn id="754" idx="3"/>
              <a:endCxn id="764" idx="3"/>
            </p:cNvCxnSpPr>
            <p:nvPr/>
          </p:nvCxnSpPr>
          <p:spPr>
            <a:xfrm flipH="1" rot="10800000">
              <a:off x="3029160" y="2753228"/>
              <a:ext cx="1641000" cy="1179600"/>
            </a:xfrm>
            <a:prstGeom prst="straightConnector1">
              <a:avLst/>
            </a:prstGeom>
            <a:noFill/>
            <a:ln cap="flat" cmpd="sng" w="9525">
              <a:solidFill>
                <a:schemeClr val="accent1"/>
              </a:solidFill>
              <a:prstDash val="solid"/>
              <a:miter lim="800000"/>
              <a:headEnd len="sm" w="sm" type="none"/>
              <a:tailEnd len="sm" w="sm" type="none"/>
            </a:ln>
          </p:spPr>
        </p:cxnSp>
        <p:cxnSp>
          <p:nvCxnSpPr>
            <p:cNvPr id="770" name="Google Shape;770;p15"/>
            <p:cNvCxnSpPr>
              <a:stCxn id="754" idx="3"/>
              <a:endCxn id="765" idx="2"/>
            </p:cNvCxnSpPr>
            <p:nvPr/>
          </p:nvCxnSpPr>
          <p:spPr>
            <a:xfrm flipH="1" rot="10800000">
              <a:off x="3029160" y="3472928"/>
              <a:ext cx="1619100" cy="459900"/>
            </a:xfrm>
            <a:prstGeom prst="straightConnector1">
              <a:avLst/>
            </a:prstGeom>
            <a:noFill/>
            <a:ln cap="flat" cmpd="sng" w="9525">
              <a:solidFill>
                <a:schemeClr val="accent1"/>
              </a:solidFill>
              <a:prstDash val="solid"/>
              <a:miter lim="800000"/>
              <a:headEnd len="sm" w="sm" type="none"/>
              <a:tailEnd len="sm" w="sm" type="none"/>
            </a:ln>
          </p:spPr>
        </p:cxnSp>
        <p:cxnSp>
          <p:nvCxnSpPr>
            <p:cNvPr id="771" name="Google Shape;771;p15"/>
            <p:cNvCxnSpPr>
              <a:stCxn id="754" idx="3"/>
              <a:endCxn id="766" idx="2"/>
            </p:cNvCxnSpPr>
            <p:nvPr/>
          </p:nvCxnSpPr>
          <p:spPr>
            <a:xfrm>
              <a:off x="3029160" y="3932828"/>
              <a:ext cx="1619100" cy="400200"/>
            </a:xfrm>
            <a:prstGeom prst="straightConnector1">
              <a:avLst/>
            </a:prstGeom>
            <a:noFill/>
            <a:ln cap="flat" cmpd="sng" w="9525">
              <a:solidFill>
                <a:schemeClr val="accent1"/>
              </a:solidFill>
              <a:prstDash val="solid"/>
              <a:miter lim="800000"/>
              <a:headEnd len="sm" w="sm" type="none"/>
              <a:tailEnd len="sm" w="sm" type="none"/>
            </a:ln>
          </p:spPr>
        </p:cxnSp>
        <p:cxnSp>
          <p:nvCxnSpPr>
            <p:cNvPr id="772" name="Google Shape;772;p15"/>
            <p:cNvCxnSpPr>
              <a:stCxn id="754" idx="3"/>
              <a:endCxn id="767" idx="2"/>
            </p:cNvCxnSpPr>
            <p:nvPr/>
          </p:nvCxnSpPr>
          <p:spPr>
            <a:xfrm>
              <a:off x="3029160" y="3932828"/>
              <a:ext cx="1619100" cy="1184100"/>
            </a:xfrm>
            <a:prstGeom prst="straightConnector1">
              <a:avLst/>
            </a:prstGeom>
            <a:noFill/>
            <a:ln cap="flat" cmpd="sng" w="9525">
              <a:solidFill>
                <a:schemeClr val="accent1"/>
              </a:solidFill>
              <a:prstDash val="solid"/>
              <a:miter lim="800000"/>
              <a:headEnd len="sm" w="sm" type="none"/>
              <a:tailEnd len="sm" w="sm" type="none"/>
            </a:ln>
          </p:spPr>
        </p:cxnSp>
        <p:cxnSp>
          <p:nvCxnSpPr>
            <p:cNvPr id="773" name="Google Shape;773;p15"/>
            <p:cNvCxnSpPr>
              <a:stCxn id="754" idx="3"/>
              <a:endCxn id="768" idx="1"/>
            </p:cNvCxnSpPr>
            <p:nvPr/>
          </p:nvCxnSpPr>
          <p:spPr>
            <a:xfrm>
              <a:off x="3029160" y="3932828"/>
              <a:ext cx="1662900" cy="1830600"/>
            </a:xfrm>
            <a:prstGeom prst="straightConnector1">
              <a:avLst/>
            </a:prstGeom>
            <a:noFill/>
            <a:ln cap="flat" cmpd="sng" w="9525">
              <a:solidFill>
                <a:schemeClr val="accent1"/>
              </a:solidFill>
              <a:prstDash val="solid"/>
              <a:miter lim="800000"/>
              <a:headEnd len="sm" w="sm" type="none"/>
              <a:tailEnd len="sm" w="sm" type="none"/>
            </a:ln>
          </p:spPr>
        </p:cxnSp>
        <p:cxnSp>
          <p:nvCxnSpPr>
            <p:cNvPr id="774" name="Google Shape;774;p15"/>
            <p:cNvCxnSpPr/>
            <p:nvPr/>
          </p:nvCxnSpPr>
          <p:spPr>
            <a:xfrm flipH="1" rot="10800000">
              <a:off x="4687176" y="4735272"/>
              <a:ext cx="6792460" cy="49231"/>
            </a:xfrm>
            <a:prstGeom prst="straightConnector1">
              <a:avLst/>
            </a:prstGeom>
            <a:noFill/>
            <a:ln cap="flat" cmpd="sng" w="9525">
              <a:solidFill>
                <a:srgbClr val="7F7F7F"/>
              </a:solidFill>
              <a:prstDash val="lgDashDot"/>
              <a:miter lim="800000"/>
              <a:headEnd len="sm" w="sm" type="none"/>
              <a:tailEnd len="sm" w="sm" type="none"/>
            </a:ln>
          </p:spPr>
        </p:cxnSp>
        <p:cxnSp>
          <p:nvCxnSpPr>
            <p:cNvPr id="775" name="Google Shape;775;p15"/>
            <p:cNvCxnSpPr>
              <a:endCxn id="754" idx="1"/>
            </p:cNvCxnSpPr>
            <p:nvPr/>
          </p:nvCxnSpPr>
          <p:spPr>
            <a:xfrm>
              <a:off x="1187549" y="3932828"/>
              <a:ext cx="872400" cy="0"/>
            </a:xfrm>
            <a:prstGeom prst="straightConnector1">
              <a:avLst/>
            </a:prstGeom>
            <a:noFill/>
            <a:ln cap="flat" cmpd="sng" w="9525">
              <a:solidFill>
                <a:schemeClr val="accent1"/>
              </a:solidFill>
              <a:prstDash val="solid"/>
              <a:miter lim="800000"/>
              <a:headEnd len="sm" w="sm" type="none"/>
              <a:tailEnd len="med" w="med" type="triangle"/>
            </a:ln>
          </p:spPr>
        </p:cxnSp>
        <p:sp>
          <p:nvSpPr>
            <p:cNvPr id="776" name="Google Shape;776;p15"/>
            <p:cNvSpPr txBox="1"/>
            <p:nvPr/>
          </p:nvSpPr>
          <p:spPr>
            <a:xfrm>
              <a:off x="5649085" y="855366"/>
              <a:ext cx="163322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Relocate</a:t>
              </a:r>
              <a:endParaRPr/>
            </a:p>
          </p:txBody>
        </p:sp>
        <p:cxnSp>
          <p:nvCxnSpPr>
            <p:cNvPr id="777" name="Google Shape;777;p15"/>
            <p:cNvCxnSpPr/>
            <p:nvPr/>
          </p:nvCxnSpPr>
          <p:spPr>
            <a:xfrm>
              <a:off x="6823710" y="1100193"/>
              <a:ext cx="3200914" cy="985895"/>
            </a:xfrm>
            <a:prstGeom prst="straightConnector1">
              <a:avLst/>
            </a:prstGeom>
            <a:noFill/>
            <a:ln cap="flat" cmpd="sng" w="9525">
              <a:solidFill>
                <a:schemeClr val="accent1"/>
              </a:solidFill>
              <a:prstDash val="solid"/>
              <a:miter lim="800000"/>
              <a:headEnd len="sm" w="sm" type="none"/>
              <a:tailEnd len="med" w="med" type="triangle"/>
            </a:ln>
          </p:spPr>
        </p:cxnSp>
        <p:cxnSp>
          <p:nvCxnSpPr>
            <p:cNvPr id="778" name="Google Shape;778;p15"/>
            <p:cNvCxnSpPr>
              <a:stCxn id="754" idx="3"/>
              <a:endCxn id="779" idx="3"/>
            </p:cNvCxnSpPr>
            <p:nvPr/>
          </p:nvCxnSpPr>
          <p:spPr>
            <a:xfrm flipH="1" rot="10800000">
              <a:off x="3029160" y="1108928"/>
              <a:ext cx="1554000" cy="2823900"/>
            </a:xfrm>
            <a:prstGeom prst="straightConnector1">
              <a:avLst/>
            </a:prstGeom>
            <a:noFill/>
            <a:ln cap="flat" cmpd="sng" w="9525">
              <a:solidFill>
                <a:schemeClr val="accent1"/>
              </a:solidFill>
              <a:prstDash val="solid"/>
              <a:miter lim="800000"/>
              <a:headEnd len="sm" w="sm" type="none"/>
              <a:tailEnd len="sm" w="sm" type="none"/>
            </a:ln>
          </p:spPr>
        </p:cxnSp>
      </p:grpSp>
      <p:sp>
        <p:nvSpPr>
          <p:cNvPr id="779" name="Google Shape;779;p15"/>
          <p:cNvSpPr/>
          <p:nvPr/>
        </p:nvSpPr>
        <p:spPr>
          <a:xfrm>
            <a:off x="4791073" y="1461229"/>
            <a:ext cx="150214" cy="150214"/>
          </a:xfrm>
          <a:prstGeom prst="ellipse">
            <a:avLst/>
          </a:prstGeom>
          <a:solidFill>
            <a:schemeClr val="dk2"/>
          </a:solidFill>
          <a:ln cap="flat" cmpd="sng" w="12700">
            <a:solidFill>
              <a:srgbClr val="19222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80" name="Google Shape;780;p15">
            <a:hlinkClick r:id="rId15"/>
          </p:cNvPr>
          <p:cNvPicPr preferRelativeResize="0"/>
          <p:nvPr/>
        </p:nvPicPr>
        <p:blipFill rotWithShape="1">
          <a:blip r:embed="rId16">
            <a:alphaModFix/>
          </a:blip>
          <a:srcRect b="0" l="0" r="0" t="0"/>
          <a:stretch/>
        </p:blipFill>
        <p:spPr>
          <a:xfrm>
            <a:off x="4955583" y="1126108"/>
            <a:ext cx="936721" cy="9390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6"/>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786" name="Google Shape;786;p16"/>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question</a:t>
            </a:r>
            <a:endParaRPr/>
          </a:p>
        </p:txBody>
      </p:sp>
      <p:sp>
        <p:nvSpPr>
          <p:cNvPr id="787" name="Google Shape;787;p16"/>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migration strategy involves moving from a traditional license to a software as a service model?</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Refactoring</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Retiring</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Replatforming</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Repurchasing</a:t>
            </a:r>
            <a:endParaRPr/>
          </a:p>
        </p:txBody>
      </p:sp>
      <p:pic>
        <p:nvPicPr>
          <p:cNvPr id="788" name="Google Shape;788;p16"/>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17"/>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794" name="Google Shape;794;p17"/>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answer</a:t>
            </a:r>
            <a:endParaRPr/>
          </a:p>
        </p:txBody>
      </p:sp>
      <p:sp>
        <p:nvSpPr>
          <p:cNvPr id="795" name="Google Shape;795;p17"/>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migration strategy involves moving from a traditional license to a software as a service model?</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Refactoring</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Retiring</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Replatforming</a:t>
            </a:r>
            <a:endParaRPr/>
          </a:p>
          <a:p>
            <a:pPr indent="-514350" lvl="0" marL="514350" rtl="0" algn="l">
              <a:lnSpc>
                <a:spcPct val="90000"/>
              </a:lnSpc>
              <a:spcBef>
                <a:spcPts val="1000"/>
              </a:spcBef>
              <a:spcAft>
                <a:spcPts val="0"/>
              </a:spcAft>
              <a:buClr>
                <a:schemeClr val="dk2"/>
              </a:buClr>
              <a:buSzPts val="2400"/>
              <a:buFont typeface="Arial"/>
              <a:buAutoNum type="alphaUcPeriod"/>
            </a:pPr>
            <a:r>
              <a:rPr lang="en-US" sz="2400">
                <a:solidFill>
                  <a:schemeClr val="dk2"/>
                </a:solidFill>
                <a:latin typeface="Arial"/>
                <a:ea typeface="Arial"/>
                <a:cs typeface="Arial"/>
                <a:sym typeface="Arial"/>
              </a:rPr>
              <a:t>Repurchasing (correct)</a:t>
            </a:r>
            <a:endParaRPr/>
          </a:p>
        </p:txBody>
      </p:sp>
      <p:pic>
        <p:nvPicPr>
          <p:cNvPr id="796" name="Google Shape;796;p17"/>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18"/>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6000"/>
              <a:buFont typeface="Arial"/>
              <a:buNone/>
            </a:pPr>
            <a:r>
              <a:rPr lang="en-US"/>
              <a:t>AWS Snow Family</a:t>
            </a:r>
            <a:endParaRPr/>
          </a:p>
        </p:txBody>
      </p:sp>
      <p:sp>
        <p:nvSpPr>
          <p:cNvPr id="802" name="Google Shape;802;p18"/>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9"/>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AWS Snow Family</a:t>
            </a:r>
            <a:endParaRPr/>
          </a:p>
        </p:txBody>
      </p:sp>
      <p:sp>
        <p:nvSpPr>
          <p:cNvPr id="808" name="Google Shape;808;p19"/>
          <p:cNvSpPr/>
          <p:nvPr/>
        </p:nvSpPr>
        <p:spPr>
          <a:xfrm>
            <a:off x="431739" y="1482224"/>
            <a:ext cx="3453817" cy="1381526"/>
          </a:xfrm>
          <a:custGeom>
            <a:rect b="b" l="l" r="r" t="t"/>
            <a:pathLst>
              <a:path extrusionOk="0" h="1381526" w="3453817">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gradFill>
            <a:gsLst>
              <a:gs pos="0">
                <a:srgbClr val="474747"/>
              </a:gs>
              <a:gs pos="50000">
                <a:schemeClr val="dk1"/>
              </a:gs>
              <a:gs pos="100000">
                <a:schemeClr val="dk1"/>
              </a:gs>
            </a:gsLst>
            <a:lin ang="5400000" scaled="0"/>
          </a:gradFill>
          <a:ln>
            <a:noFill/>
          </a:ln>
          <a:effectLst>
            <a:outerShdw blurRad="57150" rotWithShape="0" algn="ctr" dir="5400000" dist="19050">
              <a:srgbClr val="000000">
                <a:alpha val="62745"/>
              </a:srgbClr>
            </a:outerShdw>
          </a:effectLst>
        </p:spPr>
        <p:txBody>
          <a:bodyPr anchorCtr="0" anchor="ctr" bIns="130025" lIns="295025" spcFirstLastPara="1" rIns="295025" wrap="square" tIns="197475">
            <a:noAutofit/>
          </a:bodyPr>
          <a:lstStyle/>
          <a:p>
            <a:pPr indent="0" lvl="0" marL="0" marR="0" rtl="0" algn="ctr">
              <a:lnSpc>
                <a:spcPct val="90000"/>
              </a:lnSpc>
              <a:spcBef>
                <a:spcPts val="0"/>
              </a:spcBef>
              <a:spcAft>
                <a:spcPts val="0"/>
              </a:spcAft>
              <a:buNone/>
            </a:pPr>
            <a:r>
              <a:rPr lang="en-US" sz="2800">
                <a:solidFill>
                  <a:schemeClr val="lt1"/>
                </a:solidFill>
                <a:latin typeface="Arial"/>
                <a:ea typeface="Arial"/>
                <a:cs typeface="Arial"/>
                <a:sym typeface="Arial"/>
              </a:rPr>
              <a:t>AWS Snowcone</a:t>
            </a:r>
            <a:endParaRPr/>
          </a:p>
        </p:txBody>
      </p:sp>
      <p:sp>
        <p:nvSpPr>
          <p:cNvPr id="809" name="Google Shape;809;p19"/>
          <p:cNvSpPr/>
          <p:nvPr/>
        </p:nvSpPr>
        <p:spPr>
          <a:xfrm>
            <a:off x="4376810" y="1482224"/>
            <a:ext cx="3453817" cy="1381526"/>
          </a:xfrm>
          <a:custGeom>
            <a:rect b="b" l="l" r="r" t="t"/>
            <a:pathLst>
              <a:path extrusionOk="0" h="1381526" w="3453817">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gradFill>
            <a:gsLst>
              <a:gs pos="0">
                <a:srgbClr val="644EB4"/>
              </a:gs>
              <a:gs pos="50000">
                <a:srgbClr val="491FB0"/>
              </a:gs>
              <a:gs pos="100000">
                <a:srgbClr val="3E15A1"/>
              </a:gs>
            </a:gsLst>
            <a:lin ang="5400000" scaled="0"/>
          </a:gradFill>
          <a:ln>
            <a:noFill/>
          </a:ln>
          <a:effectLst>
            <a:outerShdw blurRad="57150" rotWithShape="0" algn="ctr" dir="5400000" dist="19050">
              <a:srgbClr val="000000">
                <a:alpha val="62745"/>
              </a:srgbClr>
            </a:outerShdw>
          </a:effectLst>
        </p:spPr>
        <p:txBody>
          <a:bodyPr anchorCtr="0" anchor="ctr" bIns="130025" lIns="295025" spcFirstLastPara="1" rIns="295025" wrap="square" tIns="197475">
            <a:noAutofit/>
          </a:bodyPr>
          <a:lstStyle/>
          <a:p>
            <a:pPr indent="0" lvl="0" marL="0" marR="0" rtl="0" algn="ctr">
              <a:lnSpc>
                <a:spcPct val="90000"/>
              </a:lnSpc>
              <a:spcBef>
                <a:spcPts val="0"/>
              </a:spcBef>
              <a:spcAft>
                <a:spcPts val="0"/>
              </a:spcAft>
              <a:buNone/>
            </a:pPr>
            <a:r>
              <a:rPr lang="en-US" sz="2800">
                <a:solidFill>
                  <a:schemeClr val="lt1"/>
                </a:solidFill>
                <a:latin typeface="Arial"/>
                <a:ea typeface="Arial"/>
                <a:cs typeface="Arial"/>
                <a:sym typeface="Arial"/>
              </a:rPr>
              <a:t>AWS Snowball</a:t>
            </a:r>
            <a:endParaRPr/>
          </a:p>
        </p:txBody>
      </p:sp>
      <p:sp>
        <p:nvSpPr>
          <p:cNvPr id="810" name="Google Shape;810;p19"/>
          <p:cNvSpPr/>
          <p:nvPr/>
        </p:nvSpPr>
        <p:spPr>
          <a:xfrm>
            <a:off x="8314162" y="1482224"/>
            <a:ext cx="3453817" cy="1381526"/>
          </a:xfrm>
          <a:custGeom>
            <a:rect b="b" l="l" r="r" t="t"/>
            <a:pathLst>
              <a:path extrusionOk="0" h="1381526" w="3453817">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gradFill>
            <a:gsLst>
              <a:gs pos="0">
                <a:srgbClr val="AC11AC"/>
              </a:gs>
              <a:gs pos="50000">
                <a:srgbClr val="720B72"/>
              </a:gs>
              <a:gs pos="100000">
                <a:srgbClr val="720B72"/>
              </a:gs>
            </a:gsLst>
            <a:lin ang="5400000" scaled="0"/>
          </a:gradFill>
          <a:ln>
            <a:noFill/>
          </a:ln>
          <a:effectLst>
            <a:outerShdw blurRad="57150" rotWithShape="0" algn="ctr" dir="5400000" dist="19050">
              <a:srgbClr val="000000">
                <a:alpha val="62745"/>
              </a:srgbClr>
            </a:outerShdw>
          </a:effectLst>
        </p:spPr>
        <p:txBody>
          <a:bodyPr anchorCtr="0" anchor="ctr" bIns="130025" lIns="295025" spcFirstLastPara="1" rIns="295025" wrap="square" tIns="197475">
            <a:noAutofit/>
          </a:bodyPr>
          <a:lstStyle/>
          <a:p>
            <a:pPr indent="0" lvl="0" marL="0" marR="0" rtl="0" algn="ctr">
              <a:lnSpc>
                <a:spcPct val="90000"/>
              </a:lnSpc>
              <a:spcBef>
                <a:spcPts val="0"/>
              </a:spcBef>
              <a:spcAft>
                <a:spcPts val="0"/>
              </a:spcAft>
              <a:buNone/>
            </a:pPr>
            <a:r>
              <a:rPr lang="en-US" sz="2800">
                <a:solidFill>
                  <a:schemeClr val="lt1"/>
                </a:solidFill>
                <a:latin typeface="Arial"/>
                <a:ea typeface="Arial"/>
                <a:cs typeface="Arial"/>
                <a:sym typeface="Arial"/>
              </a:rPr>
              <a:t>AWS Snowmobile</a:t>
            </a:r>
            <a:endParaRPr/>
          </a:p>
        </p:txBody>
      </p:sp>
      <p:grpSp>
        <p:nvGrpSpPr>
          <p:cNvPr id="811" name="Google Shape;811;p19"/>
          <p:cNvGrpSpPr/>
          <p:nvPr/>
        </p:nvGrpSpPr>
        <p:grpSpPr>
          <a:xfrm>
            <a:off x="420463" y="2874365"/>
            <a:ext cx="3469255" cy="3698833"/>
            <a:chOff x="420463" y="2874365"/>
            <a:chExt cx="3469255" cy="3698833"/>
          </a:xfrm>
        </p:grpSpPr>
        <p:sp>
          <p:nvSpPr>
            <p:cNvPr id="812" name="Google Shape;812;p19"/>
            <p:cNvSpPr/>
            <p:nvPr/>
          </p:nvSpPr>
          <p:spPr>
            <a:xfrm rot="10800000">
              <a:off x="420463" y="2874365"/>
              <a:ext cx="3469255" cy="3289882"/>
            </a:xfrm>
            <a:custGeom>
              <a:rect b="b" l="l" r="r" t="t"/>
              <a:pathLst>
                <a:path extrusionOk="0" h="3289882" w="3469255">
                  <a:moveTo>
                    <a:pt x="548325" y="0"/>
                  </a:moveTo>
                  <a:lnTo>
                    <a:pt x="2920930" y="0"/>
                  </a:lnTo>
                  <a:cubicBezTo>
                    <a:pt x="3223762" y="0"/>
                    <a:pt x="3469255" y="245493"/>
                    <a:pt x="3469255" y="548325"/>
                  </a:cubicBezTo>
                  <a:lnTo>
                    <a:pt x="3469255" y="3289882"/>
                  </a:lnTo>
                  <a:lnTo>
                    <a:pt x="3469255" y="3289882"/>
                  </a:lnTo>
                  <a:lnTo>
                    <a:pt x="0" y="3289882"/>
                  </a:lnTo>
                  <a:lnTo>
                    <a:pt x="0" y="3289882"/>
                  </a:lnTo>
                  <a:lnTo>
                    <a:pt x="0" y="548325"/>
                  </a:lnTo>
                  <a:cubicBezTo>
                    <a:pt x="0" y="245493"/>
                    <a:pt x="245493" y="0"/>
                    <a:pt x="548325" y="0"/>
                  </a:cubicBezTo>
                  <a:close/>
                </a:path>
              </a:pathLst>
            </a:custGeom>
            <a:solidFill>
              <a:srgbClr val="F2F2F2"/>
            </a:solidFill>
            <a:ln cap="flat" cmpd="sng" w="12700">
              <a:solidFill>
                <a:srgbClr val="CBCCCD">
                  <a:alpha val="89803"/>
                </a:srgbClr>
              </a:solidFill>
              <a:prstDash val="solid"/>
              <a:miter lim="800000"/>
              <a:headEnd len="sm" w="sm" type="none"/>
              <a:tailEnd len="sm" w="sm" type="none"/>
            </a:ln>
          </p:spPr>
          <p:txBody>
            <a:bodyPr anchorCtr="0" anchor="t" bIns="408050" lIns="432625" spcFirstLastPara="1" rIns="523300" wrap="square" tIns="432625">
              <a:noAutofit/>
            </a:bodyPr>
            <a:lstStyle/>
            <a:p>
              <a:pPr indent="-133350" lvl="1" marL="285750" marR="0" rtl="0" algn="l">
                <a:lnSpc>
                  <a:spcPct val="9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133350" lvl="1" marL="285750" marR="0" rtl="0" algn="l">
                <a:lnSpc>
                  <a:spcPct val="90000"/>
                </a:lnSpc>
                <a:spcBef>
                  <a:spcPts val="6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133350" lvl="1" marL="285750" marR="0" rtl="0" algn="l">
                <a:lnSpc>
                  <a:spcPct val="90000"/>
                </a:lnSpc>
                <a:spcBef>
                  <a:spcPts val="6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13" name="Google Shape;813;p19"/>
            <p:cNvSpPr txBox="1"/>
            <p:nvPr/>
          </p:nvSpPr>
          <p:spPr>
            <a:xfrm>
              <a:off x="599975" y="3002990"/>
              <a:ext cx="2944891" cy="357020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Small, rugged, and secure edge computing and data transfer device</a:t>
              </a:r>
              <a:endParaRPr/>
            </a:p>
            <a:p>
              <a:pPr indent="-285750" lvl="0" marL="285750" marR="0" rtl="0" algn="l">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Features up to   14 TB of usable storage</a:t>
              </a:r>
              <a:endParaRPr/>
            </a:p>
            <a:p>
              <a:pPr indent="0" lvl="0" marL="0" marR="0" rtl="0" algn="l">
                <a:spcBef>
                  <a:spcPts val="600"/>
                </a:spcBef>
                <a:spcAft>
                  <a:spcPts val="0"/>
                </a:spcAft>
                <a:buNone/>
              </a:pPr>
              <a:r>
                <a:t/>
              </a:r>
              <a:endParaRPr sz="2400">
                <a:solidFill>
                  <a:schemeClr val="dk1"/>
                </a:solidFill>
                <a:latin typeface="Arial"/>
                <a:ea typeface="Arial"/>
                <a:cs typeface="Arial"/>
                <a:sym typeface="Arial"/>
              </a:endParaRPr>
            </a:p>
          </p:txBody>
        </p:sp>
      </p:grpSp>
      <p:grpSp>
        <p:nvGrpSpPr>
          <p:cNvPr id="814" name="Google Shape;814;p19"/>
          <p:cNvGrpSpPr/>
          <p:nvPr/>
        </p:nvGrpSpPr>
        <p:grpSpPr>
          <a:xfrm>
            <a:off x="4376810" y="2863750"/>
            <a:ext cx="3453817" cy="3289883"/>
            <a:chOff x="4376810" y="2863750"/>
            <a:chExt cx="3453817" cy="3289883"/>
          </a:xfrm>
        </p:grpSpPr>
        <p:sp>
          <p:nvSpPr>
            <p:cNvPr id="815" name="Google Shape;815;p19"/>
            <p:cNvSpPr/>
            <p:nvPr/>
          </p:nvSpPr>
          <p:spPr>
            <a:xfrm rot="10800000">
              <a:off x="4376810" y="2863750"/>
              <a:ext cx="3453817" cy="3289883"/>
            </a:xfrm>
            <a:custGeom>
              <a:rect b="b" l="l" r="r" t="t"/>
              <a:pathLst>
                <a:path extrusionOk="0" h="3289882" w="3453817">
                  <a:moveTo>
                    <a:pt x="2905492" y="0"/>
                  </a:moveTo>
                  <a:lnTo>
                    <a:pt x="548325" y="0"/>
                  </a:lnTo>
                  <a:cubicBezTo>
                    <a:pt x="245493" y="0"/>
                    <a:pt x="0" y="245493"/>
                    <a:pt x="0" y="548325"/>
                  </a:cubicBezTo>
                  <a:lnTo>
                    <a:pt x="0" y="3289882"/>
                  </a:lnTo>
                  <a:lnTo>
                    <a:pt x="0" y="3289882"/>
                  </a:lnTo>
                  <a:lnTo>
                    <a:pt x="3453817" y="3289882"/>
                  </a:lnTo>
                  <a:lnTo>
                    <a:pt x="3453817" y="3289882"/>
                  </a:lnTo>
                  <a:lnTo>
                    <a:pt x="3453817" y="548325"/>
                  </a:lnTo>
                  <a:cubicBezTo>
                    <a:pt x="3453817" y="245493"/>
                    <a:pt x="3208324" y="0"/>
                    <a:pt x="2905492" y="0"/>
                  </a:cubicBezTo>
                  <a:close/>
                </a:path>
              </a:pathLst>
            </a:custGeom>
            <a:solidFill>
              <a:srgbClr val="F2F2F2"/>
            </a:solidFill>
            <a:ln cap="flat" cmpd="sng" w="12700">
              <a:solidFill>
                <a:srgbClr val="CBCCCD">
                  <a:alpha val="89803"/>
                </a:srgbClr>
              </a:solidFill>
              <a:prstDash val="solid"/>
              <a:miter lim="800000"/>
              <a:headEnd len="sm" w="sm" type="none"/>
              <a:tailEnd len="sm" w="sm" type="none"/>
            </a:ln>
          </p:spPr>
          <p:txBody>
            <a:bodyPr anchorCtr="0" anchor="t" bIns="192025" lIns="288600" spcFirstLastPara="1" rIns="331275" wrap="square" tIns="288600">
              <a:noAutofit/>
            </a:bodyPr>
            <a:lstStyle/>
            <a:p>
              <a:pPr indent="-76200" lvl="1" marL="228600" marR="0" rtl="0" algn="l">
                <a:lnSpc>
                  <a:spcPct val="9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16" name="Google Shape;816;p19"/>
            <p:cNvSpPr txBox="1"/>
            <p:nvPr/>
          </p:nvSpPr>
          <p:spPr>
            <a:xfrm>
              <a:off x="4458210" y="3014807"/>
              <a:ext cx="3275580" cy="164660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AWS Snowball Edge Storage Optimized</a:t>
              </a:r>
              <a:endParaRPr/>
            </a:p>
            <a:p>
              <a:pPr indent="-342900" lvl="0" marL="342900" marR="0" rtl="0" algn="l">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AWS Snowball Edge Compute Optimized</a:t>
              </a:r>
              <a:endParaRPr/>
            </a:p>
          </p:txBody>
        </p:sp>
      </p:grpSp>
      <p:grpSp>
        <p:nvGrpSpPr>
          <p:cNvPr id="817" name="Google Shape;817;p19"/>
          <p:cNvGrpSpPr/>
          <p:nvPr/>
        </p:nvGrpSpPr>
        <p:grpSpPr>
          <a:xfrm>
            <a:off x="8314162" y="2863751"/>
            <a:ext cx="3453817" cy="3289883"/>
            <a:chOff x="8314162" y="2863751"/>
            <a:chExt cx="3453817" cy="3289883"/>
          </a:xfrm>
        </p:grpSpPr>
        <p:sp>
          <p:nvSpPr>
            <p:cNvPr id="818" name="Google Shape;818;p19"/>
            <p:cNvSpPr/>
            <p:nvPr/>
          </p:nvSpPr>
          <p:spPr>
            <a:xfrm rot="10800000">
              <a:off x="8314162" y="2863751"/>
              <a:ext cx="3453817" cy="3289883"/>
            </a:xfrm>
            <a:custGeom>
              <a:rect b="b" l="l" r="r" t="t"/>
              <a:pathLst>
                <a:path extrusionOk="0" h="3289882" w="3453817">
                  <a:moveTo>
                    <a:pt x="2905492" y="0"/>
                  </a:moveTo>
                  <a:lnTo>
                    <a:pt x="548325" y="0"/>
                  </a:lnTo>
                  <a:cubicBezTo>
                    <a:pt x="245493" y="0"/>
                    <a:pt x="0" y="245493"/>
                    <a:pt x="0" y="548325"/>
                  </a:cubicBezTo>
                  <a:lnTo>
                    <a:pt x="0" y="3289882"/>
                  </a:lnTo>
                  <a:lnTo>
                    <a:pt x="0" y="3289882"/>
                  </a:lnTo>
                  <a:lnTo>
                    <a:pt x="3453817" y="3289882"/>
                  </a:lnTo>
                  <a:lnTo>
                    <a:pt x="3453817" y="3289882"/>
                  </a:lnTo>
                  <a:lnTo>
                    <a:pt x="3453817" y="548325"/>
                  </a:lnTo>
                  <a:cubicBezTo>
                    <a:pt x="3453817" y="245493"/>
                    <a:pt x="3208324" y="0"/>
                    <a:pt x="2905492" y="0"/>
                  </a:cubicBezTo>
                  <a:close/>
                </a:path>
              </a:pathLst>
            </a:custGeom>
            <a:solidFill>
              <a:srgbClr val="F2F2F2"/>
            </a:solidFill>
            <a:ln cap="flat" cmpd="sng" w="12700">
              <a:solidFill>
                <a:srgbClr val="CBCCCD">
                  <a:alpha val="89803"/>
                </a:srgbClr>
              </a:solidFill>
              <a:prstDash val="solid"/>
              <a:miter lim="800000"/>
              <a:headEnd len="sm" w="sm" type="none"/>
              <a:tailEnd len="sm" w="sm" type="none"/>
            </a:ln>
          </p:spPr>
          <p:txBody>
            <a:bodyPr anchorCtr="0" anchor="t" bIns="192000" lIns="288600" spcFirstLastPara="1" rIns="331275" wrap="square" tIns="288600">
              <a:noAutofit/>
            </a:bodyPr>
            <a:lstStyle/>
            <a:p>
              <a:pPr indent="-76200" lvl="1" marL="228600" marR="0" rtl="0" algn="l">
                <a:lnSpc>
                  <a:spcPct val="9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819" name="Google Shape;819;p19"/>
            <p:cNvSpPr txBox="1"/>
            <p:nvPr/>
          </p:nvSpPr>
          <p:spPr>
            <a:xfrm>
              <a:off x="8513965" y="3005422"/>
              <a:ext cx="3078060" cy="275460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Exabyte-scale data transfer service for moving large amounts of data to AWS</a:t>
              </a:r>
              <a:endParaRPr/>
            </a:p>
            <a:p>
              <a:pPr indent="-342900" lvl="0" marL="342900" marR="0" rtl="0" algn="l">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Transfers up to 100 PB of data</a:t>
              </a:r>
              <a:endParaRPr/>
            </a:p>
          </p:txBody>
        </p:sp>
      </p:grpSp>
      <p:sp>
        <p:nvSpPr>
          <p:cNvPr id="820" name="Google Shape;820;p19"/>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20"/>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6000"/>
              <a:buFont typeface="Arial"/>
              <a:buNone/>
            </a:pPr>
            <a:r>
              <a:rPr lang="en-US"/>
              <a:t>Innovation with AWS</a:t>
            </a:r>
            <a:endParaRPr/>
          </a:p>
        </p:txBody>
      </p:sp>
      <p:sp>
        <p:nvSpPr>
          <p:cNvPr id="826" name="Google Shape;826;p20"/>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21"/>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Innovation with AWS</a:t>
            </a:r>
            <a:endParaRPr/>
          </a:p>
        </p:txBody>
      </p:sp>
      <p:sp>
        <p:nvSpPr>
          <p:cNvPr id="832" name="Google Shape;832;p21"/>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pic>
        <p:nvPicPr>
          <p:cNvPr id="833" name="Google Shape;833;p21"/>
          <p:cNvPicPr preferRelativeResize="0"/>
          <p:nvPr/>
        </p:nvPicPr>
        <p:blipFill rotWithShape="1">
          <a:blip r:embed="rId3">
            <a:alphaModFix/>
          </a:blip>
          <a:srcRect b="0" l="0" r="0" t="0"/>
          <a:stretch/>
        </p:blipFill>
        <p:spPr>
          <a:xfrm>
            <a:off x="8081772" y="2403975"/>
            <a:ext cx="2743200" cy="2878724"/>
          </a:xfrm>
          <a:prstGeom prst="rect">
            <a:avLst/>
          </a:prstGeom>
          <a:noFill/>
          <a:ln>
            <a:noFill/>
          </a:ln>
        </p:spPr>
      </p:pic>
      <p:sp>
        <p:nvSpPr>
          <p:cNvPr id="834" name="Google Shape;834;p21"/>
          <p:cNvSpPr txBox="1"/>
          <p:nvPr>
            <p:ph idx="1" type="body"/>
          </p:nvPr>
        </p:nvSpPr>
        <p:spPr>
          <a:xfrm>
            <a:off x="419100" y="1478756"/>
            <a:ext cx="7290238" cy="472916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None/>
            </a:pPr>
            <a:r>
              <a:rPr lang="en-US"/>
              <a:t>Driving innovation in the cloud involves clearly articulating the following conditions:</a:t>
            </a:r>
            <a:endParaRPr/>
          </a:p>
          <a:p>
            <a:pPr indent="-228600" lvl="0" marL="228600" rtl="0" algn="l">
              <a:lnSpc>
                <a:spcPct val="100000"/>
              </a:lnSpc>
              <a:spcBef>
                <a:spcPts val="2000"/>
              </a:spcBef>
              <a:spcAft>
                <a:spcPts val="0"/>
              </a:spcAft>
              <a:buClr>
                <a:schemeClr val="dk1"/>
              </a:buClr>
              <a:buSzPts val="2400"/>
              <a:buChar char="•"/>
            </a:pPr>
            <a:r>
              <a:rPr lang="en-US" sz="2400"/>
              <a:t>Current state</a:t>
            </a:r>
            <a:endParaRPr/>
          </a:p>
          <a:p>
            <a:pPr indent="-228600" lvl="0" marL="228600" rtl="0" algn="l">
              <a:lnSpc>
                <a:spcPct val="100000"/>
              </a:lnSpc>
              <a:spcBef>
                <a:spcPts val="1000"/>
              </a:spcBef>
              <a:spcAft>
                <a:spcPts val="0"/>
              </a:spcAft>
              <a:buClr>
                <a:schemeClr val="dk1"/>
              </a:buClr>
              <a:buSzPts val="2400"/>
              <a:buChar char="•"/>
            </a:pPr>
            <a:r>
              <a:rPr lang="en-US" sz="2400">
                <a:latin typeface="Arial"/>
                <a:ea typeface="Arial"/>
                <a:cs typeface="Arial"/>
                <a:sym typeface="Arial"/>
              </a:rPr>
              <a:t>Desired state</a:t>
            </a:r>
            <a:endParaRPr/>
          </a:p>
          <a:p>
            <a:pPr indent="-228600" lvl="0" marL="228600" rtl="0" algn="l">
              <a:lnSpc>
                <a:spcPct val="100000"/>
              </a:lnSpc>
              <a:spcBef>
                <a:spcPts val="1000"/>
              </a:spcBef>
              <a:spcAft>
                <a:spcPts val="0"/>
              </a:spcAft>
              <a:buClr>
                <a:schemeClr val="dk1"/>
              </a:buClr>
              <a:buSzPts val="2400"/>
              <a:buChar char="•"/>
            </a:pPr>
            <a:r>
              <a:rPr lang="en-US" sz="2400">
                <a:latin typeface="Arial"/>
                <a:ea typeface="Arial"/>
                <a:cs typeface="Arial"/>
                <a:sym typeface="Arial"/>
              </a:rPr>
              <a:t>Problems you are trying to solve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22"/>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Innovation paths</a:t>
            </a:r>
            <a:endParaRPr/>
          </a:p>
        </p:txBody>
      </p:sp>
      <p:sp>
        <p:nvSpPr>
          <p:cNvPr id="840" name="Google Shape;840;p22"/>
          <p:cNvSpPr txBox="1"/>
          <p:nvPr/>
        </p:nvSpPr>
        <p:spPr>
          <a:xfrm>
            <a:off x="754623" y="4854237"/>
            <a:ext cx="29464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Serverless applications</a:t>
            </a:r>
            <a:endParaRPr/>
          </a:p>
        </p:txBody>
      </p:sp>
      <p:sp>
        <p:nvSpPr>
          <p:cNvPr id="841" name="Google Shape;841;p22"/>
          <p:cNvSpPr txBox="1"/>
          <p:nvPr/>
        </p:nvSpPr>
        <p:spPr>
          <a:xfrm>
            <a:off x="4517190" y="4854237"/>
            <a:ext cx="3157621"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Artificial intelligence (AI)</a:t>
            </a:r>
            <a:endParaRPr/>
          </a:p>
        </p:txBody>
      </p:sp>
      <p:sp>
        <p:nvSpPr>
          <p:cNvPr id="842" name="Google Shape;842;p22"/>
          <p:cNvSpPr txBox="1"/>
          <p:nvPr/>
        </p:nvSpPr>
        <p:spPr>
          <a:xfrm>
            <a:off x="8490978" y="4854237"/>
            <a:ext cx="29464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Machine learning (ML)</a:t>
            </a:r>
            <a:endParaRPr/>
          </a:p>
        </p:txBody>
      </p:sp>
      <p:sp>
        <p:nvSpPr>
          <p:cNvPr id="843" name="Google Shape;843;p22"/>
          <p:cNvSpPr txBox="1"/>
          <p:nvPr/>
        </p:nvSpPr>
        <p:spPr>
          <a:xfrm>
            <a:off x="419100" y="1363938"/>
            <a:ext cx="11018278"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Consider some of the following innovation paths as you continue on your cloud journey.</a:t>
            </a:r>
            <a:endParaRPr/>
          </a:p>
        </p:txBody>
      </p:sp>
      <p:sp>
        <p:nvSpPr>
          <p:cNvPr id="844" name="Google Shape;844;p22"/>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pic>
        <p:nvPicPr>
          <p:cNvPr id="845" name="Google Shape;845;p22"/>
          <p:cNvPicPr preferRelativeResize="0"/>
          <p:nvPr/>
        </p:nvPicPr>
        <p:blipFill rotWithShape="1">
          <a:blip r:embed="rId3">
            <a:alphaModFix/>
          </a:blip>
          <a:srcRect b="0" l="0" r="0" t="0"/>
          <a:stretch/>
        </p:blipFill>
        <p:spPr>
          <a:xfrm>
            <a:off x="9113284" y="2992557"/>
            <a:ext cx="1701792" cy="1655975"/>
          </a:xfrm>
          <a:prstGeom prst="rect">
            <a:avLst/>
          </a:prstGeom>
          <a:noFill/>
          <a:ln>
            <a:noFill/>
          </a:ln>
        </p:spPr>
      </p:pic>
      <p:pic>
        <p:nvPicPr>
          <p:cNvPr id="846" name="Google Shape;846;p22"/>
          <p:cNvPicPr preferRelativeResize="0"/>
          <p:nvPr/>
        </p:nvPicPr>
        <p:blipFill rotWithShape="1">
          <a:blip r:embed="rId4">
            <a:alphaModFix/>
          </a:blip>
          <a:srcRect b="0" l="0" r="0" t="0"/>
          <a:stretch/>
        </p:blipFill>
        <p:spPr>
          <a:xfrm>
            <a:off x="4978868" y="2917648"/>
            <a:ext cx="2234264" cy="1714813"/>
          </a:xfrm>
          <a:prstGeom prst="rect">
            <a:avLst/>
          </a:prstGeom>
          <a:noFill/>
          <a:ln>
            <a:noFill/>
          </a:ln>
        </p:spPr>
      </p:pic>
      <p:pic>
        <p:nvPicPr>
          <p:cNvPr id="847" name="Google Shape;847;p22"/>
          <p:cNvPicPr preferRelativeResize="0"/>
          <p:nvPr/>
        </p:nvPicPr>
        <p:blipFill rotWithShape="1">
          <a:blip r:embed="rId5">
            <a:alphaModFix/>
          </a:blip>
          <a:srcRect b="0" l="0" r="0" t="0"/>
          <a:stretch/>
        </p:blipFill>
        <p:spPr>
          <a:xfrm>
            <a:off x="1110691" y="3063240"/>
            <a:ext cx="2234264" cy="170473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23"/>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6000"/>
              <a:buFont typeface="Arial"/>
              <a:buNone/>
            </a:pPr>
            <a:r>
              <a:rPr lang="en-US"/>
              <a:t>AWS Well-Architected Framework</a:t>
            </a:r>
            <a:endParaRPr/>
          </a:p>
        </p:txBody>
      </p:sp>
      <p:sp>
        <p:nvSpPr>
          <p:cNvPr id="853" name="Google Shape;853;p23"/>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24"/>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Well-Architected Framework</a:t>
            </a:r>
            <a:endParaRPr/>
          </a:p>
        </p:txBody>
      </p:sp>
      <p:sp>
        <p:nvSpPr>
          <p:cNvPr id="859" name="Google Shape;859;p24"/>
          <p:cNvSpPr txBox="1"/>
          <p:nvPr>
            <p:ph idx="1" type="body"/>
          </p:nvPr>
        </p:nvSpPr>
        <p:spPr>
          <a:xfrm>
            <a:off x="419100" y="1528174"/>
            <a:ext cx="7732123" cy="48281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The </a:t>
            </a:r>
            <a:r>
              <a:rPr lang="en-US">
                <a:latin typeface="Arial"/>
                <a:ea typeface="Arial"/>
                <a:cs typeface="Arial"/>
                <a:sym typeface="Arial"/>
              </a:rPr>
              <a:t>Well-Architected Framework </a:t>
            </a:r>
            <a:r>
              <a:rPr lang="en-US"/>
              <a:t>helps you understand how to design and operate reliable, secure, efficient, and cost-effective systems in the AWS Cloud. </a:t>
            </a:r>
            <a:endParaRPr/>
          </a:p>
          <a:p>
            <a:pPr indent="0" lvl="0" marL="0" rtl="0" algn="l">
              <a:lnSpc>
                <a:spcPct val="90000"/>
              </a:lnSpc>
              <a:spcBef>
                <a:spcPts val="2000"/>
              </a:spcBef>
              <a:spcAft>
                <a:spcPts val="0"/>
              </a:spcAft>
              <a:buClr>
                <a:schemeClr val="dk1"/>
              </a:buClr>
              <a:buSzPts val="2800"/>
              <a:buNone/>
            </a:pPr>
            <a:r>
              <a:rPr lang="en-US"/>
              <a:t>It is based on six pillars:</a:t>
            </a:r>
            <a:endParaRPr/>
          </a:p>
          <a:p>
            <a:pPr indent="-228600" lvl="1" marL="685800" rtl="0" algn="l">
              <a:lnSpc>
                <a:spcPct val="90000"/>
              </a:lnSpc>
              <a:spcBef>
                <a:spcPts val="1500"/>
              </a:spcBef>
              <a:spcAft>
                <a:spcPts val="0"/>
              </a:spcAft>
              <a:buClr>
                <a:schemeClr val="dk1"/>
              </a:buClr>
              <a:buSzPts val="2400"/>
              <a:buChar char="•"/>
            </a:pPr>
            <a:r>
              <a:rPr lang="en-US"/>
              <a:t>Operational excellence</a:t>
            </a:r>
            <a:endParaRPr/>
          </a:p>
          <a:p>
            <a:pPr indent="-228600" lvl="1" marL="685800" rtl="0" algn="l">
              <a:lnSpc>
                <a:spcPct val="90000"/>
              </a:lnSpc>
              <a:spcBef>
                <a:spcPts val="500"/>
              </a:spcBef>
              <a:spcAft>
                <a:spcPts val="0"/>
              </a:spcAft>
              <a:buClr>
                <a:schemeClr val="dk1"/>
              </a:buClr>
              <a:buSzPts val="2400"/>
              <a:buChar char="•"/>
            </a:pPr>
            <a:r>
              <a:rPr lang="en-US"/>
              <a:t>Security</a:t>
            </a:r>
            <a:endParaRPr/>
          </a:p>
          <a:p>
            <a:pPr indent="-228600" lvl="1" marL="685800" rtl="0" algn="l">
              <a:lnSpc>
                <a:spcPct val="90000"/>
              </a:lnSpc>
              <a:spcBef>
                <a:spcPts val="500"/>
              </a:spcBef>
              <a:spcAft>
                <a:spcPts val="0"/>
              </a:spcAft>
              <a:buClr>
                <a:schemeClr val="dk1"/>
              </a:buClr>
              <a:buSzPts val="2400"/>
              <a:buChar char="•"/>
            </a:pPr>
            <a:r>
              <a:rPr lang="en-US"/>
              <a:t>Reliability</a:t>
            </a:r>
            <a:endParaRPr/>
          </a:p>
          <a:p>
            <a:pPr indent="-228600" lvl="1" marL="685800" rtl="0" algn="l">
              <a:lnSpc>
                <a:spcPct val="90000"/>
              </a:lnSpc>
              <a:spcBef>
                <a:spcPts val="500"/>
              </a:spcBef>
              <a:spcAft>
                <a:spcPts val="0"/>
              </a:spcAft>
              <a:buClr>
                <a:schemeClr val="dk1"/>
              </a:buClr>
              <a:buSzPts val="2400"/>
              <a:buChar char="•"/>
            </a:pPr>
            <a:r>
              <a:rPr lang="en-US"/>
              <a:t>Performance efficiency</a:t>
            </a:r>
            <a:endParaRPr/>
          </a:p>
          <a:p>
            <a:pPr indent="-228600" lvl="1" marL="685800" rtl="0" algn="l">
              <a:lnSpc>
                <a:spcPct val="90000"/>
              </a:lnSpc>
              <a:spcBef>
                <a:spcPts val="500"/>
              </a:spcBef>
              <a:spcAft>
                <a:spcPts val="0"/>
              </a:spcAft>
              <a:buClr>
                <a:schemeClr val="dk1"/>
              </a:buClr>
              <a:buSzPts val="2400"/>
              <a:buChar char="•"/>
            </a:pPr>
            <a:r>
              <a:rPr lang="en-US"/>
              <a:t>Cost optimization</a:t>
            </a:r>
            <a:endParaRPr/>
          </a:p>
          <a:p>
            <a:pPr indent="-228600" lvl="1" marL="685800" rtl="0" algn="l">
              <a:lnSpc>
                <a:spcPct val="90000"/>
              </a:lnSpc>
              <a:spcBef>
                <a:spcPts val="500"/>
              </a:spcBef>
              <a:spcAft>
                <a:spcPts val="0"/>
              </a:spcAft>
              <a:buClr>
                <a:schemeClr val="dk1"/>
              </a:buClr>
              <a:buSzPts val="2400"/>
              <a:buChar char="•"/>
            </a:pPr>
            <a:r>
              <a:rPr lang="en-US"/>
              <a:t>Sustainability</a:t>
            </a:r>
            <a:endParaRPr/>
          </a:p>
        </p:txBody>
      </p:sp>
      <p:sp>
        <p:nvSpPr>
          <p:cNvPr id="860" name="Google Shape;860;p24"/>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pic>
        <p:nvPicPr>
          <p:cNvPr id="861" name="Google Shape;861;p24"/>
          <p:cNvPicPr preferRelativeResize="0"/>
          <p:nvPr/>
        </p:nvPicPr>
        <p:blipFill rotWithShape="1">
          <a:blip r:embed="rId3">
            <a:alphaModFix/>
          </a:blip>
          <a:srcRect b="0" l="0" r="0" t="0"/>
          <a:stretch/>
        </p:blipFill>
        <p:spPr>
          <a:xfrm>
            <a:off x="8782831" y="2556785"/>
            <a:ext cx="2484438" cy="241260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25"/>
          <p:cNvSpPr txBox="1"/>
          <p:nvPr>
            <p:ph type="title"/>
          </p:nvPr>
        </p:nvSpPr>
        <p:spPr>
          <a:xfrm>
            <a:off x="419100" y="365125"/>
            <a:ext cx="9223664"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Operational excellence</a:t>
            </a:r>
            <a:endParaRPr/>
          </a:p>
        </p:txBody>
      </p:sp>
      <p:pic>
        <p:nvPicPr>
          <p:cNvPr id="867" name="Google Shape;867;p25"/>
          <p:cNvPicPr preferRelativeResize="0"/>
          <p:nvPr/>
        </p:nvPicPr>
        <p:blipFill rotWithShape="1">
          <a:blip r:embed="rId3">
            <a:alphaModFix/>
          </a:blip>
          <a:srcRect b="0" l="0" r="0" t="0"/>
          <a:stretch/>
        </p:blipFill>
        <p:spPr>
          <a:xfrm>
            <a:off x="968657" y="3124886"/>
            <a:ext cx="2414348" cy="2414348"/>
          </a:xfrm>
          <a:prstGeom prst="rect">
            <a:avLst/>
          </a:prstGeom>
          <a:noFill/>
          <a:ln>
            <a:noFill/>
          </a:ln>
        </p:spPr>
      </p:pic>
      <p:grpSp>
        <p:nvGrpSpPr>
          <p:cNvPr id="868" name="Google Shape;868;p25"/>
          <p:cNvGrpSpPr/>
          <p:nvPr/>
        </p:nvGrpSpPr>
        <p:grpSpPr>
          <a:xfrm>
            <a:off x="-2" y="1142998"/>
            <a:ext cx="12181117" cy="1164772"/>
            <a:chOff x="-2" y="1142998"/>
            <a:chExt cx="12181117" cy="1164772"/>
          </a:xfrm>
        </p:grpSpPr>
        <p:sp>
          <p:nvSpPr>
            <p:cNvPr id="869" name="Google Shape;869;p25"/>
            <p:cNvSpPr/>
            <p:nvPr/>
          </p:nvSpPr>
          <p:spPr>
            <a:xfrm>
              <a:off x="-2" y="1142998"/>
              <a:ext cx="9029701" cy="1164772"/>
            </a:xfrm>
            <a:prstGeom prst="homePlate">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870" name="Google Shape;870;p25"/>
            <p:cNvSpPr/>
            <p:nvPr/>
          </p:nvSpPr>
          <p:spPr>
            <a:xfrm>
              <a:off x="9339944" y="1142998"/>
              <a:ext cx="947057" cy="1164772"/>
            </a:xfrm>
            <a:prstGeom prst="chevron">
              <a:avLst>
                <a:gd fmla="val 50000" name="adj"/>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1" name="Google Shape;871;p25"/>
            <p:cNvSpPr/>
            <p:nvPr/>
          </p:nvSpPr>
          <p:spPr>
            <a:xfrm>
              <a:off x="10287001" y="1142998"/>
              <a:ext cx="947057" cy="1164772"/>
            </a:xfrm>
            <a:prstGeom prst="chevron">
              <a:avLst>
                <a:gd fmla="val 50000"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2" name="Google Shape;872;p25"/>
            <p:cNvSpPr/>
            <p:nvPr/>
          </p:nvSpPr>
          <p:spPr>
            <a:xfrm>
              <a:off x="11234058" y="1142998"/>
              <a:ext cx="947057" cy="1164772"/>
            </a:xfrm>
            <a:prstGeom prst="chevron">
              <a:avLst>
                <a:gd fmla="val 50000" name="adj"/>
              </a:avLst>
            </a:prstGeom>
            <a:solidFill>
              <a:srgbClr val="A5A5A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3" name="Google Shape;873;p25"/>
            <p:cNvSpPr/>
            <p:nvPr/>
          </p:nvSpPr>
          <p:spPr>
            <a:xfrm>
              <a:off x="8392887" y="1142998"/>
              <a:ext cx="947057" cy="1164772"/>
            </a:xfrm>
            <a:prstGeom prst="chevron">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74" name="Google Shape;874;p25"/>
          <p:cNvSpPr txBox="1"/>
          <p:nvPr/>
        </p:nvSpPr>
        <p:spPr>
          <a:xfrm>
            <a:off x="4160738" y="2687148"/>
            <a:ext cx="7612162" cy="3289824"/>
          </a:xfrm>
          <a:prstGeom prst="rect">
            <a:avLst/>
          </a:prstGeom>
          <a:noFill/>
          <a:ln>
            <a:noFill/>
          </a:ln>
        </p:spPr>
        <p:txBody>
          <a:bodyPr anchorCtr="0" anchor="ctr" bIns="45700" lIns="91425" spcFirstLastPara="1" rIns="91425" wrap="square" tIns="45700">
            <a:noAutofit/>
          </a:bodyPr>
          <a:lstStyle/>
          <a:p>
            <a:pPr indent="-476231" lvl="0" marL="476231" marR="0" rtl="0" algn="l">
              <a:lnSpc>
                <a:spcPct val="9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Perform operations as code</a:t>
            </a:r>
            <a:endParaRPr/>
          </a:p>
          <a:p>
            <a:pPr indent="-476231" lvl="0" marL="476231" marR="0" rtl="0" algn="l">
              <a:lnSpc>
                <a:spcPct val="90000"/>
              </a:lnSpc>
              <a:spcBef>
                <a:spcPts val="16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Annotate documentation</a:t>
            </a:r>
            <a:endParaRPr/>
          </a:p>
          <a:p>
            <a:pPr indent="-476231" lvl="0" marL="476231" marR="0" rtl="0" algn="l">
              <a:lnSpc>
                <a:spcPct val="90000"/>
              </a:lnSpc>
              <a:spcBef>
                <a:spcPts val="16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Anticipate failure</a:t>
            </a:r>
            <a:endParaRPr/>
          </a:p>
          <a:p>
            <a:pPr indent="-476231" lvl="0" marL="476231" marR="0" rtl="0" algn="l">
              <a:lnSpc>
                <a:spcPct val="90000"/>
              </a:lnSpc>
              <a:spcBef>
                <a:spcPts val="16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Refine operations procedures frequently</a:t>
            </a:r>
            <a:endParaRPr/>
          </a:p>
          <a:p>
            <a:pPr indent="-476231" lvl="0" marL="476231" marR="0" rtl="0" algn="l">
              <a:lnSpc>
                <a:spcPct val="90000"/>
              </a:lnSpc>
              <a:spcBef>
                <a:spcPts val="16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Make frequent, small, reversible changes</a:t>
            </a:r>
            <a:endParaRPr/>
          </a:p>
        </p:txBody>
      </p:sp>
      <p:sp>
        <p:nvSpPr>
          <p:cNvPr id="875" name="Google Shape;875;p25"/>
          <p:cNvSpPr/>
          <p:nvPr/>
        </p:nvSpPr>
        <p:spPr>
          <a:xfrm>
            <a:off x="124526" y="1309885"/>
            <a:ext cx="9060295"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Run and monitor systems to deliver business value and to continually improve supporting processes and procedures</a:t>
            </a:r>
            <a:endParaRPr/>
          </a:p>
        </p:txBody>
      </p:sp>
      <p:sp>
        <p:nvSpPr>
          <p:cNvPr id="876" name="Google Shape;876;p25"/>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26"/>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Security</a:t>
            </a:r>
            <a:endParaRPr/>
          </a:p>
        </p:txBody>
      </p:sp>
      <p:sp>
        <p:nvSpPr>
          <p:cNvPr id="882" name="Google Shape;882;p26"/>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pic>
        <p:nvPicPr>
          <p:cNvPr id="883" name="Google Shape;883;p26"/>
          <p:cNvPicPr preferRelativeResize="0"/>
          <p:nvPr/>
        </p:nvPicPr>
        <p:blipFill rotWithShape="1">
          <a:blip r:embed="rId3">
            <a:alphaModFix/>
          </a:blip>
          <a:srcRect b="0" l="0" r="0" t="0"/>
          <a:stretch/>
        </p:blipFill>
        <p:spPr>
          <a:xfrm>
            <a:off x="1132332" y="3062813"/>
            <a:ext cx="2532893" cy="2532893"/>
          </a:xfrm>
          <a:prstGeom prst="rect">
            <a:avLst/>
          </a:prstGeom>
          <a:noFill/>
          <a:ln>
            <a:noFill/>
          </a:ln>
        </p:spPr>
      </p:pic>
      <p:grpSp>
        <p:nvGrpSpPr>
          <p:cNvPr id="884" name="Google Shape;884;p26"/>
          <p:cNvGrpSpPr/>
          <p:nvPr/>
        </p:nvGrpSpPr>
        <p:grpSpPr>
          <a:xfrm>
            <a:off x="-2" y="1142998"/>
            <a:ext cx="12181117" cy="1164772"/>
            <a:chOff x="-2" y="1142998"/>
            <a:chExt cx="12181117" cy="1164772"/>
          </a:xfrm>
        </p:grpSpPr>
        <p:sp>
          <p:nvSpPr>
            <p:cNvPr id="885" name="Google Shape;885;p26"/>
            <p:cNvSpPr/>
            <p:nvPr/>
          </p:nvSpPr>
          <p:spPr>
            <a:xfrm>
              <a:off x="-2" y="1142998"/>
              <a:ext cx="9029701" cy="1164772"/>
            </a:xfrm>
            <a:prstGeom prst="homePlate">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886" name="Google Shape;886;p26"/>
            <p:cNvSpPr/>
            <p:nvPr/>
          </p:nvSpPr>
          <p:spPr>
            <a:xfrm>
              <a:off x="9339944" y="1142998"/>
              <a:ext cx="947057" cy="1164772"/>
            </a:xfrm>
            <a:prstGeom prst="chevron">
              <a:avLst>
                <a:gd fmla="val 50000" name="adj"/>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7" name="Google Shape;887;p26"/>
            <p:cNvSpPr/>
            <p:nvPr/>
          </p:nvSpPr>
          <p:spPr>
            <a:xfrm>
              <a:off x="10287001" y="1142998"/>
              <a:ext cx="947057" cy="1164772"/>
            </a:xfrm>
            <a:prstGeom prst="chevron">
              <a:avLst>
                <a:gd fmla="val 50000"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8" name="Google Shape;888;p26"/>
            <p:cNvSpPr/>
            <p:nvPr/>
          </p:nvSpPr>
          <p:spPr>
            <a:xfrm>
              <a:off x="11234058" y="1142998"/>
              <a:ext cx="947057" cy="1164772"/>
            </a:xfrm>
            <a:prstGeom prst="chevron">
              <a:avLst>
                <a:gd fmla="val 50000" name="adj"/>
              </a:avLst>
            </a:prstGeom>
            <a:solidFill>
              <a:srgbClr val="A5A5A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9" name="Google Shape;889;p26"/>
            <p:cNvSpPr/>
            <p:nvPr/>
          </p:nvSpPr>
          <p:spPr>
            <a:xfrm>
              <a:off x="8392887" y="1142998"/>
              <a:ext cx="947057" cy="1164772"/>
            </a:xfrm>
            <a:prstGeom prst="chevron">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90" name="Google Shape;890;p26"/>
          <p:cNvSpPr txBox="1"/>
          <p:nvPr/>
        </p:nvSpPr>
        <p:spPr>
          <a:xfrm>
            <a:off x="4160520" y="3346704"/>
            <a:ext cx="6899148" cy="1965113"/>
          </a:xfrm>
          <a:prstGeom prst="rect">
            <a:avLst/>
          </a:prstGeom>
          <a:noFill/>
          <a:ln>
            <a:noFill/>
          </a:ln>
        </p:spPr>
        <p:txBody>
          <a:bodyPr anchorCtr="0" anchor="ctr" bIns="45700" lIns="91425" spcFirstLastPara="1" rIns="91425" wrap="square" tIns="45700">
            <a:noAutofit/>
          </a:bodyPr>
          <a:lstStyle/>
          <a:p>
            <a:pPr indent="-476231" lvl="0" marL="476231" marR="0" rtl="0" algn="l">
              <a:lnSpc>
                <a:spcPct val="9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Automate security best practices</a:t>
            </a:r>
            <a:endParaRPr/>
          </a:p>
          <a:p>
            <a:pPr indent="-476231" lvl="0" marL="476231" marR="0" rtl="0" algn="l">
              <a:lnSpc>
                <a:spcPct val="90000"/>
              </a:lnSpc>
              <a:spcBef>
                <a:spcPts val="16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Apply security at all layers</a:t>
            </a:r>
            <a:endParaRPr/>
          </a:p>
          <a:p>
            <a:pPr indent="-476231" lvl="0" marL="476231" marR="0" rtl="0" algn="l">
              <a:lnSpc>
                <a:spcPct val="90000"/>
              </a:lnSpc>
              <a:spcBef>
                <a:spcPts val="16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Protect data in transit and at rest</a:t>
            </a:r>
            <a:endParaRPr/>
          </a:p>
        </p:txBody>
      </p:sp>
      <p:sp>
        <p:nvSpPr>
          <p:cNvPr id="891" name="Google Shape;891;p26"/>
          <p:cNvSpPr/>
          <p:nvPr/>
        </p:nvSpPr>
        <p:spPr>
          <a:xfrm>
            <a:off x="124526" y="1309885"/>
            <a:ext cx="9060295"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Protect information, systems, and assets while delivering business value through risk assessments and mitigation strategies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grpSp>
        <p:nvGrpSpPr>
          <p:cNvPr id="896" name="Google Shape;896;p27"/>
          <p:cNvGrpSpPr/>
          <p:nvPr/>
        </p:nvGrpSpPr>
        <p:grpSpPr>
          <a:xfrm>
            <a:off x="-2" y="1142998"/>
            <a:ext cx="12181117" cy="1164772"/>
            <a:chOff x="-2" y="1142998"/>
            <a:chExt cx="12181117" cy="1164772"/>
          </a:xfrm>
        </p:grpSpPr>
        <p:sp>
          <p:nvSpPr>
            <p:cNvPr id="897" name="Google Shape;897;p27"/>
            <p:cNvSpPr/>
            <p:nvPr/>
          </p:nvSpPr>
          <p:spPr>
            <a:xfrm>
              <a:off x="-2" y="1142998"/>
              <a:ext cx="9029701" cy="1164772"/>
            </a:xfrm>
            <a:prstGeom prst="homePlate">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898" name="Google Shape;898;p27"/>
            <p:cNvSpPr/>
            <p:nvPr/>
          </p:nvSpPr>
          <p:spPr>
            <a:xfrm>
              <a:off x="9339944" y="1142998"/>
              <a:ext cx="947057" cy="1164772"/>
            </a:xfrm>
            <a:prstGeom prst="chevron">
              <a:avLst>
                <a:gd fmla="val 50000" name="adj"/>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9" name="Google Shape;899;p27"/>
            <p:cNvSpPr/>
            <p:nvPr/>
          </p:nvSpPr>
          <p:spPr>
            <a:xfrm>
              <a:off x="10287001" y="1142998"/>
              <a:ext cx="947057" cy="1164772"/>
            </a:xfrm>
            <a:prstGeom prst="chevron">
              <a:avLst>
                <a:gd fmla="val 50000"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0" name="Google Shape;900;p27"/>
            <p:cNvSpPr/>
            <p:nvPr/>
          </p:nvSpPr>
          <p:spPr>
            <a:xfrm>
              <a:off x="11234058" y="1142998"/>
              <a:ext cx="947057" cy="1164772"/>
            </a:xfrm>
            <a:prstGeom prst="chevron">
              <a:avLst>
                <a:gd fmla="val 50000" name="adj"/>
              </a:avLst>
            </a:prstGeom>
            <a:solidFill>
              <a:srgbClr val="A5A5A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1" name="Google Shape;901;p27"/>
            <p:cNvSpPr/>
            <p:nvPr/>
          </p:nvSpPr>
          <p:spPr>
            <a:xfrm>
              <a:off x="8392887" y="1142998"/>
              <a:ext cx="947057" cy="1164772"/>
            </a:xfrm>
            <a:prstGeom prst="chevron">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02" name="Google Shape;902;p27"/>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Reliability</a:t>
            </a:r>
            <a:endParaRPr/>
          </a:p>
        </p:txBody>
      </p:sp>
      <p:sp>
        <p:nvSpPr>
          <p:cNvPr id="903" name="Google Shape;903;p27"/>
          <p:cNvSpPr txBox="1"/>
          <p:nvPr>
            <p:ph idx="4294967295" type="body"/>
          </p:nvPr>
        </p:nvSpPr>
        <p:spPr>
          <a:xfrm>
            <a:off x="4106732" y="2611524"/>
            <a:ext cx="7666168" cy="3635829"/>
          </a:xfrm>
          <a:prstGeom prst="rect">
            <a:avLst/>
          </a:prstGeom>
          <a:noFill/>
          <a:ln>
            <a:noFill/>
          </a:ln>
        </p:spPr>
        <p:txBody>
          <a:bodyPr anchorCtr="0" anchor="ctr" bIns="45700" lIns="91425" spcFirstLastPara="1" rIns="91425" wrap="square" tIns="45700">
            <a:noAutofit/>
          </a:bodyPr>
          <a:lstStyle/>
          <a:p>
            <a:pPr indent="-476231" lvl="0" marL="476231" rtl="0" algn="l">
              <a:lnSpc>
                <a:spcPct val="90000"/>
              </a:lnSpc>
              <a:spcBef>
                <a:spcPts val="0"/>
              </a:spcBef>
              <a:spcAft>
                <a:spcPts val="0"/>
              </a:spcAft>
              <a:buClr>
                <a:schemeClr val="dk1"/>
              </a:buClr>
              <a:buSzPts val="2800"/>
              <a:buChar char="•"/>
            </a:pPr>
            <a:r>
              <a:rPr lang="en-US"/>
              <a:t>Recover from infrastructure or service disruptions</a:t>
            </a:r>
            <a:endParaRPr/>
          </a:p>
          <a:p>
            <a:pPr indent="-476231" lvl="0" marL="476231" rtl="0" algn="l">
              <a:lnSpc>
                <a:spcPct val="90000"/>
              </a:lnSpc>
              <a:spcBef>
                <a:spcPts val="1600"/>
              </a:spcBef>
              <a:spcAft>
                <a:spcPts val="0"/>
              </a:spcAft>
              <a:buClr>
                <a:schemeClr val="dk1"/>
              </a:buClr>
              <a:buSzPts val="2800"/>
              <a:buChar char="•"/>
            </a:pPr>
            <a:r>
              <a:rPr lang="en-US"/>
              <a:t>Dynamically acquire computing resources to meet demand</a:t>
            </a:r>
            <a:endParaRPr/>
          </a:p>
          <a:p>
            <a:pPr indent="-476231" lvl="0" marL="476231" rtl="0" algn="l">
              <a:lnSpc>
                <a:spcPct val="90000"/>
              </a:lnSpc>
              <a:spcBef>
                <a:spcPts val="1600"/>
              </a:spcBef>
              <a:spcAft>
                <a:spcPts val="0"/>
              </a:spcAft>
              <a:buClr>
                <a:schemeClr val="dk1"/>
              </a:buClr>
              <a:buSzPts val="2800"/>
              <a:buChar char="•"/>
            </a:pPr>
            <a:r>
              <a:rPr lang="en-US"/>
              <a:t>Mitigate disruptions such as misconfigurations or transient network issues</a:t>
            </a:r>
            <a:endParaRPr/>
          </a:p>
        </p:txBody>
      </p:sp>
      <p:sp>
        <p:nvSpPr>
          <p:cNvPr id="904" name="Google Shape;904;p27"/>
          <p:cNvSpPr/>
          <p:nvPr/>
        </p:nvSpPr>
        <p:spPr>
          <a:xfrm>
            <a:off x="124526" y="1309885"/>
            <a:ext cx="9060295"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Test recovery procedures, scale horizontally to increase aggregate system availability, and automatically recover from failure</a:t>
            </a:r>
            <a:endParaRPr/>
          </a:p>
        </p:txBody>
      </p:sp>
      <p:cxnSp>
        <p:nvCxnSpPr>
          <p:cNvPr id="905" name="Google Shape;905;p27"/>
          <p:cNvCxnSpPr/>
          <p:nvPr/>
        </p:nvCxnSpPr>
        <p:spPr>
          <a:xfrm>
            <a:off x="3243944" y="-304800"/>
            <a:ext cx="10602686" cy="0"/>
          </a:xfrm>
          <a:prstGeom prst="straightConnector1">
            <a:avLst/>
          </a:prstGeom>
          <a:noFill/>
          <a:ln cap="flat" cmpd="sng" w="9525">
            <a:solidFill>
              <a:schemeClr val="accent1"/>
            </a:solidFill>
            <a:prstDash val="solid"/>
            <a:miter lim="800000"/>
            <a:headEnd len="sm" w="sm" type="none"/>
            <a:tailEnd len="sm" w="sm" type="none"/>
          </a:ln>
        </p:spPr>
      </p:cxnSp>
      <p:pic>
        <p:nvPicPr>
          <p:cNvPr id="906" name="Google Shape;906;p27"/>
          <p:cNvPicPr preferRelativeResize="0"/>
          <p:nvPr/>
        </p:nvPicPr>
        <p:blipFill rotWithShape="1">
          <a:blip r:embed="rId3">
            <a:alphaModFix/>
          </a:blip>
          <a:srcRect b="0" l="0" r="0" t="0"/>
          <a:stretch/>
        </p:blipFill>
        <p:spPr>
          <a:xfrm>
            <a:off x="718523" y="2939666"/>
            <a:ext cx="2979543" cy="2979543"/>
          </a:xfrm>
          <a:prstGeom prst="rect">
            <a:avLst/>
          </a:prstGeom>
          <a:noFill/>
          <a:ln>
            <a:noFill/>
          </a:ln>
        </p:spPr>
      </p:pic>
      <p:sp>
        <p:nvSpPr>
          <p:cNvPr id="907" name="Google Shape;907;p27"/>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28"/>
          <p:cNvSpPr txBox="1"/>
          <p:nvPr>
            <p:ph type="title"/>
          </p:nvPr>
        </p:nvSpPr>
        <p:spPr>
          <a:xfrm>
            <a:off x="419100" y="365125"/>
            <a:ext cx="9237518"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Performance efficiency</a:t>
            </a:r>
            <a:endParaRPr/>
          </a:p>
        </p:txBody>
      </p:sp>
      <p:pic>
        <p:nvPicPr>
          <p:cNvPr id="913" name="Google Shape;913;p28"/>
          <p:cNvPicPr preferRelativeResize="0"/>
          <p:nvPr/>
        </p:nvPicPr>
        <p:blipFill rotWithShape="1">
          <a:blip r:embed="rId3">
            <a:alphaModFix/>
          </a:blip>
          <a:srcRect b="0" l="0" r="0" t="0"/>
          <a:stretch/>
        </p:blipFill>
        <p:spPr>
          <a:xfrm>
            <a:off x="975417" y="3109830"/>
            <a:ext cx="2436694" cy="2436694"/>
          </a:xfrm>
          <a:prstGeom prst="rect">
            <a:avLst/>
          </a:prstGeom>
          <a:noFill/>
          <a:ln>
            <a:noFill/>
          </a:ln>
        </p:spPr>
      </p:pic>
      <p:grpSp>
        <p:nvGrpSpPr>
          <p:cNvPr id="914" name="Google Shape;914;p28"/>
          <p:cNvGrpSpPr/>
          <p:nvPr/>
        </p:nvGrpSpPr>
        <p:grpSpPr>
          <a:xfrm>
            <a:off x="-2" y="1142998"/>
            <a:ext cx="12181117" cy="1164772"/>
            <a:chOff x="-2" y="1142998"/>
            <a:chExt cx="12181117" cy="1164772"/>
          </a:xfrm>
        </p:grpSpPr>
        <p:sp>
          <p:nvSpPr>
            <p:cNvPr id="915" name="Google Shape;915;p28"/>
            <p:cNvSpPr/>
            <p:nvPr/>
          </p:nvSpPr>
          <p:spPr>
            <a:xfrm>
              <a:off x="-2" y="1142998"/>
              <a:ext cx="9949545" cy="1164772"/>
            </a:xfrm>
            <a:prstGeom prst="homePlate">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916" name="Google Shape;916;p28"/>
            <p:cNvSpPr/>
            <p:nvPr/>
          </p:nvSpPr>
          <p:spPr>
            <a:xfrm>
              <a:off x="9339944" y="1142998"/>
              <a:ext cx="947057" cy="1164772"/>
            </a:xfrm>
            <a:prstGeom prst="chevron">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7" name="Google Shape;917;p28"/>
            <p:cNvSpPr/>
            <p:nvPr/>
          </p:nvSpPr>
          <p:spPr>
            <a:xfrm>
              <a:off x="10287001" y="1142998"/>
              <a:ext cx="947057" cy="1164772"/>
            </a:xfrm>
            <a:prstGeom prst="chevron">
              <a:avLst>
                <a:gd fmla="val 50000" name="adj"/>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8" name="Google Shape;918;p28"/>
            <p:cNvSpPr/>
            <p:nvPr/>
          </p:nvSpPr>
          <p:spPr>
            <a:xfrm>
              <a:off x="11234058" y="1142998"/>
              <a:ext cx="947057" cy="1164772"/>
            </a:xfrm>
            <a:prstGeom prst="chevron">
              <a:avLst>
                <a:gd fmla="val 50000"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9" name="Google Shape;919;p28"/>
            <p:cNvSpPr/>
            <p:nvPr/>
          </p:nvSpPr>
          <p:spPr>
            <a:xfrm>
              <a:off x="8392887" y="1142998"/>
              <a:ext cx="947057" cy="1164772"/>
            </a:xfrm>
            <a:prstGeom prst="chevron">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20" name="Google Shape;920;p28"/>
          <p:cNvSpPr txBox="1"/>
          <p:nvPr/>
        </p:nvSpPr>
        <p:spPr>
          <a:xfrm>
            <a:off x="4160520" y="2843784"/>
            <a:ext cx="6899148" cy="2968787"/>
          </a:xfrm>
          <a:prstGeom prst="rect">
            <a:avLst/>
          </a:prstGeom>
          <a:noFill/>
          <a:ln>
            <a:noFill/>
          </a:ln>
        </p:spPr>
        <p:txBody>
          <a:bodyPr anchorCtr="0" anchor="ctr" bIns="45700" lIns="91425" spcFirstLastPara="1" rIns="91425" wrap="square" tIns="45700">
            <a:noAutofit/>
          </a:bodyPr>
          <a:lstStyle/>
          <a:p>
            <a:pPr indent="-476231" lvl="0" marL="476231" marR="0" rtl="0" algn="l">
              <a:lnSpc>
                <a:spcPct val="9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Experiment more often</a:t>
            </a:r>
            <a:endParaRPr/>
          </a:p>
          <a:p>
            <a:pPr indent="-476231" lvl="0" marL="476231" marR="0" rtl="0" algn="l">
              <a:lnSpc>
                <a:spcPct val="90000"/>
              </a:lnSpc>
              <a:spcBef>
                <a:spcPts val="16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Use serverless architectures</a:t>
            </a:r>
            <a:endParaRPr/>
          </a:p>
          <a:p>
            <a:pPr indent="-476231" lvl="0" marL="476231" marR="0" rtl="0" algn="l">
              <a:lnSpc>
                <a:spcPct val="90000"/>
              </a:lnSpc>
              <a:spcBef>
                <a:spcPts val="16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Go global in minutes</a:t>
            </a:r>
            <a:endParaRPr b="0" i="0" sz="3200" u="none" cap="none" strike="noStrike">
              <a:solidFill>
                <a:srgbClr val="000000"/>
              </a:solidFill>
              <a:latin typeface="Arial"/>
              <a:ea typeface="Arial"/>
              <a:cs typeface="Arial"/>
              <a:sym typeface="Arial"/>
            </a:endParaRPr>
          </a:p>
        </p:txBody>
      </p:sp>
      <p:sp>
        <p:nvSpPr>
          <p:cNvPr id="921" name="Google Shape;921;p28"/>
          <p:cNvSpPr/>
          <p:nvPr/>
        </p:nvSpPr>
        <p:spPr>
          <a:xfrm>
            <a:off x="70096" y="1309885"/>
            <a:ext cx="958652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Use computing resources efficiently to meet system requirements and maintain that efficiency as demand changes and technologies evolve</a:t>
            </a:r>
            <a:endParaRPr/>
          </a:p>
        </p:txBody>
      </p:sp>
      <p:sp>
        <p:nvSpPr>
          <p:cNvPr id="922" name="Google Shape;922;p28"/>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29"/>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Cost optimization</a:t>
            </a:r>
            <a:endParaRPr/>
          </a:p>
        </p:txBody>
      </p:sp>
      <p:pic>
        <p:nvPicPr>
          <p:cNvPr id="928" name="Google Shape;928;p29"/>
          <p:cNvPicPr preferRelativeResize="0"/>
          <p:nvPr/>
        </p:nvPicPr>
        <p:blipFill rotWithShape="1">
          <a:blip r:embed="rId3">
            <a:alphaModFix/>
          </a:blip>
          <a:srcRect b="0" l="0" r="0" t="0"/>
          <a:stretch/>
        </p:blipFill>
        <p:spPr>
          <a:xfrm>
            <a:off x="908412" y="2978596"/>
            <a:ext cx="2706925" cy="2706925"/>
          </a:xfrm>
          <a:prstGeom prst="rect">
            <a:avLst/>
          </a:prstGeom>
          <a:noFill/>
          <a:ln>
            <a:noFill/>
          </a:ln>
        </p:spPr>
      </p:pic>
      <p:grpSp>
        <p:nvGrpSpPr>
          <p:cNvPr id="929" name="Google Shape;929;p29"/>
          <p:cNvGrpSpPr/>
          <p:nvPr/>
        </p:nvGrpSpPr>
        <p:grpSpPr>
          <a:xfrm>
            <a:off x="10883" y="1142997"/>
            <a:ext cx="12181117" cy="1164772"/>
            <a:chOff x="-2" y="1142998"/>
            <a:chExt cx="12181117" cy="1164772"/>
          </a:xfrm>
        </p:grpSpPr>
        <p:sp>
          <p:nvSpPr>
            <p:cNvPr id="930" name="Google Shape;930;p29"/>
            <p:cNvSpPr/>
            <p:nvPr/>
          </p:nvSpPr>
          <p:spPr>
            <a:xfrm>
              <a:off x="-2" y="1142998"/>
              <a:ext cx="9029701" cy="1164772"/>
            </a:xfrm>
            <a:prstGeom prst="homePlate">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931" name="Google Shape;931;p29"/>
            <p:cNvSpPr/>
            <p:nvPr/>
          </p:nvSpPr>
          <p:spPr>
            <a:xfrm>
              <a:off x="9339944" y="1142998"/>
              <a:ext cx="947057" cy="1164772"/>
            </a:xfrm>
            <a:prstGeom prst="chevron">
              <a:avLst>
                <a:gd fmla="val 50000" name="adj"/>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2" name="Google Shape;932;p29"/>
            <p:cNvSpPr/>
            <p:nvPr/>
          </p:nvSpPr>
          <p:spPr>
            <a:xfrm>
              <a:off x="10287001" y="1142998"/>
              <a:ext cx="947057" cy="1164772"/>
            </a:xfrm>
            <a:prstGeom prst="chevron">
              <a:avLst>
                <a:gd fmla="val 50000"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3" name="Google Shape;933;p29"/>
            <p:cNvSpPr/>
            <p:nvPr/>
          </p:nvSpPr>
          <p:spPr>
            <a:xfrm>
              <a:off x="11234058" y="1142998"/>
              <a:ext cx="947057" cy="1164772"/>
            </a:xfrm>
            <a:prstGeom prst="chevron">
              <a:avLst>
                <a:gd fmla="val 50000" name="adj"/>
              </a:avLst>
            </a:prstGeom>
            <a:solidFill>
              <a:srgbClr val="A5A5A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4" name="Google Shape;934;p29"/>
            <p:cNvSpPr/>
            <p:nvPr/>
          </p:nvSpPr>
          <p:spPr>
            <a:xfrm>
              <a:off x="8392887" y="1142998"/>
              <a:ext cx="947057" cy="1164772"/>
            </a:xfrm>
            <a:prstGeom prst="chevron">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35" name="Google Shape;935;p29"/>
          <p:cNvSpPr txBox="1"/>
          <p:nvPr/>
        </p:nvSpPr>
        <p:spPr>
          <a:xfrm>
            <a:off x="4160520" y="3085643"/>
            <a:ext cx="6899148" cy="2492832"/>
          </a:xfrm>
          <a:prstGeom prst="rect">
            <a:avLst/>
          </a:prstGeom>
          <a:noFill/>
          <a:ln>
            <a:noFill/>
          </a:ln>
        </p:spPr>
        <p:txBody>
          <a:bodyPr anchorCtr="0" anchor="ctr" bIns="45700" lIns="91425" spcFirstLastPara="1" rIns="91425" wrap="square" tIns="45700">
            <a:noAutofit/>
          </a:bodyPr>
          <a:lstStyle/>
          <a:p>
            <a:pPr indent="-476231" lvl="0" marL="476231" marR="0" rtl="0" algn="l">
              <a:lnSpc>
                <a:spcPct val="9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Adopt a consumption model</a:t>
            </a:r>
            <a:endParaRPr/>
          </a:p>
          <a:p>
            <a:pPr indent="-476231" lvl="0" marL="476231" marR="0" rtl="0" algn="l">
              <a:lnSpc>
                <a:spcPct val="90000"/>
              </a:lnSpc>
              <a:spcBef>
                <a:spcPts val="16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Analyze and attribute expenditure</a:t>
            </a:r>
            <a:endParaRPr/>
          </a:p>
          <a:p>
            <a:pPr indent="-476231" lvl="0" marL="476231" marR="0" rtl="0" algn="l">
              <a:lnSpc>
                <a:spcPct val="90000"/>
              </a:lnSpc>
              <a:spcBef>
                <a:spcPts val="160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Use managed services to reduce cost of ownership</a:t>
            </a:r>
            <a:endParaRPr/>
          </a:p>
        </p:txBody>
      </p:sp>
      <p:sp>
        <p:nvSpPr>
          <p:cNvPr id="936" name="Google Shape;936;p29"/>
          <p:cNvSpPr/>
          <p:nvPr/>
        </p:nvSpPr>
        <p:spPr>
          <a:xfrm>
            <a:off x="124525" y="1494551"/>
            <a:ext cx="906029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Run systems to deliver business value at the lowest price point</a:t>
            </a:r>
            <a:endParaRPr/>
          </a:p>
        </p:txBody>
      </p:sp>
      <p:sp>
        <p:nvSpPr>
          <p:cNvPr id="937" name="Google Shape;937;p29"/>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30"/>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Sustainability</a:t>
            </a:r>
            <a:endParaRPr/>
          </a:p>
        </p:txBody>
      </p:sp>
      <p:grpSp>
        <p:nvGrpSpPr>
          <p:cNvPr id="943" name="Google Shape;943;p30"/>
          <p:cNvGrpSpPr/>
          <p:nvPr/>
        </p:nvGrpSpPr>
        <p:grpSpPr>
          <a:xfrm>
            <a:off x="10883" y="1142997"/>
            <a:ext cx="12181117" cy="1164772"/>
            <a:chOff x="-2" y="1142998"/>
            <a:chExt cx="12181117" cy="1164772"/>
          </a:xfrm>
        </p:grpSpPr>
        <p:sp>
          <p:nvSpPr>
            <p:cNvPr id="944" name="Google Shape;944;p30"/>
            <p:cNvSpPr/>
            <p:nvPr/>
          </p:nvSpPr>
          <p:spPr>
            <a:xfrm>
              <a:off x="-2" y="1142998"/>
              <a:ext cx="9029701" cy="1164772"/>
            </a:xfrm>
            <a:prstGeom prst="homePlate">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945" name="Google Shape;945;p30"/>
            <p:cNvSpPr/>
            <p:nvPr/>
          </p:nvSpPr>
          <p:spPr>
            <a:xfrm>
              <a:off x="9339944" y="1142998"/>
              <a:ext cx="947057" cy="1164772"/>
            </a:xfrm>
            <a:prstGeom prst="chevron">
              <a:avLst>
                <a:gd fmla="val 50000" name="adj"/>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6" name="Google Shape;946;p30"/>
            <p:cNvSpPr/>
            <p:nvPr/>
          </p:nvSpPr>
          <p:spPr>
            <a:xfrm>
              <a:off x="10287001" y="1142998"/>
              <a:ext cx="947057" cy="1164772"/>
            </a:xfrm>
            <a:prstGeom prst="chevron">
              <a:avLst>
                <a:gd fmla="val 50000"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7" name="Google Shape;947;p30"/>
            <p:cNvSpPr/>
            <p:nvPr/>
          </p:nvSpPr>
          <p:spPr>
            <a:xfrm>
              <a:off x="11234058" y="1142998"/>
              <a:ext cx="947057" cy="1164772"/>
            </a:xfrm>
            <a:prstGeom prst="chevron">
              <a:avLst>
                <a:gd fmla="val 50000" name="adj"/>
              </a:avLst>
            </a:prstGeom>
            <a:solidFill>
              <a:srgbClr val="A5A5A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8" name="Google Shape;948;p30"/>
            <p:cNvSpPr/>
            <p:nvPr/>
          </p:nvSpPr>
          <p:spPr>
            <a:xfrm>
              <a:off x="8392887" y="1142998"/>
              <a:ext cx="947057" cy="1164772"/>
            </a:xfrm>
            <a:prstGeom prst="chevron">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49" name="Google Shape;949;p30"/>
          <p:cNvSpPr txBox="1"/>
          <p:nvPr/>
        </p:nvSpPr>
        <p:spPr>
          <a:xfrm>
            <a:off x="4160519" y="3085643"/>
            <a:ext cx="8144691" cy="2492832"/>
          </a:xfrm>
          <a:prstGeom prst="rect">
            <a:avLst/>
          </a:prstGeom>
          <a:noFill/>
          <a:ln>
            <a:noFill/>
          </a:ln>
        </p:spPr>
        <p:txBody>
          <a:bodyPr anchorCtr="0" anchor="ctr"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a:solidFill>
                  <a:schemeClr val="dk1"/>
                </a:solidFill>
                <a:latin typeface="Arial"/>
                <a:ea typeface="Arial"/>
                <a:cs typeface="Arial"/>
                <a:sym typeface="Arial"/>
              </a:rPr>
              <a:t>   Understand your impact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a:solidFill>
                  <a:schemeClr val="dk1"/>
                </a:solidFill>
                <a:latin typeface="Arial"/>
                <a:ea typeface="Arial"/>
                <a:cs typeface="Arial"/>
                <a:sym typeface="Arial"/>
              </a:rPr>
              <a:t>   Establish sustainability goals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a:solidFill>
                  <a:schemeClr val="dk1"/>
                </a:solidFill>
                <a:latin typeface="Arial"/>
                <a:ea typeface="Arial"/>
                <a:cs typeface="Arial"/>
                <a:sym typeface="Arial"/>
              </a:rPr>
              <a:t>   Maximize utilization</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a:solidFill>
                  <a:schemeClr val="dk1"/>
                </a:solidFill>
                <a:latin typeface="Arial"/>
                <a:ea typeface="Arial"/>
                <a:cs typeface="Arial"/>
                <a:sym typeface="Arial"/>
              </a:rPr>
              <a:t>   Reduce the downstream impact of workload</a:t>
            </a:r>
            <a:endParaRPr/>
          </a:p>
        </p:txBody>
      </p:sp>
      <p:sp>
        <p:nvSpPr>
          <p:cNvPr id="950" name="Google Shape;950;p30"/>
          <p:cNvSpPr/>
          <p:nvPr/>
        </p:nvSpPr>
        <p:spPr>
          <a:xfrm>
            <a:off x="124525" y="1494551"/>
            <a:ext cx="906029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Minimize the environmental impacts of running cloud workloads</a:t>
            </a:r>
            <a:endParaRPr/>
          </a:p>
        </p:txBody>
      </p:sp>
      <p:sp>
        <p:nvSpPr>
          <p:cNvPr id="951" name="Google Shape;951;p30"/>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grpSp>
        <p:nvGrpSpPr>
          <p:cNvPr id="952" name="Google Shape;952;p30"/>
          <p:cNvGrpSpPr/>
          <p:nvPr/>
        </p:nvGrpSpPr>
        <p:grpSpPr>
          <a:xfrm>
            <a:off x="1386257" y="3429635"/>
            <a:ext cx="1772441" cy="1817758"/>
            <a:chOff x="10242821" y="7146696"/>
            <a:chExt cx="1100063" cy="1128189"/>
          </a:xfrm>
        </p:grpSpPr>
        <p:sp>
          <p:nvSpPr>
            <p:cNvPr id="953" name="Google Shape;953;p30"/>
            <p:cNvSpPr/>
            <p:nvPr/>
          </p:nvSpPr>
          <p:spPr>
            <a:xfrm>
              <a:off x="10691525" y="7696437"/>
              <a:ext cx="13841" cy="70235"/>
            </a:xfrm>
            <a:custGeom>
              <a:rect b="b" l="l" r="r" t="t"/>
              <a:pathLst>
                <a:path extrusionOk="0" h="93954" w="18516">
                  <a:moveTo>
                    <a:pt x="0" y="0"/>
                  </a:moveTo>
                  <a:cubicBezTo>
                    <a:pt x="4115" y="34976"/>
                    <a:pt x="8230" y="56921"/>
                    <a:pt x="18517" y="93955"/>
                  </a:cubicBezTo>
                </a:path>
              </a:pathLst>
            </a:custGeom>
            <a:noFill/>
            <a:ln cap="flat" cmpd="sng" w="19050">
              <a:solidFill>
                <a:srgbClr val="517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840"/>
                <a:buFont typeface="Arial"/>
                <a:buNone/>
              </a:pPr>
              <a:r>
                <a:t/>
              </a:r>
              <a:endParaRPr b="0" i="0" sz="3840" u="none" cap="none" strike="noStrike">
                <a:solidFill>
                  <a:srgbClr val="FFFFFF"/>
                </a:solidFill>
                <a:latin typeface="Arial"/>
                <a:ea typeface="Arial"/>
                <a:cs typeface="Arial"/>
                <a:sym typeface="Arial"/>
              </a:endParaRPr>
            </a:p>
          </p:txBody>
        </p:sp>
        <p:sp>
          <p:nvSpPr>
            <p:cNvPr id="954" name="Google Shape;954;p30"/>
            <p:cNvSpPr/>
            <p:nvPr/>
          </p:nvSpPr>
          <p:spPr>
            <a:xfrm>
              <a:off x="10931453" y="7361153"/>
              <a:ext cx="44601" cy="147648"/>
            </a:xfrm>
            <a:custGeom>
              <a:rect b="b" l="l" r="r" t="t"/>
              <a:pathLst>
                <a:path extrusionOk="0" h="197510" w="59664">
                  <a:moveTo>
                    <a:pt x="59665" y="197510"/>
                  </a:moveTo>
                  <a:cubicBezTo>
                    <a:pt x="49378" y="134417"/>
                    <a:pt x="30861" y="67894"/>
                    <a:pt x="0" y="0"/>
                  </a:cubicBezTo>
                </a:path>
              </a:pathLst>
            </a:custGeom>
            <a:noFill/>
            <a:ln cap="flat" cmpd="sng" w="19050">
              <a:solidFill>
                <a:srgbClr val="517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840"/>
                <a:buFont typeface="Arial"/>
                <a:buNone/>
              </a:pPr>
              <a:r>
                <a:t/>
              </a:r>
              <a:endParaRPr b="0" i="0" sz="3840" u="none" cap="none" strike="noStrike">
                <a:solidFill>
                  <a:srgbClr val="FFFFFF"/>
                </a:solidFill>
                <a:latin typeface="Arial"/>
                <a:ea typeface="Arial"/>
                <a:cs typeface="Arial"/>
                <a:sym typeface="Arial"/>
              </a:endParaRPr>
            </a:p>
          </p:txBody>
        </p:sp>
        <p:sp>
          <p:nvSpPr>
            <p:cNvPr id="955" name="Google Shape;955;p30"/>
            <p:cNvSpPr/>
            <p:nvPr/>
          </p:nvSpPr>
          <p:spPr>
            <a:xfrm>
              <a:off x="10962727" y="7575448"/>
              <a:ext cx="21181" cy="190712"/>
            </a:xfrm>
            <a:custGeom>
              <a:rect b="b" l="l" r="r" t="t"/>
              <a:pathLst>
                <a:path extrusionOk="0" h="255117" w="28335">
                  <a:moveTo>
                    <a:pt x="0" y="255118"/>
                  </a:moveTo>
                  <a:cubicBezTo>
                    <a:pt x="17145" y="188595"/>
                    <a:pt x="32233" y="100813"/>
                    <a:pt x="27432" y="0"/>
                  </a:cubicBezTo>
                </a:path>
              </a:pathLst>
            </a:custGeom>
            <a:noFill/>
            <a:ln cap="flat" cmpd="sng" w="19050">
              <a:solidFill>
                <a:srgbClr val="517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840"/>
                <a:buFont typeface="Arial"/>
                <a:buNone/>
              </a:pPr>
              <a:r>
                <a:t/>
              </a:r>
              <a:endParaRPr b="0" i="0" sz="3840" u="none" cap="none" strike="noStrike">
                <a:solidFill>
                  <a:srgbClr val="FFFFFF"/>
                </a:solidFill>
                <a:latin typeface="Arial"/>
                <a:ea typeface="Arial"/>
                <a:cs typeface="Arial"/>
                <a:sym typeface="Arial"/>
              </a:endParaRPr>
            </a:p>
          </p:txBody>
        </p:sp>
        <p:sp>
          <p:nvSpPr>
            <p:cNvPr id="956" name="Google Shape;956;p30"/>
            <p:cNvSpPr/>
            <p:nvPr/>
          </p:nvSpPr>
          <p:spPr>
            <a:xfrm>
              <a:off x="10739716" y="7620049"/>
              <a:ext cx="363993" cy="5127"/>
            </a:xfrm>
            <a:custGeom>
              <a:rect b="b" l="l" r="r" t="t"/>
              <a:pathLst>
                <a:path extrusionOk="0" h="6858" w="486918">
                  <a:moveTo>
                    <a:pt x="486918" y="0"/>
                  </a:moveTo>
                  <a:lnTo>
                    <a:pt x="0" y="0"/>
                  </a:lnTo>
                </a:path>
              </a:pathLst>
            </a:custGeom>
            <a:noFill/>
            <a:ln cap="flat" cmpd="sng" w="19050">
              <a:solidFill>
                <a:srgbClr val="517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840"/>
                <a:buFont typeface="Arial"/>
                <a:buNone/>
              </a:pPr>
              <a:r>
                <a:t/>
              </a:r>
              <a:endParaRPr b="0" i="0" sz="3840" u="none" cap="none" strike="noStrike">
                <a:solidFill>
                  <a:srgbClr val="FFFFFF"/>
                </a:solidFill>
                <a:latin typeface="Arial"/>
                <a:ea typeface="Arial"/>
                <a:cs typeface="Arial"/>
                <a:sym typeface="Arial"/>
              </a:endParaRPr>
            </a:p>
          </p:txBody>
        </p:sp>
        <p:sp>
          <p:nvSpPr>
            <p:cNvPr id="957" name="Google Shape;957;p30"/>
            <p:cNvSpPr/>
            <p:nvPr/>
          </p:nvSpPr>
          <p:spPr>
            <a:xfrm>
              <a:off x="10835585" y="7342184"/>
              <a:ext cx="5127" cy="166617"/>
            </a:xfrm>
            <a:custGeom>
              <a:rect b="b" l="l" r="r" t="t"/>
              <a:pathLst>
                <a:path extrusionOk="0" h="222885" w="6858">
                  <a:moveTo>
                    <a:pt x="0" y="222885"/>
                  </a:moveTo>
                  <a:lnTo>
                    <a:pt x="0" y="0"/>
                  </a:lnTo>
                </a:path>
              </a:pathLst>
            </a:custGeom>
            <a:noFill/>
            <a:ln cap="flat" cmpd="sng" w="19050">
              <a:solidFill>
                <a:srgbClr val="517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840"/>
                <a:buFont typeface="Arial"/>
                <a:buNone/>
              </a:pPr>
              <a:r>
                <a:t/>
              </a:r>
              <a:endParaRPr b="0" i="0" sz="3840" u="none" cap="none" strike="noStrike">
                <a:solidFill>
                  <a:srgbClr val="FFFFFF"/>
                </a:solidFill>
                <a:latin typeface="Arial"/>
                <a:ea typeface="Arial"/>
                <a:cs typeface="Arial"/>
                <a:sym typeface="Arial"/>
              </a:endParaRPr>
            </a:p>
          </p:txBody>
        </p:sp>
        <p:sp>
          <p:nvSpPr>
            <p:cNvPr id="958" name="Google Shape;958;p30"/>
            <p:cNvSpPr/>
            <p:nvPr/>
          </p:nvSpPr>
          <p:spPr>
            <a:xfrm>
              <a:off x="10835585" y="7581600"/>
              <a:ext cx="5127" cy="199427"/>
            </a:xfrm>
            <a:custGeom>
              <a:rect b="b" l="l" r="r" t="t"/>
              <a:pathLst>
                <a:path extrusionOk="0" h="266776" w="6858">
                  <a:moveTo>
                    <a:pt x="0" y="266776"/>
                  </a:moveTo>
                  <a:lnTo>
                    <a:pt x="0" y="0"/>
                  </a:lnTo>
                </a:path>
              </a:pathLst>
            </a:custGeom>
            <a:noFill/>
            <a:ln cap="flat" cmpd="sng" w="19050">
              <a:solidFill>
                <a:srgbClr val="517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840"/>
                <a:buFont typeface="Arial"/>
                <a:buNone/>
              </a:pPr>
              <a:r>
                <a:t/>
              </a:r>
              <a:endParaRPr b="0" i="0" sz="3840" u="none" cap="none" strike="noStrike">
                <a:solidFill>
                  <a:srgbClr val="FFFFFF"/>
                </a:solidFill>
                <a:latin typeface="Arial"/>
                <a:ea typeface="Arial"/>
                <a:cs typeface="Arial"/>
                <a:sym typeface="Arial"/>
              </a:endParaRPr>
            </a:p>
          </p:txBody>
        </p:sp>
        <p:sp>
          <p:nvSpPr>
            <p:cNvPr id="959" name="Google Shape;959;p30"/>
            <p:cNvSpPr/>
            <p:nvPr/>
          </p:nvSpPr>
          <p:spPr>
            <a:xfrm>
              <a:off x="10745356" y="7451648"/>
              <a:ext cx="335796" cy="57153"/>
            </a:xfrm>
            <a:custGeom>
              <a:rect b="b" l="l" r="r" t="t"/>
              <a:pathLst>
                <a:path extrusionOk="0" h="76454" w="449198">
                  <a:moveTo>
                    <a:pt x="449199" y="76454"/>
                  </a:moveTo>
                  <a:cubicBezTo>
                    <a:pt x="449199" y="76454"/>
                    <a:pt x="248260" y="-29159"/>
                    <a:pt x="0" y="7874"/>
                  </a:cubicBezTo>
                </a:path>
              </a:pathLst>
            </a:custGeom>
            <a:noFill/>
            <a:ln cap="flat" cmpd="sng" w="19050">
              <a:solidFill>
                <a:srgbClr val="517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840"/>
                <a:buFont typeface="Arial"/>
                <a:buNone/>
              </a:pPr>
              <a:r>
                <a:t/>
              </a:r>
              <a:endParaRPr b="0" i="0" sz="3840" u="none" cap="none" strike="noStrike">
                <a:solidFill>
                  <a:srgbClr val="FFFFFF"/>
                </a:solidFill>
                <a:latin typeface="Arial"/>
                <a:ea typeface="Arial"/>
                <a:cs typeface="Arial"/>
                <a:sym typeface="Arial"/>
              </a:endParaRPr>
            </a:p>
          </p:txBody>
        </p:sp>
        <p:sp>
          <p:nvSpPr>
            <p:cNvPr id="960" name="Google Shape;960;p30"/>
            <p:cNvSpPr/>
            <p:nvPr/>
          </p:nvSpPr>
          <p:spPr>
            <a:xfrm>
              <a:off x="10472257" y="7710792"/>
              <a:ext cx="467912" cy="109197"/>
            </a:xfrm>
            <a:custGeom>
              <a:rect b="b" l="l" r="r" t="t"/>
              <a:pathLst>
                <a:path extrusionOk="0" h="146075" w="625931">
                  <a:moveTo>
                    <a:pt x="87578" y="0"/>
                  </a:moveTo>
                  <a:lnTo>
                    <a:pt x="53974" y="4115"/>
                  </a:lnTo>
                  <a:cubicBezTo>
                    <a:pt x="-11177" y="15088"/>
                    <a:pt x="-20092" y="121387"/>
                    <a:pt x="42315" y="146075"/>
                  </a:cubicBezTo>
                  <a:lnTo>
                    <a:pt x="625931" y="146075"/>
                  </a:lnTo>
                </a:path>
              </a:pathLst>
            </a:custGeom>
            <a:noFill/>
            <a:ln cap="flat" cmpd="sng" w="19050">
              <a:solidFill>
                <a:srgbClr val="002D43"/>
              </a:solidFill>
              <a:prstDash val="dashDot"/>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160"/>
                <a:buFont typeface="Arial"/>
                <a:buNone/>
              </a:pPr>
              <a:r>
                <a:t/>
              </a:r>
              <a:endParaRPr b="0" i="0" sz="2160" u="none" cap="none" strike="noStrike">
                <a:solidFill>
                  <a:srgbClr val="FFFFFF"/>
                </a:solidFill>
                <a:latin typeface="Arial"/>
                <a:ea typeface="Arial"/>
                <a:cs typeface="Arial"/>
                <a:sym typeface="Arial"/>
              </a:endParaRPr>
            </a:p>
          </p:txBody>
        </p:sp>
        <p:sp>
          <p:nvSpPr>
            <p:cNvPr id="961" name="Google Shape;961;p30"/>
            <p:cNvSpPr/>
            <p:nvPr/>
          </p:nvSpPr>
          <p:spPr>
            <a:xfrm>
              <a:off x="10253100" y="7803186"/>
              <a:ext cx="178540" cy="314465"/>
            </a:xfrm>
            <a:custGeom>
              <a:rect b="b" l="l" r="r" t="t"/>
              <a:pathLst>
                <a:path extrusionOk="0" h="293522" w="166649">
                  <a:moveTo>
                    <a:pt x="0" y="0"/>
                  </a:moveTo>
                  <a:cubicBezTo>
                    <a:pt x="16459" y="92583"/>
                    <a:pt x="58979" y="208483"/>
                    <a:pt x="166649" y="293522"/>
                  </a:cubicBezTo>
                </a:path>
              </a:pathLst>
            </a:custGeom>
            <a:noFill/>
            <a:ln cap="flat" cmpd="sng" w="25400">
              <a:solidFill>
                <a:srgbClr val="002D4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160"/>
                <a:buFont typeface="Arial"/>
                <a:buNone/>
              </a:pPr>
              <a:r>
                <a:t/>
              </a:r>
              <a:endParaRPr b="0" i="0" sz="2160" u="none" cap="none" strike="noStrike">
                <a:solidFill>
                  <a:srgbClr val="FFFFFF"/>
                </a:solidFill>
                <a:latin typeface="Arial"/>
                <a:ea typeface="Arial"/>
                <a:cs typeface="Arial"/>
                <a:sym typeface="Arial"/>
              </a:endParaRPr>
            </a:p>
          </p:txBody>
        </p:sp>
        <p:sp>
          <p:nvSpPr>
            <p:cNvPr id="962" name="Google Shape;962;p30"/>
            <p:cNvSpPr/>
            <p:nvPr/>
          </p:nvSpPr>
          <p:spPr>
            <a:xfrm>
              <a:off x="10242821" y="7210257"/>
              <a:ext cx="299764" cy="521661"/>
            </a:xfrm>
            <a:custGeom>
              <a:rect b="b" l="l" r="r" t="t"/>
              <a:pathLst>
                <a:path extrusionOk="0" h="486918" w="279799">
                  <a:moveTo>
                    <a:pt x="279799" y="0"/>
                  </a:moveTo>
                  <a:cubicBezTo>
                    <a:pt x="271570" y="4115"/>
                    <a:pt x="263340" y="8915"/>
                    <a:pt x="255110" y="13716"/>
                  </a:cubicBezTo>
                  <a:cubicBezTo>
                    <a:pt x="147440" y="76124"/>
                    <a:pt x="21253" y="216027"/>
                    <a:pt x="2050" y="404622"/>
                  </a:cubicBezTo>
                  <a:cubicBezTo>
                    <a:pt x="2050" y="404622"/>
                    <a:pt x="-2065" y="437540"/>
                    <a:pt x="1364" y="486918"/>
                  </a:cubicBezTo>
                </a:path>
              </a:pathLst>
            </a:custGeom>
            <a:noFill/>
            <a:ln cap="flat" cmpd="sng" w="25400">
              <a:solidFill>
                <a:srgbClr val="002D4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160"/>
                <a:buFont typeface="Arial"/>
                <a:buNone/>
              </a:pPr>
              <a:r>
                <a:t/>
              </a:r>
              <a:endParaRPr b="0" i="0" sz="2160" u="none" cap="none" strike="noStrike">
                <a:solidFill>
                  <a:srgbClr val="FFFFFF"/>
                </a:solidFill>
                <a:latin typeface="Arial"/>
                <a:ea typeface="Arial"/>
                <a:cs typeface="Arial"/>
                <a:sym typeface="Arial"/>
              </a:endParaRPr>
            </a:p>
          </p:txBody>
        </p:sp>
        <p:sp>
          <p:nvSpPr>
            <p:cNvPr id="963" name="Google Shape;963;p30"/>
            <p:cNvSpPr/>
            <p:nvPr/>
          </p:nvSpPr>
          <p:spPr>
            <a:xfrm>
              <a:off x="10606506" y="7146696"/>
              <a:ext cx="638484" cy="237692"/>
            </a:xfrm>
            <a:custGeom>
              <a:rect b="b" l="l" r="r" t="t"/>
              <a:pathLst>
                <a:path extrusionOk="0" h="221861" w="595960">
                  <a:moveTo>
                    <a:pt x="595960" y="221862"/>
                  </a:moveTo>
                  <a:cubicBezTo>
                    <a:pt x="508178" y="84702"/>
                    <a:pt x="267462" y="-68231"/>
                    <a:pt x="0" y="32581"/>
                  </a:cubicBezTo>
                </a:path>
              </a:pathLst>
            </a:custGeom>
            <a:noFill/>
            <a:ln cap="flat" cmpd="sng" w="25400">
              <a:solidFill>
                <a:srgbClr val="002D4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160"/>
                <a:buFont typeface="Arial"/>
                <a:buNone/>
              </a:pPr>
              <a:r>
                <a:t/>
              </a:r>
              <a:endParaRPr b="0" i="0" sz="2160" u="none" cap="none" strike="noStrike">
                <a:solidFill>
                  <a:srgbClr val="FFFFFF"/>
                </a:solidFill>
                <a:latin typeface="Arial"/>
                <a:ea typeface="Arial"/>
                <a:cs typeface="Arial"/>
                <a:sym typeface="Arial"/>
              </a:endParaRPr>
            </a:p>
          </p:txBody>
        </p:sp>
        <p:sp>
          <p:nvSpPr>
            <p:cNvPr id="964" name="Google Shape;964;p30"/>
            <p:cNvSpPr/>
            <p:nvPr/>
          </p:nvSpPr>
          <p:spPr>
            <a:xfrm>
              <a:off x="11167109" y="7307976"/>
              <a:ext cx="98453" cy="89637"/>
            </a:xfrm>
            <a:custGeom>
              <a:rect b="b" l="l" r="r" t="t"/>
              <a:pathLst>
                <a:path extrusionOk="0" h="83667" w="91897">
                  <a:moveTo>
                    <a:pt x="91897" y="2057"/>
                  </a:moveTo>
                  <a:lnTo>
                    <a:pt x="78181" y="0"/>
                  </a:lnTo>
                  <a:lnTo>
                    <a:pt x="68580" y="67208"/>
                  </a:lnTo>
                  <a:lnTo>
                    <a:pt x="2743" y="52807"/>
                  </a:lnTo>
                  <a:lnTo>
                    <a:pt x="0" y="65837"/>
                  </a:lnTo>
                  <a:lnTo>
                    <a:pt x="80239" y="8366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160"/>
                <a:buFont typeface="Arial"/>
                <a:buNone/>
              </a:pPr>
              <a:r>
                <a:t/>
              </a:r>
              <a:endParaRPr b="0" i="0" sz="2160" u="none" cap="none" strike="noStrike">
                <a:solidFill>
                  <a:srgbClr val="FFFFFF"/>
                </a:solidFill>
                <a:latin typeface="Arial"/>
                <a:ea typeface="Arial"/>
                <a:cs typeface="Arial"/>
                <a:sym typeface="Arial"/>
              </a:endParaRPr>
            </a:p>
          </p:txBody>
        </p:sp>
        <p:sp>
          <p:nvSpPr>
            <p:cNvPr id="965" name="Google Shape;965;p30"/>
            <p:cNvSpPr/>
            <p:nvPr/>
          </p:nvSpPr>
          <p:spPr>
            <a:xfrm>
              <a:off x="11317729" y="7537948"/>
              <a:ext cx="25155" cy="193969"/>
            </a:xfrm>
            <a:custGeom>
              <a:rect b="b" l="l" r="r" t="t"/>
              <a:pathLst>
                <a:path extrusionOk="0" h="181051" w="23479">
                  <a:moveTo>
                    <a:pt x="22631" y="181051"/>
                  </a:moveTo>
                  <a:cubicBezTo>
                    <a:pt x="26060" y="124816"/>
                    <a:pt x="19202" y="63779"/>
                    <a:pt x="0" y="0"/>
                  </a:cubicBezTo>
                </a:path>
              </a:pathLst>
            </a:custGeom>
            <a:noFill/>
            <a:ln cap="flat" cmpd="sng" w="25400">
              <a:solidFill>
                <a:srgbClr val="002D4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160"/>
                <a:buFont typeface="Arial"/>
                <a:buNone/>
              </a:pPr>
              <a:r>
                <a:t/>
              </a:r>
              <a:endParaRPr b="0" i="0" sz="2160" u="none" cap="none" strike="noStrike">
                <a:solidFill>
                  <a:srgbClr val="FFFFFF"/>
                </a:solidFill>
                <a:latin typeface="Arial"/>
                <a:ea typeface="Arial"/>
                <a:cs typeface="Arial"/>
                <a:sym typeface="Arial"/>
              </a:endParaRPr>
            </a:p>
          </p:txBody>
        </p:sp>
        <p:sp>
          <p:nvSpPr>
            <p:cNvPr id="966" name="Google Shape;966;p30"/>
            <p:cNvSpPr/>
            <p:nvPr/>
          </p:nvSpPr>
          <p:spPr>
            <a:xfrm>
              <a:off x="11300096" y="7776737"/>
              <a:ext cx="38205" cy="133721"/>
            </a:xfrm>
            <a:custGeom>
              <a:rect b="b" l="l" r="r" t="t"/>
              <a:pathLst>
                <a:path extrusionOk="0" h="124815" w="35661">
                  <a:moveTo>
                    <a:pt x="0" y="124816"/>
                  </a:moveTo>
                  <a:cubicBezTo>
                    <a:pt x="16459" y="86411"/>
                    <a:pt x="28804" y="44577"/>
                    <a:pt x="35662" y="0"/>
                  </a:cubicBezTo>
                </a:path>
              </a:pathLst>
            </a:custGeom>
            <a:noFill/>
            <a:ln cap="flat" cmpd="sng" w="25400">
              <a:solidFill>
                <a:srgbClr val="002D4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160"/>
                <a:buFont typeface="Arial"/>
                <a:buNone/>
              </a:pPr>
              <a:r>
                <a:t/>
              </a:r>
              <a:endParaRPr b="0" i="0" sz="2160" u="none" cap="none" strike="noStrike">
                <a:solidFill>
                  <a:srgbClr val="FFFFFF"/>
                </a:solidFill>
                <a:latin typeface="Arial"/>
                <a:ea typeface="Arial"/>
                <a:cs typeface="Arial"/>
                <a:sym typeface="Arial"/>
              </a:endParaRPr>
            </a:p>
          </p:txBody>
        </p:sp>
        <p:sp>
          <p:nvSpPr>
            <p:cNvPr id="967" name="Google Shape;967;p30"/>
            <p:cNvSpPr/>
            <p:nvPr/>
          </p:nvSpPr>
          <p:spPr>
            <a:xfrm>
              <a:off x="10561688" y="7961154"/>
              <a:ext cx="714160" cy="291731"/>
            </a:xfrm>
            <a:custGeom>
              <a:rect b="b" l="l" r="r" t="t"/>
              <a:pathLst>
                <a:path extrusionOk="0" h="272301" w="666597">
                  <a:moveTo>
                    <a:pt x="0" y="223571"/>
                  </a:moveTo>
                  <a:cubicBezTo>
                    <a:pt x="130302" y="284607"/>
                    <a:pt x="299009" y="300380"/>
                    <a:pt x="473888" y="199568"/>
                  </a:cubicBezTo>
                  <a:cubicBezTo>
                    <a:pt x="541096" y="160477"/>
                    <a:pt x="615163" y="91897"/>
                    <a:pt x="666598" y="0"/>
                  </a:cubicBezTo>
                </a:path>
              </a:pathLst>
            </a:custGeom>
            <a:noFill/>
            <a:ln cap="flat" cmpd="sng" w="25400">
              <a:solidFill>
                <a:srgbClr val="002D4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160"/>
                <a:buFont typeface="Arial"/>
                <a:buNone/>
              </a:pPr>
              <a:r>
                <a:t/>
              </a:r>
              <a:endParaRPr b="0" i="0" sz="2160" u="none" cap="none" strike="noStrike">
                <a:solidFill>
                  <a:srgbClr val="FFFFFF"/>
                </a:solidFill>
                <a:latin typeface="Arial"/>
                <a:ea typeface="Arial"/>
                <a:cs typeface="Arial"/>
                <a:sym typeface="Arial"/>
              </a:endParaRPr>
            </a:p>
          </p:txBody>
        </p:sp>
        <p:sp>
          <p:nvSpPr>
            <p:cNvPr id="968" name="Google Shape;968;p30"/>
            <p:cNvSpPr/>
            <p:nvPr/>
          </p:nvSpPr>
          <p:spPr>
            <a:xfrm>
              <a:off x="10546993" y="8164676"/>
              <a:ext cx="88168" cy="110209"/>
            </a:xfrm>
            <a:custGeom>
              <a:rect b="b" l="l" r="r" t="t"/>
              <a:pathLst>
                <a:path extrusionOk="0" h="102870" w="82296">
                  <a:moveTo>
                    <a:pt x="32233" y="102870"/>
                  </a:moveTo>
                  <a:lnTo>
                    <a:pt x="45263" y="97384"/>
                  </a:lnTo>
                  <a:lnTo>
                    <a:pt x="18517" y="34976"/>
                  </a:lnTo>
                  <a:lnTo>
                    <a:pt x="82296" y="13030"/>
                  </a:lnTo>
                  <a:lnTo>
                    <a:pt x="78181" y="0"/>
                  </a:lnTo>
                  <a:lnTo>
                    <a:pt x="0" y="2674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160"/>
                <a:buFont typeface="Arial"/>
                <a:buNone/>
              </a:pPr>
              <a:r>
                <a:t/>
              </a:r>
              <a:endParaRPr b="0" i="0" sz="2160" u="none" cap="none" strike="noStrike">
                <a:solidFill>
                  <a:srgbClr val="FFFFFF"/>
                </a:solidFill>
                <a:latin typeface="Arial"/>
                <a:ea typeface="Arial"/>
                <a:cs typeface="Arial"/>
                <a:sym typeface="Arial"/>
              </a:endParaRPr>
            </a:p>
          </p:txBody>
        </p:sp>
        <p:sp>
          <p:nvSpPr>
            <p:cNvPr descr="Leaf" id="969" name="Google Shape;969;p30"/>
            <p:cNvSpPr/>
            <p:nvPr/>
          </p:nvSpPr>
          <p:spPr>
            <a:xfrm rot="-432196">
              <a:off x="10488393" y="7408363"/>
              <a:ext cx="234555" cy="224975"/>
            </a:xfrm>
            <a:custGeom>
              <a:rect b="b" l="l" r="r" t="t"/>
              <a:pathLst>
                <a:path extrusionOk="0" h="648652" w="676275">
                  <a:moveTo>
                    <a:pt x="314325" y="57150"/>
                  </a:moveTo>
                  <a:cubicBezTo>
                    <a:pt x="166688" y="57150"/>
                    <a:pt x="47625" y="176213"/>
                    <a:pt x="47625" y="323850"/>
                  </a:cubicBezTo>
                  <a:cubicBezTo>
                    <a:pt x="47625" y="370523"/>
                    <a:pt x="60007" y="414338"/>
                    <a:pt x="80963" y="452438"/>
                  </a:cubicBezTo>
                  <a:cubicBezTo>
                    <a:pt x="100965" y="431483"/>
                    <a:pt x="122873" y="410528"/>
                    <a:pt x="146685" y="387668"/>
                  </a:cubicBezTo>
                  <a:cubicBezTo>
                    <a:pt x="206693" y="331470"/>
                    <a:pt x="277178" y="274320"/>
                    <a:pt x="336233" y="232410"/>
                  </a:cubicBezTo>
                  <a:cubicBezTo>
                    <a:pt x="340043" y="229552"/>
                    <a:pt x="343853" y="227648"/>
                    <a:pt x="348615" y="227648"/>
                  </a:cubicBezTo>
                  <a:cubicBezTo>
                    <a:pt x="359093" y="227648"/>
                    <a:pt x="367665" y="236220"/>
                    <a:pt x="367665" y="246698"/>
                  </a:cubicBezTo>
                  <a:cubicBezTo>
                    <a:pt x="367665" y="253365"/>
                    <a:pt x="364808" y="258127"/>
                    <a:pt x="360045" y="261938"/>
                  </a:cubicBezTo>
                  <a:lnTo>
                    <a:pt x="360045" y="261938"/>
                  </a:lnTo>
                  <a:cubicBezTo>
                    <a:pt x="275273" y="322898"/>
                    <a:pt x="162878" y="417195"/>
                    <a:pt x="86678" y="502920"/>
                  </a:cubicBezTo>
                  <a:cubicBezTo>
                    <a:pt x="86678" y="502920"/>
                    <a:pt x="76200" y="514350"/>
                    <a:pt x="71438" y="520065"/>
                  </a:cubicBezTo>
                  <a:lnTo>
                    <a:pt x="71438" y="520065"/>
                  </a:lnTo>
                  <a:cubicBezTo>
                    <a:pt x="28575" y="570548"/>
                    <a:pt x="0" y="616268"/>
                    <a:pt x="0" y="648653"/>
                  </a:cubicBezTo>
                  <a:lnTo>
                    <a:pt x="57150" y="648653"/>
                  </a:lnTo>
                  <a:cubicBezTo>
                    <a:pt x="57150" y="627698"/>
                    <a:pt x="90488" y="581978"/>
                    <a:pt x="140970" y="527685"/>
                  </a:cubicBezTo>
                  <a:cubicBezTo>
                    <a:pt x="187643" y="567690"/>
                    <a:pt x="247650" y="591503"/>
                    <a:pt x="314325" y="591503"/>
                  </a:cubicBezTo>
                  <a:cubicBezTo>
                    <a:pt x="361950" y="591503"/>
                    <a:pt x="407670" y="579120"/>
                    <a:pt x="446723" y="556260"/>
                  </a:cubicBezTo>
                  <a:lnTo>
                    <a:pt x="446723" y="556260"/>
                  </a:lnTo>
                  <a:cubicBezTo>
                    <a:pt x="650558" y="442913"/>
                    <a:pt x="676275" y="234315"/>
                    <a:pt x="676275" y="0"/>
                  </a:cubicBezTo>
                  <a:cubicBezTo>
                    <a:pt x="676275" y="0"/>
                    <a:pt x="454343" y="60960"/>
                    <a:pt x="314325" y="57150"/>
                  </a:cubicBezTo>
                  <a:close/>
                </a:path>
              </a:pathLst>
            </a:custGeom>
            <a:noFill/>
            <a:ln cap="flat" cmpd="sng" w="12700">
              <a:solidFill>
                <a:srgbClr val="002D4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160"/>
                <a:buFont typeface="Arial"/>
                <a:buNone/>
              </a:pPr>
              <a:r>
                <a:t/>
              </a:r>
              <a:endParaRPr b="0" i="0" sz="2160" u="none" cap="none" strike="noStrike">
                <a:solidFill>
                  <a:srgbClr val="FFFFFF"/>
                </a:solidFill>
                <a:latin typeface="Arial"/>
                <a:ea typeface="Arial"/>
                <a:cs typeface="Arial"/>
                <a:sym typeface="Arial"/>
              </a:endParaRPr>
            </a:p>
          </p:txBody>
        </p:sp>
        <p:sp>
          <p:nvSpPr>
            <p:cNvPr id="970" name="Google Shape;970;p30"/>
            <p:cNvSpPr/>
            <p:nvPr/>
          </p:nvSpPr>
          <p:spPr>
            <a:xfrm rot="-432196">
              <a:off x="10528918" y="7539167"/>
              <a:ext cx="138899" cy="88425"/>
            </a:xfrm>
            <a:prstGeom prst="arc">
              <a:avLst>
                <a:gd fmla="val 16200000" name="adj1"/>
                <a:gd fmla="val 0" name="adj2"/>
              </a:avLst>
            </a:prstGeom>
            <a:noFill/>
            <a:ln cap="flat" cmpd="sng" w="19050">
              <a:solidFill>
                <a:srgbClr val="517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840"/>
                <a:buFont typeface="Arial"/>
                <a:buNone/>
              </a:pPr>
              <a:r>
                <a:t/>
              </a:r>
              <a:endParaRPr b="0" i="0" sz="3840" u="none" cap="none" strike="noStrike">
                <a:solidFill>
                  <a:srgbClr val="FFFFFF"/>
                </a:solidFill>
                <a:latin typeface="Arial"/>
                <a:ea typeface="Arial"/>
                <a:cs typeface="Arial"/>
                <a:sym typeface="Arial"/>
              </a:endParaRPr>
            </a:p>
          </p:txBody>
        </p:sp>
        <p:sp>
          <p:nvSpPr>
            <p:cNvPr id="971" name="Google Shape;971;p30"/>
            <p:cNvSpPr/>
            <p:nvPr/>
          </p:nvSpPr>
          <p:spPr>
            <a:xfrm>
              <a:off x="10796109" y="7342184"/>
              <a:ext cx="288631" cy="169180"/>
            </a:xfrm>
            <a:custGeom>
              <a:rect b="b" l="l" r="r" t="t"/>
              <a:pathLst>
                <a:path extrusionOk="0" h="226313" w="386105">
                  <a:moveTo>
                    <a:pt x="386105" y="226314"/>
                  </a:moveTo>
                  <a:cubicBezTo>
                    <a:pt x="333299" y="93955"/>
                    <a:pt x="203683" y="0"/>
                    <a:pt x="52807" y="0"/>
                  </a:cubicBezTo>
                  <a:cubicBezTo>
                    <a:pt x="34976" y="0"/>
                    <a:pt x="17145" y="1372"/>
                    <a:pt x="0" y="4115"/>
                  </a:cubicBezTo>
                </a:path>
              </a:pathLst>
            </a:custGeom>
            <a:noFill/>
            <a:ln cap="flat" cmpd="sng" w="19050">
              <a:solidFill>
                <a:srgbClr val="517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840"/>
                <a:buFont typeface="Arial"/>
                <a:buNone/>
              </a:pPr>
              <a:r>
                <a:t/>
              </a:r>
              <a:endParaRPr b="0" i="0" sz="3840" u="none" cap="none" strike="noStrike">
                <a:solidFill>
                  <a:srgbClr val="FFFFFF"/>
                </a:solidFill>
                <a:latin typeface="Arial"/>
                <a:ea typeface="Arial"/>
                <a:cs typeface="Arial"/>
                <a:sym typeface="Arial"/>
              </a:endParaRPr>
            </a:p>
          </p:txBody>
        </p:sp>
        <p:sp>
          <p:nvSpPr>
            <p:cNvPr id="972" name="Google Shape;972;p30"/>
            <p:cNvSpPr/>
            <p:nvPr/>
          </p:nvSpPr>
          <p:spPr>
            <a:xfrm>
              <a:off x="10702292" y="7582112"/>
              <a:ext cx="401417" cy="296835"/>
            </a:xfrm>
            <a:custGeom>
              <a:rect b="b" l="l" r="r" t="t"/>
              <a:pathLst>
                <a:path extrusionOk="0" h="397078" w="536981">
                  <a:moveTo>
                    <a:pt x="0" y="349758"/>
                  </a:moveTo>
                  <a:cubicBezTo>
                    <a:pt x="52121" y="379933"/>
                    <a:pt x="113157" y="397078"/>
                    <a:pt x="178308" y="397078"/>
                  </a:cubicBezTo>
                  <a:cubicBezTo>
                    <a:pt x="376504" y="397078"/>
                    <a:pt x="536981" y="236601"/>
                    <a:pt x="536981" y="38405"/>
                  </a:cubicBezTo>
                  <a:cubicBezTo>
                    <a:pt x="536981" y="25375"/>
                    <a:pt x="536296" y="12344"/>
                    <a:pt x="534924" y="0"/>
                  </a:cubicBezTo>
                </a:path>
              </a:pathLst>
            </a:custGeom>
            <a:noFill/>
            <a:ln cap="flat" cmpd="sng" w="19050">
              <a:solidFill>
                <a:srgbClr val="517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840"/>
                <a:buFont typeface="Arial"/>
                <a:buNone/>
              </a:pPr>
              <a:r>
                <a:t/>
              </a:r>
              <a:endParaRPr b="0" i="0" sz="3840" u="none" cap="none" strike="noStrike">
                <a:solidFill>
                  <a:srgbClr val="FFFFFF"/>
                </a:solidFill>
                <a:latin typeface="Arial"/>
                <a:ea typeface="Arial"/>
                <a:cs typeface="Arial"/>
                <a:sym typeface="Arial"/>
              </a:endParaRPr>
            </a:p>
          </p:txBody>
        </p:sp>
        <p:sp>
          <p:nvSpPr>
            <p:cNvPr id="973" name="Google Shape;973;p30"/>
            <p:cNvSpPr/>
            <p:nvPr/>
          </p:nvSpPr>
          <p:spPr>
            <a:xfrm>
              <a:off x="10577713" y="7684647"/>
              <a:ext cx="54855" cy="101508"/>
            </a:xfrm>
            <a:custGeom>
              <a:rect b="b" l="l" r="r" t="t"/>
              <a:pathLst>
                <a:path extrusionOk="0" h="135788" w="73380">
                  <a:moveTo>
                    <a:pt x="0" y="0"/>
                  </a:moveTo>
                  <a:cubicBezTo>
                    <a:pt x="14402" y="50749"/>
                    <a:pt x="39776" y="96698"/>
                    <a:pt x="73381" y="135788"/>
                  </a:cubicBezTo>
                </a:path>
              </a:pathLst>
            </a:custGeom>
            <a:noFill/>
            <a:ln cap="flat" cmpd="sng" w="19050">
              <a:solidFill>
                <a:srgbClr val="517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840"/>
                <a:buFont typeface="Arial"/>
                <a:buNone/>
              </a:pPr>
              <a:r>
                <a:t/>
              </a:r>
              <a:endParaRPr b="0" i="0" sz="3840" u="none" cap="none" strike="noStrike">
                <a:solidFill>
                  <a:srgbClr val="FFFFFF"/>
                </a:solidFill>
                <a:latin typeface="Arial"/>
                <a:ea typeface="Arial"/>
                <a:cs typeface="Arial"/>
                <a:sym typeface="Arial"/>
              </a:endParaRPr>
            </a:p>
          </p:txBody>
        </p:sp>
        <p:sp>
          <p:nvSpPr>
            <p:cNvPr id="974" name="Google Shape;974;p30"/>
            <p:cNvSpPr/>
            <p:nvPr/>
          </p:nvSpPr>
          <p:spPr>
            <a:xfrm>
              <a:off x="10592068" y="7724121"/>
              <a:ext cx="486520" cy="57191"/>
            </a:xfrm>
            <a:custGeom>
              <a:rect b="b" l="l" r="r" t="t"/>
              <a:pathLst>
                <a:path extrusionOk="0" h="76504" w="650824">
                  <a:moveTo>
                    <a:pt x="650824" y="0"/>
                  </a:moveTo>
                  <a:cubicBezTo>
                    <a:pt x="650824" y="0"/>
                    <a:pt x="334670" y="172136"/>
                    <a:pt x="0" y="0"/>
                  </a:cubicBezTo>
                </a:path>
              </a:pathLst>
            </a:custGeom>
            <a:noFill/>
            <a:ln cap="flat" cmpd="sng" w="19050">
              <a:solidFill>
                <a:srgbClr val="517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840"/>
                <a:buFont typeface="Arial"/>
                <a:buNone/>
              </a:pPr>
              <a:r>
                <a:t/>
              </a:r>
              <a:endParaRPr b="0" i="0" sz="3840" u="none" cap="none" strike="noStrike">
                <a:solidFill>
                  <a:srgbClr val="FFFFFF"/>
                </a:solidFill>
                <a:latin typeface="Arial"/>
                <a:ea typeface="Arial"/>
                <a:cs typeface="Arial"/>
                <a:sym typeface="Arial"/>
              </a:endParaRPr>
            </a:p>
          </p:txBody>
        </p:sp>
        <p:sp>
          <p:nvSpPr>
            <p:cNvPr id="975" name="Google Shape;975;p30"/>
            <p:cNvSpPr/>
            <p:nvPr/>
          </p:nvSpPr>
          <p:spPr>
            <a:xfrm>
              <a:off x="10763812" y="7543149"/>
              <a:ext cx="442215" cy="111248"/>
            </a:xfrm>
            <a:custGeom>
              <a:rect b="b" l="l" r="r" t="t"/>
              <a:pathLst>
                <a:path extrusionOk="0" h="148818" w="591555">
                  <a:moveTo>
                    <a:pt x="0" y="6858"/>
                  </a:moveTo>
                  <a:lnTo>
                    <a:pt x="533552" y="0"/>
                  </a:lnTo>
                  <a:cubicBezTo>
                    <a:pt x="613791" y="17145"/>
                    <a:pt x="609676" y="133045"/>
                    <a:pt x="528066" y="144704"/>
                  </a:cubicBezTo>
                  <a:lnTo>
                    <a:pt x="480746" y="148819"/>
                  </a:lnTo>
                </a:path>
              </a:pathLst>
            </a:custGeom>
            <a:noFill/>
            <a:ln cap="flat" cmpd="sng" w="19050">
              <a:solidFill>
                <a:srgbClr val="517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840"/>
                <a:buFont typeface="Arial"/>
                <a:buNone/>
              </a:pPr>
              <a:r>
                <a:t/>
              </a:r>
              <a:endParaRPr b="0" i="0" sz="3840" u="none" cap="none" strike="noStrike">
                <a:solidFill>
                  <a:srgbClr val="FFFFFF"/>
                </a:solidFill>
                <a:latin typeface="Arial"/>
                <a:ea typeface="Arial"/>
                <a:cs typeface="Arial"/>
                <a:sym typeface="Arial"/>
              </a:endParaRPr>
            </a:p>
          </p:txBody>
        </p:sp>
        <p:sp>
          <p:nvSpPr>
            <p:cNvPr id="976" name="Google Shape;976;p30"/>
            <p:cNvSpPr/>
            <p:nvPr/>
          </p:nvSpPr>
          <p:spPr>
            <a:xfrm rot="-1262466">
              <a:off x="10569278" y="7487879"/>
              <a:ext cx="138899" cy="88425"/>
            </a:xfrm>
            <a:prstGeom prst="arc">
              <a:avLst>
                <a:gd fmla="val 16200000" name="adj1"/>
                <a:gd fmla="val 0" name="adj2"/>
              </a:avLst>
            </a:prstGeom>
            <a:noFill/>
            <a:ln cap="flat" cmpd="sng" w="19050">
              <a:solidFill>
                <a:srgbClr val="517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840"/>
                <a:buFont typeface="Arial"/>
                <a:buNone/>
              </a:pPr>
              <a:r>
                <a:t/>
              </a:r>
              <a:endParaRPr b="0" i="0" sz="3840" u="none" cap="none" strike="noStrike">
                <a:solidFill>
                  <a:srgbClr val="FFFFFF"/>
                </a:solidFill>
                <a:latin typeface="Arial"/>
                <a:ea typeface="Arial"/>
                <a:cs typeface="Arial"/>
                <a:sym typeface="Arial"/>
              </a:endParaRPr>
            </a:p>
          </p:txBody>
        </p:sp>
        <p:sp>
          <p:nvSpPr>
            <p:cNvPr id="977" name="Google Shape;977;p30"/>
            <p:cNvSpPr/>
            <p:nvPr/>
          </p:nvSpPr>
          <p:spPr>
            <a:xfrm rot="1373879">
              <a:off x="10479874" y="7482768"/>
              <a:ext cx="78549" cy="57479"/>
            </a:xfrm>
            <a:prstGeom prst="arc">
              <a:avLst>
                <a:gd fmla="val 16200000" name="adj1"/>
                <a:gd fmla="val 0" name="adj2"/>
              </a:avLst>
            </a:prstGeom>
            <a:noFill/>
            <a:ln cap="flat" cmpd="sng" w="19050">
              <a:solidFill>
                <a:srgbClr val="517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840"/>
                <a:buFont typeface="Arial"/>
                <a:buNone/>
              </a:pPr>
              <a:r>
                <a:t/>
              </a:r>
              <a:endParaRPr b="0" i="0" sz="3840" u="none" cap="none" strike="noStrike">
                <a:solidFill>
                  <a:srgbClr val="FFFFFF"/>
                </a:solidFill>
                <a:latin typeface="Arial"/>
                <a:ea typeface="Arial"/>
                <a:cs typeface="Arial"/>
                <a:sym typeface="Arial"/>
              </a:endParaRPr>
            </a:p>
          </p:txBody>
        </p:sp>
        <p:sp>
          <p:nvSpPr>
            <p:cNvPr id="978" name="Google Shape;978;p30"/>
            <p:cNvSpPr/>
            <p:nvPr/>
          </p:nvSpPr>
          <p:spPr>
            <a:xfrm rot="2110039">
              <a:off x="10515824" y="7442927"/>
              <a:ext cx="91924" cy="59436"/>
            </a:xfrm>
            <a:prstGeom prst="arc">
              <a:avLst>
                <a:gd fmla="val 16200000" name="adj1"/>
                <a:gd fmla="val 20279684" name="adj2"/>
              </a:avLst>
            </a:prstGeom>
            <a:noFill/>
            <a:ln cap="flat" cmpd="sng" w="19050">
              <a:solidFill>
                <a:srgbClr val="517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840"/>
                <a:buFont typeface="Arial"/>
                <a:buNone/>
              </a:pPr>
              <a:r>
                <a:t/>
              </a:r>
              <a:endParaRPr b="0" i="0" sz="3840" u="none" cap="none" strike="noStrike">
                <a:solidFill>
                  <a:srgbClr val="FFFFFF"/>
                </a:solidFill>
                <a:latin typeface="Arial"/>
                <a:ea typeface="Arial"/>
                <a:cs typeface="Arial"/>
                <a:sym typeface="Arial"/>
              </a:endParaRPr>
            </a:p>
          </p:txBody>
        </p:sp>
        <p:sp>
          <p:nvSpPr>
            <p:cNvPr descr="Open hand" id="979" name="Google Shape;979;p30"/>
            <p:cNvSpPr/>
            <p:nvPr/>
          </p:nvSpPr>
          <p:spPr>
            <a:xfrm rot="553458">
              <a:off x="10358562" y="7837889"/>
              <a:ext cx="676692" cy="266589"/>
            </a:xfrm>
            <a:custGeom>
              <a:rect b="b" l="l" r="r" t="t"/>
              <a:pathLst>
                <a:path extrusionOk="0" h="352425" w="838200">
                  <a:moveTo>
                    <a:pt x="838200" y="38100"/>
                  </a:moveTo>
                  <a:cubicBezTo>
                    <a:pt x="838200" y="17145"/>
                    <a:pt x="821055" y="0"/>
                    <a:pt x="800100" y="0"/>
                  </a:cubicBezTo>
                  <a:cubicBezTo>
                    <a:pt x="792480" y="0"/>
                    <a:pt x="785813" y="1905"/>
                    <a:pt x="780098" y="5715"/>
                  </a:cubicBezTo>
                  <a:lnTo>
                    <a:pt x="617220" y="99060"/>
                  </a:lnTo>
                  <a:cubicBezTo>
                    <a:pt x="619125" y="109538"/>
                    <a:pt x="619125" y="120015"/>
                    <a:pt x="617220" y="131445"/>
                  </a:cubicBezTo>
                  <a:cubicBezTo>
                    <a:pt x="609600" y="166688"/>
                    <a:pt x="576263" y="191452"/>
                    <a:pt x="540068" y="191452"/>
                  </a:cubicBezTo>
                  <a:lnTo>
                    <a:pt x="371475" y="191452"/>
                  </a:lnTo>
                  <a:lnTo>
                    <a:pt x="371475" y="153352"/>
                  </a:lnTo>
                  <a:lnTo>
                    <a:pt x="542925" y="153352"/>
                  </a:lnTo>
                  <a:cubicBezTo>
                    <a:pt x="563880" y="153352"/>
                    <a:pt x="581025" y="136208"/>
                    <a:pt x="581025" y="115252"/>
                  </a:cubicBezTo>
                  <a:cubicBezTo>
                    <a:pt x="581025" y="94298"/>
                    <a:pt x="563880" y="77152"/>
                    <a:pt x="542925" y="77152"/>
                  </a:cubicBezTo>
                  <a:cubicBezTo>
                    <a:pt x="542925" y="77152"/>
                    <a:pt x="316230" y="77152"/>
                    <a:pt x="314325" y="77152"/>
                  </a:cubicBezTo>
                  <a:cubicBezTo>
                    <a:pt x="298133" y="77152"/>
                    <a:pt x="282893" y="81915"/>
                    <a:pt x="269558" y="89535"/>
                  </a:cubicBezTo>
                  <a:lnTo>
                    <a:pt x="0" y="219075"/>
                  </a:lnTo>
                  <a:lnTo>
                    <a:pt x="133350" y="352425"/>
                  </a:lnTo>
                  <a:cubicBezTo>
                    <a:pt x="195263" y="290513"/>
                    <a:pt x="275273" y="266700"/>
                    <a:pt x="361950" y="266700"/>
                  </a:cubicBezTo>
                  <a:lnTo>
                    <a:pt x="540068" y="266700"/>
                  </a:lnTo>
                  <a:cubicBezTo>
                    <a:pt x="548640" y="266700"/>
                    <a:pt x="556260" y="263843"/>
                    <a:pt x="562928" y="259080"/>
                  </a:cubicBezTo>
                  <a:lnTo>
                    <a:pt x="824865" y="67627"/>
                  </a:lnTo>
                  <a:cubicBezTo>
                    <a:pt x="832485" y="60007"/>
                    <a:pt x="838200" y="49530"/>
                    <a:pt x="838200" y="38100"/>
                  </a:cubicBezTo>
                  <a:close/>
                </a:path>
              </a:pathLst>
            </a:custGeom>
            <a:noFill/>
            <a:ln cap="flat" cmpd="sng" w="19050">
              <a:solidFill>
                <a:srgbClr val="002D4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160"/>
                <a:buFont typeface="Arial"/>
                <a:buNone/>
              </a:pPr>
              <a:r>
                <a:t/>
              </a:r>
              <a:endParaRPr b="0" i="0" sz="2160" u="none" cap="none" strike="noStrike">
                <a:solidFill>
                  <a:srgbClr val="FFFFFF"/>
                </a:solidFill>
                <a:latin typeface="Arial"/>
                <a:ea typeface="Arial"/>
                <a:cs typeface="Arial"/>
                <a:sym typeface="Arial"/>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31"/>
          <p:cNvSpPr txBox="1"/>
          <p:nvPr>
            <p:ph type="title"/>
          </p:nvPr>
        </p:nvSpPr>
        <p:spPr>
          <a:xfrm>
            <a:off x="419100" y="3191940"/>
            <a:ext cx="11353800"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6000"/>
              <a:buFont typeface="Arial"/>
              <a:buNone/>
            </a:pPr>
            <a:r>
              <a:rPr lang="en-US"/>
              <a:t>Knowledge check</a:t>
            </a:r>
            <a:endParaRPr/>
          </a:p>
        </p:txBody>
      </p:sp>
      <p:sp>
        <p:nvSpPr>
          <p:cNvPr id="985" name="Google Shape;985;p31"/>
          <p:cNvSpPr txBox="1"/>
          <p:nvPr>
            <p:ph idx="1" type="body"/>
          </p:nvPr>
        </p:nvSpPr>
        <p:spPr>
          <a:xfrm>
            <a:off x="419100" y="2554356"/>
            <a:ext cx="8059738" cy="4884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36C2B4"/>
              </a:buClr>
              <a:buSzPts val="2000"/>
              <a:buNone/>
            </a:pPr>
            <a:r>
              <a:rPr lang="en-US"/>
              <a:t>Module 9</a:t>
            </a:r>
            <a:endParaRPr/>
          </a:p>
        </p:txBody>
      </p:sp>
      <p:sp>
        <p:nvSpPr>
          <p:cNvPr id="986" name="Google Shape;986;p31"/>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32"/>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992" name="Google Shape;992;p32"/>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question 1</a:t>
            </a:r>
            <a:endParaRPr/>
          </a:p>
        </p:txBody>
      </p:sp>
      <p:sp>
        <p:nvSpPr>
          <p:cNvPr id="993" name="Google Shape;993;p32"/>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AWS Cloud Adoption Framework perspective helps you structure the selection and implementation of permissions?</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Governance perspective</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Security perspective</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Operations perspective</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Business perspective</a:t>
            </a:r>
            <a:endParaRPr/>
          </a:p>
        </p:txBody>
      </p:sp>
      <p:pic>
        <p:nvPicPr>
          <p:cNvPr id="994" name="Google Shape;994;p32"/>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33"/>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1000" name="Google Shape;1000;p33"/>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answer 1</a:t>
            </a:r>
            <a:endParaRPr/>
          </a:p>
        </p:txBody>
      </p:sp>
      <p:sp>
        <p:nvSpPr>
          <p:cNvPr id="1001" name="Google Shape;1001;p33"/>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AWS Cloud Adoption Framework perspective helps you structure the selection and implementation of permissions?</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Governance perspective</a:t>
            </a:r>
            <a:endParaRPr/>
          </a:p>
          <a:p>
            <a:pPr indent="-514350" lvl="0" marL="514350" rtl="0" algn="l">
              <a:lnSpc>
                <a:spcPct val="90000"/>
              </a:lnSpc>
              <a:spcBef>
                <a:spcPts val="1000"/>
              </a:spcBef>
              <a:spcAft>
                <a:spcPts val="0"/>
              </a:spcAft>
              <a:buClr>
                <a:schemeClr val="dk2"/>
              </a:buClr>
              <a:buSzPts val="2400"/>
              <a:buFont typeface="Arial"/>
              <a:buAutoNum type="alphaUcPeriod"/>
            </a:pPr>
            <a:r>
              <a:rPr lang="en-US" sz="2400">
                <a:solidFill>
                  <a:schemeClr val="dk2"/>
                </a:solidFill>
                <a:latin typeface="Arial"/>
                <a:ea typeface="Arial"/>
                <a:cs typeface="Arial"/>
                <a:sym typeface="Arial"/>
              </a:rPr>
              <a:t>Security perspective (correct)</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Operations perspective</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Business perspective</a:t>
            </a:r>
            <a:endParaRPr/>
          </a:p>
        </p:txBody>
      </p:sp>
      <p:pic>
        <p:nvPicPr>
          <p:cNvPr id="1002" name="Google Shape;1002;p33"/>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34"/>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1008" name="Google Shape;1008;p34"/>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question 2</a:t>
            </a:r>
            <a:endParaRPr/>
          </a:p>
        </p:txBody>
      </p:sp>
      <p:sp>
        <p:nvSpPr>
          <p:cNvPr id="1009" name="Google Shape;1009;p34"/>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strategies are included in the seven strategies for application migration? (Select TWO.)</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Revisiting</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Retaining</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Remembering</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Redeveloping</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Rehosting</a:t>
            </a:r>
            <a:endParaRPr/>
          </a:p>
        </p:txBody>
      </p:sp>
      <p:pic>
        <p:nvPicPr>
          <p:cNvPr id="1010" name="Google Shape;1010;p34"/>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35"/>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1016" name="Google Shape;1016;p35"/>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answer 2</a:t>
            </a:r>
            <a:endParaRPr/>
          </a:p>
        </p:txBody>
      </p:sp>
      <p:sp>
        <p:nvSpPr>
          <p:cNvPr id="1017" name="Google Shape;1017;p35"/>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strategies are included in the seven strategies for application migration? (Select TWO.)</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Revisiting</a:t>
            </a:r>
            <a:endParaRPr/>
          </a:p>
          <a:p>
            <a:pPr indent="-514350" lvl="0" marL="514350" rtl="0" algn="l">
              <a:lnSpc>
                <a:spcPct val="90000"/>
              </a:lnSpc>
              <a:spcBef>
                <a:spcPts val="1000"/>
              </a:spcBef>
              <a:spcAft>
                <a:spcPts val="0"/>
              </a:spcAft>
              <a:buClr>
                <a:schemeClr val="dk2"/>
              </a:buClr>
              <a:buSzPts val="2400"/>
              <a:buFont typeface="Arial"/>
              <a:buAutoNum type="alphaUcPeriod"/>
            </a:pPr>
            <a:r>
              <a:rPr lang="en-US" sz="2400">
                <a:solidFill>
                  <a:schemeClr val="dk2"/>
                </a:solidFill>
                <a:latin typeface="Arial"/>
                <a:ea typeface="Arial"/>
                <a:cs typeface="Arial"/>
                <a:sym typeface="Arial"/>
              </a:rPr>
              <a:t>Retaining (correct)</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Remembering</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Redeveloping</a:t>
            </a:r>
            <a:endParaRPr/>
          </a:p>
          <a:p>
            <a:pPr indent="-514350" lvl="0" marL="514350" rtl="0" algn="l">
              <a:lnSpc>
                <a:spcPct val="90000"/>
              </a:lnSpc>
              <a:spcBef>
                <a:spcPts val="1000"/>
              </a:spcBef>
              <a:spcAft>
                <a:spcPts val="0"/>
              </a:spcAft>
              <a:buClr>
                <a:schemeClr val="dk2"/>
              </a:buClr>
              <a:buSzPts val="2400"/>
              <a:buFont typeface="Arial"/>
              <a:buAutoNum type="alphaUcPeriod"/>
            </a:pPr>
            <a:r>
              <a:rPr lang="en-US" sz="2400">
                <a:solidFill>
                  <a:schemeClr val="dk2"/>
                </a:solidFill>
                <a:latin typeface="Arial"/>
                <a:ea typeface="Arial"/>
                <a:cs typeface="Arial"/>
                <a:sym typeface="Arial"/>
              </a:rPr>
              <a:t>Rehosting (correct)</a:t>
            </a:r>
            <a:endParaRPr/>
          </a:p>
        </p:txBody>
      </p:sp>
      <p:pic>
        <p:nvPicPr>
          <p:cNvPr id="1018" name="Google Shape;1018;p35"/>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36"/>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1024" name="Google Shape;1024;p36"/>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question 3</a:t>
            </a:r>
            <a:endParaRPr/>
          </a:p>
        </p:txBody>
      </p:sp>
      <p:sp>
        <p:nvSpPr>
          <p:cNvPr id="1025" name="Google Shape;1025;p36"/>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What is the storage capacity of AWS Snowmobile?</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40 PB</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60 PB</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80 PB</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100 PB</a:t>
            </a:r>
            <a:endParaRPr/>
          </a:p>
        </p:txBody>
      </p:sp>
      <p:pic>
        <p:nvPicPr>
          <p:cNvPr id="1026" name="Google Shape;1026;p36"/>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37"/>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1032" name="Google Shape;1032;p37"/>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answer 3</a:t>
            </a:r>
            <a:endParaRPr/>
          </a:p>
        </p:txBody>
      </p:sp>
      <p:sp>
        <p:nvSpPr>
          <p:cNvPr id="1033" name="Google Shape;1033;p37"/>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What is the storage capacity of AWS Snowmobile?</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40 PB</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60 PB</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80 PB</a:t>
            </a:r>
            <a:endParaRPr/>
          </a:p>
          <a:p>
            <a:pPr indent="-514350" lvl="0" marL="514350" rtl="0" algn="l">
              <a:lnSpc>
                <a:spcPct val="90000"/>
              </a:lnSpc>
              <a:spcBef>
                <a:spcPts val="1000"/>
              </a:spcBef>
              <a:spcAft>
                <a:spcPts val="0"/>
              </a:spcAft>
              <a:buClr>
                <a:schemeClr val="dk2"/>
              </a:buClr>
              <a:buSzPts val="2400"/>
              <a:buFont typeface="Arial"/>
              <a:buAutoNum type="alphaUcPeriod"/>
            </a:pPr>
            <a:r>
              <a:rPr lang="en-US" sz="2400">
                <a:solidFill>
                  <a:schemeClr val="dk2"/>
                </a:solidFill>
                <a:latin typeface="Arial"/>
                <a:ea typeface="Arial"/>
                <a:cs typeface="Arial"/>
                <a:sym typeface="Arial"/>
              </a:rPr>
              <a:t>100 PB (correct)</a:t>
            </a:r>
            <a:endParaRPr/>
          </a:p>
        </p:txBody>
      </p:sp>
      <p:pic>
        <p:nvPicPr>
          <p:cNvPr id="1034" name="Google Shape;1034;p37"/>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38"/>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1040" name="Google Shape;1040;p38"/>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question 4</a:t>
            </a:r>
            <a:endParaRPr/>
          </a:p>
        </p:txBody>
      </p:sp>
      <p:sp>
        <p:nvSpPr>
          <p:cNvPr id="1041" name="Google Shape;1041;p38"/>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What is the storage capacity of Snowball Edge Storage Optimized?</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40 TB</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60 TB</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80 TB</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100 TB</a:t>
            </a:r>
            <a:endParaRPr/>
          </a:p>
        </p:txBody>
      </p:sp>
      <p:pic>
        <p:nvPicPr>
          <p:cNvPr id="1042" name="Google Shape;1042;p38"/>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39"/>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1048" name="Google Shape;1048;p39"/>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answer 4</a:t>
            </a:r>
            <a:endParaRPr/>
          </a:p>
        </p:txBody>
      </p:sp>
      <p:sp>
        <p:nvSpPr>
          <p:cNvPr id="1049" name="Google Shape;1049;p39"/>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What is the storage capacity of Snowball Edge Storage Optimized?</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40 TB</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60 TB</a:t>
            </a:r>
            <a:endParaRPr/>
          </a:p>
          <a:p>
            <a:pPr indent="-514350" lvl="0" marL="514350" rtl="0" algn="l">
              <a:lnSpc>
                <a:spcPct val="90000"/>
              </a:lnSpc>
              <a:spcBef>
                <a:spcPts val="1000"/>
              </a:spcBef>
              <a:spcAft>
                <a:spcPts val="0"/>
              </a:spcAft>
              <a:buClr>
                <a:schemeClr val="dk2"/>
              </a:buClr>
              <a:buSzPts val="2400"/>
              <a:buFont typeface="Arial"/>
              <a:buAutoNum type="alphaUcPeriod"/>
            </a:pPr>
            <a:r>
              <a:rPr lang="en-US" sz="2400">
                <a:solidFill>
                  <a:schemeClr val="dk2"/>
                </a:solidFill>
                <a:latin typeface="Arial"/>
                <a:ea typeface="Arial"/>
                <a:cs typeface="Arial"/>
                <a:sym typeface="Arial"/>
              </a:rPr>
              <a:t>80 TB (correct)</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100 TB</a:t>
            </a:r>
            <a:endParaRPr/>
          </a:p>
        </p:txBody>
      </p:sp>
      <p:pic>
        <p:nvPicPr>
          <p:cNvPr id="1050" name="Google Shape;1050;p39"/>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40"/>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2022 Amazon Web Services, Inc. or its affiliates. All rights reserved.</a:t>
            </a:r>
            <a:endParaRPr/>
          </a:p>
        </p:txBody>
      </p:sp>
      <p:sp>
        <p:nvSpPr>
          <p:cNvPr id="1056" name="Google Shape;1056;p40"/>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question 5</a:t>
            </a:r>
            <a:endParaRPr/>
          </a:p>
        </p:txBody>
      </p:sp>
      <p:sp>
        <p:nvSpPr>
          <p:cNvPr id="1057" name="Google Shape;1057;p40"/>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AWS Well-Architected Framework pillar includes the ability to recover from infrastructure or service disruptions?</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Cost optimization</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Operational excellence</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Performance efficiency</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Reliability</a:t>
            </a:r>
            <a:endParaRPr/>
          </a:p>
        </p:txBody>
      </p:sp>
      <p:pic>
        <p:nvPicPr>
          <p:cNvPr id="1058" name="Google Shape;1058;p40"/>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41"/>
          <p:cNvSpPr txBox="1"/>
          <p:nvPr>
            <p:ph idx="11" type="ftr"/>
          </p:nvPr>
        </p:nvSpPr>
        <p:spPr>
          <a:xfrm>
            <a:off x="7997728" y="6356350"/>
            <a:ext cx="3775172"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900"/>
              <a:buFont typeface="Arial"/>
              <a:buNone/>
            </a:pPr>
            <a:r>
              <a:rPr b="0" i="0" lang="en-US" sz="900" u="none" cap="none" strike="noStrike">
                <a:solidFill>
                  <a:srgbClr val="888888"/>
                </a:solidFill>
                <a:latin typeface="Arial"/>
                <a:ea typeface="Arial"/>
                <a:cs typeface="Arial"/>
                <a:sym typeface="Arial"/>
              </a:rPr>
              <a:t>© 2022 Amazon Web Services, Inc. or its affiliates. All rights reserved.</a:t>
            </a:r>
            <a:endParaRPr b="0" i="0" sz="900" u="none" cap="none" strike="noStrike">
              <a:solidFill>
                <a:srgbClr val="888888"/>
              </a:solidFill>
              <a:latin typeface="Arial"/>
              <a:ea typeface="Arial"/>
              <a:cs typeface="Arial"/>
              <a:sym typeface="Arial"/>
            </a:endParaRPr>
          </a:p>
        </p:txBody>
      </p:sp>
      <p:sp>
        <p:nvSpPr>
          <p:cNvPr id="1064" name="Google Shape;1064;p41"/>
          <p:cNvSpPr txBox="1"/>
          <p:nvPr>
            <p:ph type="title"/>
          </p:nvPr>
        </p:nvSpPr>
        <p:spPr>
          <a:xfrm>
            <a:off x="419100" y="1178376"/>
            <a:ext cx="426864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Arial"/>
              <a:buNone/>
            </a:pPr>
            <a:r>
              <a:rPr lang="en-US"/>
              <a:t>Knowledge check answer 5</a:t>
            </a:r>
            <a:endParaRPr/>
          </a:p>
        </p:txBody>
      </p:sp>
      <p:sp>
        <p:nvSpPr>
          <p:cNvPr id="1065" name="Google Shape;1065;p41"/>
          <p:cNvSpPr txBox="1"/>
          <p:nvPr>
            <p:ph idx="1" type="body"/>
          </p:nvPr>
        </p:nvSpPr>
        <p:spPr>
          <a:xfrm>
            <a:off x="5714474" y="1178376"/>
            <a:ext cx="5767612" cy="48149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Which AWS Well-Architected Framework pillar includes the ability to recover from infrastructure or service disruptions?</a:t>
            </a:r>
            <a:endParaRPr/>
          </a:p>
          <a:p>
            <a:pPr indent="-514350" lvl="0" marL="514350" rtl="0" algn="l">
              <a:lnSpc>
                <a:spcPct val="90000"/>
              </a:lnSpc>
              <a:spcBef>
                <a:spcPts val="2000"/>
              </a:spcBef>
              <a:spcAft>
                <a:spcPts val="0"/>
              </a:spcAft>
              <a:buClr>
                <a:schemeClr val="dk1"/>
              </a:buClr>
              <a:buSzPts val="2400"/>
              <a:buFont typeface="Arial"/>
              <a:buAutoNum type="alphaUcPeriod"/>
            </a:pPr>
            <a:r>
              <a:rPr lang="en-US" sz="2400"/>
              <a:t>Cost optimization</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Operational excellence</a:t>
            </a:r>
            <a:endParaRPr/>
          </a:p>
          <a:p>
            <a:pPr indent="-514350" lvl="0" marL="514350" rtl="0" algn="l">
              <a:lnSpc>
                <a:spcPct val="90000"/>
              </a:lnSpc>
              <a:spcBef>
                <a:spcPts val="1000"/>
              </a:spcBef>
              <a:spcAft>
                <a:spcPts val="0"/>
              </a:spcAft>
              <a:buClr>
                <a:schemeClr val="dk1"/>
              </a:buClr>
              <a:buSzPts val="2400"/>
              <a:buFont typeface="Arial"/>
              <a:buAutoNum type="alphaUcPeriod"/>
            </a:pPr>
            <a:r>
              <a:rPr lang="en-US" sz="2400"/>
              <a:t>Performance efficiency</a:t>
            </a:r>
            <a:endParaRPr/>
          </a:p>
          <a:p>
            <a:pPr indent="-514350" lvl="0" marL="514350" rtl="0" algn="l">
              <a:lnSpc>
                <a:spcPct val="90000"/>
              </a:lnSpc>
              <a:spcBef>
                <a:spcPts val="1000"/>
              </a:spcBef>
              <a:spcAft>
                <a:spcPts val="0"/>
              </a:spcAft>
              <a:buClr>
                <a:schemeClr val="dk2"/>
              </a:buClr>
              <a:buSzPts val="2400"/>
              <a:buFont typeface="Arial"/>
              <a:buAutoNum type="alphaUcPeriod"/>
            </a:pPr>
            <a:r>
              <a:rPr lang="en-US" sz="2400">
                <a:solidFill>
                  <a:schemeClr val="dk2"/>
                </a:solidFill>
                <a:latin typeface="Arial"/>
                <a:ea typeface="Arial"/>
                <a:cs typeface="Arial"/>
                <a:sym typeface="Arial"/>
              </a:rPr>
              <a:t>Reliability (correct)</a:t>
            </a:r>
            <a:endParaRPr/>
          </a:p>
        </p:txBody>
      </p:sp>
      <p:pic>
        <p:nvPicPr>
          <p:cNvPr id="1066" name="Google Shape;1066;p41"/>
          <p:cNvPicPr preferRelativeResize="0"/>
          <p:nvPr/>
        </p:nvPicPr>
        <p:blipFill rotWithShape="1">
          <a:blip r:embed="rId3">
            <a:alphaModFix/>
          </a:blip>
          <a:srcRect b="0" l="0" r="0" t="0"/>
          <a:stretch/>
        </p:blipFill>
        <p:spPr>
          <a:xfrm>
            <a:off x="1861096" y="2503939"/>
            <a:ext cx="1384653" cy="139157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42"/>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Arial"/>
              <a:buNone/>
            </a:pPr>
            <a:r>
              <a:rPr lang="en-US"/>
              <a:t>Module 9 summary</a:t>
            </a:r>
            <a:endParaRPr/>
          </a:p>
        </p:txBody>
      </p:sp>
      <p:sp>
        <p:nvSpPr>
          <p:cNvPr id="1072" name="Google Shape;1072;p42"/>
          <p:cNvSpPr txBox="1"/>
          <p:nvPr>
            <p:ph idx="1" type="body"/>
          </p:nvPr>
        </p:nvSpPr>
        <p:spPr>
          <a:xfrm>
            <a:off x="419100" y="1528175"/>
            <a:ext cx="6933170" cy="464878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In this module, you learned about:</a:t>
            </a:r>
            <a:endParaRPr/>
          </a:p>
          <a:p>
            <a:pPr indent="-228600" lvl="0" marL="228600" rtl="0" algn="l">
              <a:lnSpc>
                <a:spcPct val="90000"/>
              </a:lnSpc>
              <a:spcBef>
                <a:spcPts val="2000"/>
              </a:spcBef>
              <a:spcAft>
                <a:spcPts val="0"/>
              </a:spcAft>
              <a:buClr>
                <a:schemeClr val="dk1"/>
              </a:buClr>
              <a:buSzPts val="2400"/>
              <a:buChar char="•"/>
            </a:pPr>
            <a:r>
              <a:rPr lang="en-US" sz="2400"/>
              <a:t>AWS Cloud Adoption Framework</a:t>
            </a:r>
            <a:endParaRPr/>
          </a:p>
          <a:p>
            <a:pPr indent="-228600" lvl="0" marL="228600" rtl="0" algn="l">
              <a:lnSpc>
                <a:spcPct val="90000"/>
              </a:lnSpc>
              <a:spcBef>
                <a:spcPts val="1000"/>
              </a:spcBef>
              <a:spcAft>
                <a:spcPts val="0"/>
              </a:spcAft>
              <a:buClr>
                <a:schemeClr val="dk1"/>
              </a:buClr>
              <a:buSzPts val="2400"/>
              <a:buChar char="•"/>
            </a:pPr>
            <a:r>
              <a:rPr lang="en-US" sz="2400"/>
              <a:t>Seven strategies for migration</a:t>
            </a:r>
            <a:endParaRPr/>
          </a:p>
          <a:p>
            <a:pPr indent="-228600" lvl="0" marL="228600" rtl="0" algn="l">
              <a:lnSpc>
                <a:spcPct val="90000"/>
              </a:lnSpc>
              <a:spcBef>
                <a:spcPts val="1000"/>
              </a:spcBef>
              <a:spcAft>
                <a:spcPts val="0"/>
              </a:spcAft>
              <a:buClr>
                <a:schemeClr val="dk1"/>
              </a:buClr>
              <a:buSzPts val="2400"/>
              <a:buChar char="•"/>
            </a:pPr>
            <a:r>
              <a:rPr lang="en-US" sz="2400"/>
              <a:t>AWS Snow Family</a:t>
            </a:r>
            <a:endParaRPr/>
          </a:p>
          <a:p>
            <a:pPr indent="-228600" lvl="0" marL="228600" rtl="0" algn="l">
              <a:lnSpc>
                <a:spcPct val="90000"/>
              </a:lnSpc>
              <a:spcBef>
                <a:spcPts val="1000"/>
              </a:spcBef>
              <a:spcAft>
                <a:spcPts val="0"/>
              </a:spcAft>
              <a:buClr>
                <a:schemeClr val="dk1"/>
              </a:buClr>
              <a:buSzPts val="2400"/>
              <a:buChar char="•"/>
            </a:pPr>
            <a:r>
              <a:rPr lang="en-US" sz="2400"/>
              <a:t>Innovation with AWS services</a:t>
            </a:r>
            <a:endParaRPr/>
          </a:p>
          <a:p>
            <a:pPr indent="-228600" lvl="0" marL="228600" rtl="0" algn="l">
              <a:lnSpc>
                <a:spcPct val="90000"/>
              </a:lnSpc>
              <a:spcBef>
                <a:spcPts val="1000"/>
              </a:spcBef>
              <a:spcAft>
                <a:spcPts val="0"/>
              </a:spcAft>
              <a:buClr>
                <a:schemeClr val="dk1"/>
              </a:buClr>
              <a:buSzPts val="2400"/>
              <a:buChar char="•"/>
            </a:pPr>
            <a:r>
              <a:rPr lang="en-US" sz="2400"/>
              <a:t>Six pillars of the AWS Well-Architected Framework</a:t>
            </a:r>
            <a:endParaRPr/>
          </a:p>
        </p:txBody>
      </p:sp>
      <p:sp>
        <p:nvSpPr>
          <p:cNvPr id="1073" name="Google Shape;1073;p42"/>
          <p:cNvSpPr txBox="1"/>
          <p:nvPr>
            <p:ph idx="11" type="ftr"/>
          </p:nvPr>
        </p:nvSpPr>
        <p:spPr>
          <a:xfrm>
            <a:off x="419100" y="6356350"/>
            <a:ext cx="3735457"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2022 Amazon Web Services, Inc. or its affiliates. All rights reserved.</a:t>
            </a:r>
            <a:endParaRPr/>
          </a:p>
        </p:txBody>
      </p:sp>
      <p:pic>
        <p:nvPicPr>
          <p:cNvPr id="1074" name="Google Shape;1074;p42"/>
          <p:cNvPicPr preferRelativeResize="0"/>
          <p:nvPr/>
        </p:nvPicPr>
        <p:blipFill rotWithShape="1">
          <a:blip r:embed="rId3">
            <a:alphaModFix/>
          </a:blip>
          <a:srcRect b="0" l="0" r="0" t="0"/>
          <a:stretch/>
        </p:blipFill>
        <p:spPr>
          <a:xfrm>
            <a:off x="7647709" y="2509255"/>
            <a:ext cx="4045500" cy="268662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0_Paloma 2019 v1">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loma 2019 v1">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2021-01-14T16:05:36Z</dcterms:created>
  <dc:creator>Olivia Liddell;John G. Moore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C24E9444-4CF6-40BC-8C92-645FDB6E9898</vt:lpwstr>
  </property>
  <property fmtid="{D5CDD505-2E9C-101B-9397-08002B2CF9AE}" pid="3" name="ArticulatePath">
    <vt:lpwstr>CPE ILT - Module 09 - Migration and Innovation</vt:lpwstr>
  </property>
</Properties>
</file>